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7" r:id="rId4"/>
    <p:sldId id="259" r:id="rId5"/>
    <p:sldId id="260" r:id="rId6"/>
    <p:sldId id="261" r:id="rId7"/>
    <p:sldId id="262" r:id="rId8"/>
    <p:sldId id="263" r:id="rId9"/>
    <p:sldId id="269" r:id="rId10"/>
    <p:sldId id="268" r:id="rId11"/>
    <p:sldId id="264" r:id="rId12"/>
    <p:sldId id="266" r:id="rId13"/>
  </p:sldIdLst>
  <p:sldSz cx="20104100" cy="11309350"/>
  <p:notesSz cx="20104100" cy="113093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294" autoAdjust="0"/>
    <p:restoredTop sz="94660"/>
  </p:normalViewPr>
  <p:slideViewPr>
    <p:cSldViewPr>
      <p:cViewPr varScale="1">
        <p:scale>
          <a:sx n="28" d="100"/>
          <a:sy n="28" d="100"/>
        </p:scale>
        <p:origin x="96" y="103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7" y="3505898"/>
            <a:ext cx="17088486" cy="2374963"/>
          </a:xfrm>
          <a:prstGeom prst="rect">
            <a:avLst/>
          </a:prstGeom>
        </p:spPr>
        <p:txBody>
          <a:bodyPr wrap="square" lIns="0" tIns="0" rIns="0" bIns="0">
            <a:spAutoFit/>
          </a:bodyPr>
          <a:lstStyle>
            <a:lvl1pPr>
              <a:defRPr sz="5150" b="0" i="0">
                <a:solidFill>
                  <a:srgbClr val="084B26"/>
                </a:solidFill>
                <a:latin typeface="Calibri"/>
                <a:cs typeface="Calibri"/>
              </a:defRPr>
            </a:lvl1pPr>
          </a:lstStyle>
          <a:p>
            <a:endParaRPr/>
          </a:p>
        </p:txBody>
      </p:sp>
      <p:sp>
        <p:nvSpPr>
          <p:cNvPr id="3" name="Holder 3"/>
          <p:cNvSpPr>
            <a:spLocks noGrp="1"/>
          </p:cNvSpPr>
          <p:nvPr>
            <p:ph type="subTitle" idx="4"/>
          </p:nvPr>
        </p:nvSpPr>
        <p:spPr>
          <a:xfrm>
            <a:off x="3015615" y="6333236"/>
            <a:ext cx="14072870" cy="2827337"/>
          </a:xfrm>
          <a:prstGeom prst="rect">
            <a:avLst/>
          </a:prstGeom>
        </p:spPr>
        <p:txBody>
          <a:bodyPr wrap="square" lIns="0" tIns="0" rIns="0" bIns="0">
            <a:spAutoFit/>
          </a:bodyPr>
          <a:lstStyle>
            <a:lvl1pPr>
              <a:defRPr sz="2200" b="0" i="0">
                <a:solidFill>
                  <a:srgbClr val="2A2A2A"/>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150" b="0" i="0">
                <a:solidFill>
                  <a:srgbClr val="084B26"/>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200" b="0" i="0">
                <a:solidFill>
                  <a:srgbClr val="2A2A2A"/>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150" b="0" i="0">
                <a:solidFill>
                  <a:srgbClr val="084B26"/>
                </a:solidFill>
                <a:latin typeface="Calibri"/>
                <a:cs typeface="Calibri"/>
              </a:defRPr>
            </a:lvl1pPr>
          </a:lstStyle>
          <a:p>
            <a:endParaRPr/>
          </a:p>
        </p:txBody>
      </p:sp>
      <p:sp>
        <p:nvSpPr>
          <p:cNvPr id="3" name="Holder 3"/>
          <p:cNvSpPr>
            <a:spLocks noGrp="1"/>
          </p:cNvSpPr>
          <p:nvPr>
            <p:ph sz="half" idx="2"/>
          </p:nvPr>
        </p:nvSpPr>
        <p:spPr>
          <a:xfrm>
            <a:off x="1005205" y="2601150"/>
            <a:ext cx="8745284"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3611" y="2601150"/>
            <a:ext cx="8745284" cy="746417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150" b="0" i="0">
                <a:solidFill>
                  <a:srgbClr val="084B26"/>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006410" y="612935"/>
            <a:ext cx="7170345" cy="846836"/>
          </a:xfrm>
          <a:prstGeom prst="rect">
            <a:avLst/>
          </a:prstGeom>
        </p:spPr>
        <p:txBody>
          <a:bodyPr wrap="square" lIns="0" tIns="0" rIns="0" bIns="0">
            <a:spAutoFit/>
          </a:bodyPr>
          <a:lstStyle>
            <a:lvl1pPr>
              <a:defRPr sz="5150" b="0" i="0">
                <a:solidFill>
                  <a:srgbClr val="084B26"/>
                </a:solidFill>
                <a:latin typeface="Calibri"/>
                <a:cs typeface="Calibri"/>
              </a:defRPr>
            </a:lvl1pPr>
          </a:lstStyle>
          <a:p>
            <a:endParaRPr/>
          </a:p>
        </p:txBody>
      </p:sp>
      <p:sp>
        <p:nvSpPr>
          <p:cNvPr id="3" name="Holder 3"/>
          <p:cNvSpPr>
            <a:spLocks noGrp="1"/>
          </p:cNvSpPr>
          <p:nvPr>
            <p:ph type="body" idx="1"/>
          </p:nvPr>
        </p:nvSpPr>
        <p:spPr>
          <a:xfrm>
            <a:off x="2084295" y="3643427"/>
            <a:ext cx="15629255" cy="5077459"/>
          </a:xfrm>
          <a:prstGeom prst="rect">
            <a:avLst/>
          </a:prstGeom>
        </p:spPr>
        <p:txBody>
          <a:bodyPr wrap="square" lIns="0" tIns="0" rIns="0" bIns="0">
            <a:spAutoFit/>
          </a:bodyPr>
          <a:lstStyle>
            <a:lvl1pPr>
              <a:defRPr sz="2200" b="0" i="0">
                <a:solidFill>
                  <a:srgbClr val="2A2A2A"/>
                </a:solidFill>
                <a:latin typeface="Arial MT"/>
                <a:cs typeface="Arial MT"/>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6/27/2026</a:t>
            </a:fld>
            <a:endParaRPr lang="en-US"/>
          </a:p>
        </p:txBody>
      </p:sp>
      <p:sp>
        <p:nvSpPr>
          <p:cNvPr id="6" name="Holder 6"/>
          <p:cNvSpPr>
            <a:spLocks noGrp="1"/>
          </p:cNvSpPr>
          <p:nvPr>
            <p:ph type="sldNum" sz="quarter" idx="7"/>
          </p:nvPr>
        </p:nvSpPr>
        <p:spPr>
          <a:xfrm>
            <a:off x="14474953" y="10517696"/>
            <a:ext cx="4623943" cy="5654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162268" y="7758926"/>
            <a:ext cx="17858105" cy="86995"/>
            <a:chOff x="1162268" y="7758926"/>
            <a:chExt cx="17858105" cy="86995"/>
          </a:xfrm>
        </p:grpSpPr>
        <p:sp>
          <p:nvSpPr>
            <p:cNvPr id="3" name="object 3"/>
            <p:cNvSpPr/>
            <p:nvPr/>
          </p:nvSpPr>
          <p:spPr>
            <a:xfrm>
              <a:off x="1162268" y="7833531"/>
              <a:ext cx="17858105" cy="0"/>
            </a:xfrm>
            <a:custGeom>
              <a:avLst/>
              <a:gdLst/>
              <a:ahLst/>
              <a:cxnLst/>
              <a:rect l="l" t="t" r="r" b="b"/>
              <a:pathLst>
                <a:path w="17858105">
                  <a:moveTo>
                    <a:pt x="0" y="0"/>
                  </a:moveTo>
                  <a:lnTo>
                    <a:pt x="17858096" y="0"/>
                  </a:lnTo>
                </a:path>
              </a:pathLst>
            </a:custGeom>
            <a:ln w="23559">
              <a:solidFill>
                <a:srgbClr val="0C4B2B"/>
              </a:solidFill>
            </a:ln>
          </p:spPr>
          <p:txBody>
            <a:bodyPr wrap="square" lIns="0" tIns="0" rIns="0" bIns="0" rtlCol="0"/>
            <a:lstStyle/>
            <a:p>
              <a:endParaRPr/>
            </a:p>
          </p:txBody>
        </p:sp>
        <p:sp>
          <p:nvSpPr>
            <p:cNvPr id="4" name="object 4"/>
            <p:cNvSpPr/>
            <p:nvPr/>
          </p:nvSpPr>
          <p:spPr>
            <a:xfrm>
              <a:off x="1185827" y="7770706"/>
              <a:ext cx="17795875" cy="0"/>
            </a:xfrm>
            <a:custGeom>
              <a:avLst/>
              <a:gdLst/>
              <a:ahLst/>
              <a:cxnLst/>
              <a:rect l="l" t="t" r="r" b="b"/>
              <a:pathLst>
                <a:path w="17795875">
                  <a:moveTo>
                    <a:pt x="0" y="0"/>
                  </a:moveTo>
                  <a:lnTo>
                    <a:pt x="17795270" y="0"/>
                  </a:lnTo>
                </a:path>
              </a:pathLst>
            </a:custGeom>
            <a:ln w="23559">
              <a:solidFill>
                <a:srgbClr val="0C4B2B"/>
              </a:solidFill>
            </a:ln>
          </p:spPr>
          <p:txBody>
            <a:bodyPr wrap="square" lIns="0" tIns="0" rIns="0" bIns="0" rtlCol="0"/>
            <a:lstStyle/>
            <a:p>
              <a:endParaRPr/>
            </a:p>
          </p:txBody>
        </p:sp>
      </p:grpSp>
      <p:sp>
        <p:nvSpPr>
          <p:cNvPr id="7" name="object 7"/>
          <p:cNvSpPr txBox="1"/>
          <p:nvPr/>
        </p:nvSpPr>
        <p:spPr>
          <a:xfrm>
            <a:off x="2736850" y="3360742"/>
            <a:ext cx="14327236" cy="1603003"/>
          </a:xfrm>
          <a:prstGeom prst="rect">
            <a:avLst/>
          </a:prstGeom>
        </p:spPr>
        <p:txBody>
          <a:bodyPr vert="horz" wrap="square" lIns="0" tIns="187960" rIns="0" bIns="0" rtlCol="0">
            <a:spAutoFit/>
          </a:bodyPr>
          <a:lstStyle/>
          <a:p>
            <a:pPr algn="ctr">
              <a:lnSpc>
                <a:spcPct val="100000"/>
              </a:lnSpc>
              <a:spcBef>
                <a:spcPts val="1480"/>
              </a:spcBef>
            </a:pPr>
            <a:r>
              <a:rPr sz="4900" dirty="0">
                <a:solidFill>
                  <a:srgbClr val="0C4F26"/>
                </a:solidFill>
                <a:latin typeface="Arial MT"/>
                <a:cs typeface="Arial MT"/>
              </a:rPr>
              <a:t>Measuring</a:t>
            </a:r>
            <a:r>
              <a:rPr sz="4900" spc="-85" dirty="0">
                <a:solidFill>
                  <a:srgbClr val="0C4F26"/>
                </a:solidFill>
                <a:latin typeface="Arial MT"/>
                <a:cs typeface="Arial MT"/>
              </a:rPr>
              <a:t> </a:t>
            </a:r>
            <a:r>
              <a:rPr sz="4900" spc="105" dirty="0">
                <a:solidFill>
                  <a:srgbClr val="07542A"/>
                </a:solidFill>
                <a:latin typeface="Arial MT"/>
                <a:cs typeface="Arial MT"/>
              </a:rPr>
              <a:t>Undetect</a:t>
            </a:r>
            <a:r>
              <a:rPr lang="en-US" sz="4900" spc="105" dirty="0">
                <a:solidFill>
                  <a:srgbClr val="07542A"/>
                </a:solidFill>
                <a:latin typeface="Arial MT"/>
                <a:cs typeface="Arial MT"/>
              </a:rPr>
              <a:t>a</a:t>
            </a:r>
            <a:r>
              <a:rPr sz="4900" spc="105" dirty="0">
                <a:solidFill>
                  <a:srgbClr val="07542A"/>
                </a:solidFill>
                <a:latin typeface="Arial MT"/>
                <a:cs typeface="Arial MT"/>
              </a:rPr>
              <a:t>bility</a:t>
            </a:r>
            <a:r>
              <a:rPr sz="4900" spc="-480" dirty="0">
                <a:solidFill>
                  <a:srgbClr val="07542A"/>
                </a:solidFill>
                <a:latin typeface="Arial MT"/>
                <a:cs typeface="Arial MT"/>
              </a:rPr>
              <a:t> </a:t>
            </a:r>
            <a:r>
              <a:rPr sz="4900" spc="90" dirty="0">
                <a:solidFill>
                  <a:srgbClr val="0A522B"/>
                </a:solidFill>
                <a:latin typeface="Arial MT"/>
                <a:cs typeface="Arial MT"/>
              </a:rPr>
              <a:t>in</a:t>
            </a:r>
            <a:r>
              <a:rPr sz="4900" spc="-70" dirty="0">
                <a:solidFill>
                  <a:srgbClr val="0A522B"/>
                </a:solidFill>
                <a:latin typeface="Arial MT"/>
                <a:cs typeface="Arial MT"/>
              </a:rPr>
              <a:t> </a:t>
            </a:r>
            <a:r>
              <a:rPr sz="4900" spc="-490" dirty="0">
                <a:solidFill>
                  <a:srgbClr val="0A522A"/>
                </a:solidFill>
                <a:latin typeface="Arial MT"/>
                <a:cs typeface="Arial MT"/>
              </a:rPr>
              <a:t>DNA</a:t>
            </a:r>
            <a:r>
              <a:rPr sz="4900" spc="35" dirty="0">
                <a:solidFill>
                  <a:srgbClr val="0A522A"/>
                </a:solidFill>
                <a:latin typeface="Arial MT"/>
                <a:cs typeface="Arial MT"/>
              </a:rPr>
              <a:t> </a:t>
            </a:r>
            <a:r>
              <a:rPr sz="4900" spc="-10" dirty="0">
                <a:solidFill>
                  <a:srgbClr val="114F26"/>
                </a:solidFill>
                <a:latin typeface="Arial MT"/>
                <a:cs typeface="Arial MT"/>
              </a:rPr>
              <a:t>Steg</a:t>
            </a:r>
            <a:r>
              <a:rPr lang="en-US" sz="4900" spc="-10" dirty="0">
                <a:solidFill>
                  <a:srgbClr val="114F26"/>
                </a:solidFill>
                <a:latin typeface="Arial MT"/>
                <a:cs typeface="Arial MT"/>
              </a:rPr>
              <a:t>a</a:t>
            </a:r>
            <a:r>
              <a:rPr sz="4900" spc="-10" dirty="0">
                <a:solidFill>
                  <a:srgbClr val="114F26"/>
                </a:solidFill>
                <a:latin typeface="Arial MT"/>
                <a:cs typeface="Arial MT"/>
              </a:rPr>
              <a:t>nogr</a:t>
            </a:r>
            <a:r>
              <a:rPr lang="en-US" sz="4900" spc="-10" dirty="0">
                <a:solidFill>
                  <a:srgbClr val="114F26"/>
                </a:solidFill>
                <a:latin typeface="Arial MT"/>
                <a:cs typeface="Arial MT"/>
              </a:rPr>
              <a:t>a</a:t>
            </a:r>
            <a:r>
              <a:rPr sz="4900" spc="-10" dirty="0">
                <a:solidFill>
                  <a:srgbClr val="114F26"/>
                </a:solidFill>
                <a:latin typeface="Arial MT"/>
                <a:cs typeface="Arial MT"/>
              </a:rPr>
              <a:t>phy:</a:t>
            </a:r>
            <a:endParaRPr sz="4900" dirty="0">
              <a:latin typeface="Arial MT"/>
              <a:cs typeface="Arial MT"/>
            </a:endParaRPr>
          </a:p>
          <a:p>
            <a:pPr marR="86360" algn="ctr">
              <a:lnSpc>
                <a:spcPct val="100000"/>
              </a:lnSpc>
              <a:spcBef>
                <a:spcPts val="1010"/>
              </a:spcBef>
            </a:pPr>
            <a:r>
              <a:rPr sz="3450" spc="-395" dirty="0">
                <a:solidFill>
                  <a:srgbClr val="2F7B4F"/>
                </a:solidFill>
                <a:latin typeface="Arial MT"/>
                <a:cs typeface="Arial MT"/>
              </a:rPr>
              <a:t>A</a:t>
            </a:r>
            <a:r>
              <a:rPr sz="3450" spc="105" dirty="0">
                <a:solidFill>
                  <a:srgbClr val="2F7B4F"/>
                </a:solidFill>
                <a:latin typeface="Arial MT"/>
                <a:cs typeface="Arial MT"/>
              </a:rPr>
              <a:t> </a:t>
            </a:r>
            <a:r>
              <a:rPr sz="3450" spc="125" dirty="0">
                <a:solidFill>
                  <a:srgbClr val="21793D"/>
                </a:solidFill>
                <a:latin typeface="Arial MT"/>
                <a:cs typeface="Arial MT"/>
              </a:rPr>
              <a:t>Dual-</a:t>
            </a:r>
            <a:r>
              <a:rPr sz="3450" spc="140" dirty="0">
                <a:solidFill>
                  <a:srgbClr val="21793D"/>
                </a:solidFill>
                <a:latin typeface="Arial MT"/>
                <a:cs typeface="Arial MT"/>
              </a:rPr>
              <a:t>Channel</a:t>
            </a:r>
            <a:r>
              <a:rPr sz="3450" spc="395" dirty="0">
                <a:solidFill>
                  <a:srgbClr val="21793D"/>
                </a:solidFill>
                <a:latin typeface="Arial MT"/>
                <a:cs typeface="Arial MT"/>
              </a:rPr>
              <a:t> </a:t>
            </a:r>
            <a:r>
              <a:rPr sz="3450" dirty="0">
                <a:solidFill>
                  <a:srgbClr val="3B7956"/>
                </a:solidFill>
                <a:latin typeface="Arial MT"/>
                <a:cs typeface="Arial MT"/>
              </a:rPr>
              <a:t>System</a:t>
            </a:r>
            <a:r>
              <a:rPr sz="3450" spc="220" dirty="0">
                <a:solidFill>
                  <a:srgbClr val="3B7956"/>
                </a:solidFill>
                <a:latin typeface="Arial MT"/>
                <a:cs typeface="Arial MT"/>
              </a:rPr>
              <a:t> </a:t>
            </a:r>
            <a:r>
              <a:rPr sz="3450" spc="50" dirty="0">
                <a:solidFill>
                  <a:srgbClr val="31754D"/>
                </a:solidFill>
                <a:latin typeface="Arial MT"/>
                <a:cs typeface="Arial MT"/>
              </a:rPr>
              <a:t>and</a:t>
            </a:r>
            <a:r>
              <a:rPr sz="3450" spc="650" dirty="0">
                <a:solidFill>
                  <a:srgbClr val="31754D"/>
                </a:solidFill>
                <a:latin typeface="Arial MT"/>
                <a:cs typeface="Arial MT"/>
              </a:rPr>
              <a:t> </a:t>
            </a:r>
            <a:r>
              <a:rPr sz="3450" spc="95" dirty="0">
                <a:solidFill>
                  <a:srgbClr val="2D754D"/>
                </a:solidFill>
                <a:latin typeface="Arial MT"/>
                <a:cs typeface="Arial MT"/>
              </a:rPr>
              <a:t>Steganalysis</a:t>
            </a:r>
            <a:r>
              <a:rPr sz="3450" spc="210" dirty="0">
                <a:solidFill>
                  <a:srgbClr val="2D754D"/>
                </a:solidFill>
                <a:latin typeface="Arial MT"/>
                <a:cs typeface="Arial MT"/>
              </a:rPr>
              <a:t> </a:t>
            </a:r>
            <a:r>
              <a:rPr sz="3450" spc="-10" dirty="0">
                <a:solidFill>
                  <a:srgbClr val="2A7244"/>
                </a:solidFill>
                <a:latin typeface="Arial MT"/>
                <a:cs typeface="Arial MT"/>
              </a:rPr>
              <a:t>Framework</a:t>
            </a:r>
            <a:endParaRPr sz="3450" dirty="0">
              <a:latin typeface="Arial MT"/>
              <a:cs typeface="Arial MT"/>
            </a:endParaRPr>
          </a:p>
        </p:txBody>
      </p:sp>
      <p:sp>
        <p:nvSpPr>
          <p:cNvPr id="8" name="object 8"/>
          <p:cNvSpPr txBox="1"/>
          <p:nvPr/>
        </p:nvSpPr>
        <p:spPr>
          <a:xfrm>
            <a:off x="1574071" y="8216594"/>
            <a:ext cx="5201379" cy="386003"/>
          </a:xfrm>
          <a:prstGeom prst="rect">
            <a:avLst/>
          </a:prstGeom>
        </p:spPr>
        <p:txBody>
          <a:bodyPr vert="horz" wrap="square" lIns="0" tIns="16510" rIns="0" bIns="0" rtlCol="0">
            <a:spAutoFit/>
          </a:bodyPr>
          <a:lstStyle/>
          <a:p>
            <a:pPr marL="12700">
              <a:lnSpc>
                <a:spcPct val="100000"/>
              </a:lnSpc>
              <a:spcBef>
                <a:spcPts val="130"/>
              </a:spcBef>
            </a:pPr>
            <a:r>
              <a:rPr sz="2400" spc="-185" dirty="0">
                <a:solidFill>
                  <a:srgbClr val="234F3B"/>
                </a:solidFill>
                <a:latin typeface="Arial MT"/>
                <a:cs typeface="Arial MT"/>
              </a:rPr>
              <a:t>PRESENTED</a:t>
            </a:r>
            <a:r>
              <a:rPr sz="2400" spc="-35" dirty="0">
                <a:solidFill>
                  <a:srgbClr val="234F3B"/>
                </a:solidFill>
                <a:latin typeface="Arial MT"/>
                <a:cs typeface="Arial MT"/>
              </a:rPr>
              <a:t> </a:t>
            </a:r>
            <a:r>
              <a:rPr sz="2400" spc="-160" dirty="0">
                <a:solidFill>
                  <a:srgbClr val="13462A"/>
                </a:solidFill>
                <a:latin typeface="Arial MT"/>
                <a:cs typeface="Arial MT"/>
              </a:rPr>
              <a:t>BY</a:t>
            </a:r>
            <a:r>
              <a:rPr sz="2400" spc="-75" dirty="0">
                <a:solidFill>
                  <a:srgbClr val="13462A"/>
                </a:solidFill>
                <a:latin typeface="Arial MT"/>
                <a:cs typeface="Arial MT"/>
              </a:rPr>
              <a:t> </a:t>
            </a:r>
            <a:endParaRPr sz="2400" dirty="0">
              <a:latin typeface="Arial MT"/>
              <a:cs typeface="Arial MT"/>
            </a:endParaRPr>
          </a:p>
        </p:txBody>
      </p:sp>
      <p:sp>
        <p:nvSpPr>
          <p:cNvPr id="9" name="object 9"/>
          <p:cNvSpPr txBox="1"/>
          <p:nvPr/>
        </p:nvSpPr>
        <p:spPr>
          <a:xfrm>
            <a:off x="1574070" y="8602597"/>
            <a:ext cx="6629400" cy="1928092"/>
          </a:xfrm>
          <a:prstGeom prst="rect">
            <a:avLst/>
          </a:prstGeom>
        </p:spPr>
        <p:txBody>
          <a:bodyPr vert="horz" wrap="square" lIns="0" tIns="83185" rIns="0" bIns="0" rtlCol="0">
            <a:spAutoFit/>
          </a:bodyPr>
          <a:lstStyle/>
          <a:p>
            <a:pPr marL="258445" indent="-245745">
              <a:lnSpc>
                <a:spcPct val="100000"/>
              </a:lnSpc>
              <a:spcBef>
                <a:spcPts val="655"/>
              </a:spcBef>
              <a:buClr>
                <a:srgbClr val="212121"/>
              </a:buClr>
              <a:buChar char="•"/>
              <a:tabLst>
                <a:tab pos="258445" algn="l"/>
                <a:tab pos="2315845" algn="l"/>
                <a:tab pos="3152775" algn="l"/>
              </a:tabLst>
            </a:pPr>
            <a:r>
              <a:rPr sz="2600" spc="275" dirty="0">
                <a:solidFill>
                  <a:srgbClr val="1C1C1C"/>
                </a:solidFill>
                <a:latin typeface="Calibri"/>
                <a:cs typeface="Calibri"/>
              </a:rPr>
              <a:t>Ne</a:t>
            </a:r>
            <a:r>
              <a:rPr lang="en-US" sz="2600" spc="275" dirty="0">
                <a:solidFill>
                  <a:srgbClr val="1C1C1C"/>
                </a:solidFill>
                <a:latin typeface="Calibri"/>
                <a:cs typeface="Calibri"/>
              </a:rPr>
              <a:t>l</a:t>
            </a:r>
            <a:r>
              <a:rPr sz="2600" spc="275" dirty="0">
                <a:solidFill>
                  <a:srgbClr val="1C1C1C"/>
                </a:solidFill>
                <a:latin typeface="Calibri"/>
                <a:cs typeface="Calibri"/>
              </a:rPr>
              <a:t>luri</a:t>
            </a:r>
            <a:r>
              <a:rPr sz="2600" spc="50" dirty="0">
                <a:solidFill>
                  <a:srgbClr val="1C1C1C"/>
                </a:solidFill>
                <a:latin typeface="Calibri"/>
                <a:cs typeface="Calibri"/>
              </a:rPr>
              <a:t> </a:t>
            </a:r>
            <a:r>
              <a:rPr sz="2600" spc="-10" dirty="0">
                <a:solidFill>
                  <a:srgbClr val="1C1C1C"/>
                </a:solidFill>
                <a:latin typeface="Calibri"/>
                <a:cs typeface="Calibri"/>
              </a:rPr>
              <a:t>Mahesh</a:t>
            </a:r>
            <a:r>
              <a:rPr lang="en-US" sz="2600" spc="-10" dirty="0">
                <a:solidFill>
                  <a:srgbClr val="1C1C1C"/>
                </a:solidFill>
                <a:latin typeface="Calibri"/>
                <a:cs typeface="Calibri"/>
              </a:rPr>
              <a:t> </a:t>
            </a:r>
            <a:r>
              <a:rPr sz="2600" spc="-10" dirty="0">
                <a:solidFill>
                  <a:srgbClr val="282828"/>
                </a:solidFill>
                <a:latin typeface="Calibri"/>
                <a:cs typeface="Calibri"/>
              </a:rPr>
              <a:t>Kumar</a:t>
            </a:r>
            <a:r>
              <a:rPr lang="en-IN" sz="2600" spc="-10" dirty="0">
                <a:solidFill>
                  <a:srgbClr val="282828"/>
                </a:solidFill>
                <a:latin typeface="Calibri"/>
                <a:cs typeface="Calibri"/>
              </a:rPr>
              <a:t> </a:t>
            </a:r>
            <a:r>
              <a:rPr sz="2600" dirty="0">
                <a:solidFill>
                  <a:srgbClr val="AABFD4"/>
                </a:solidFill>
                <a:latin typeface="Calibri"/>
                <a:cs typeface="Calibri"/>
              </a:rPr>
              <a:t>(</a:t>
            </a:r>
            <a:r>
              <a:rPr sz="2600" spc="-5" dirty="0">
                <a:solidFill>
                  <a:srgbClr val="AABFD4"/>
                </a:solidFill>
                <a:latin typeface="Calibri"/>
                <a:cs typeface="Calibri"/>
              </a:rPr>
              <a:t> </a:t>
            </a:r>
            <a:r>
              <a:rPr sz="2600" spc="40" dirty="0">
                <a:solidFill>
                  <a:srgbClr val="151515"/>
                </a:solidFill>
                <a:latin typeface="Calibri"/>
                <a:cs typeface="Calibri"/>
              </a:rPr>
              <a:t>24KN1A05EA)</a:t>
            </a:r>
            <a:endParaRPr sz="2600" dirty="0">
              <a:latin typeface="Calibri"/>
              <a:cs typeface="Calibri"/>
            </a:endParaRPr>
          </a:p>
          <a:p>
            <a:pPr marL="273685" indent="-260985">
              <a:lnSpc>
                <a:spcPct val="100000"/>
              </a:lnSpc>
              <a:spcBef>
                <a:spcPts val="565"/>
              </a:spcBef>
              <a:buClr>
                <a:srgbClr val="1F1F1F"/>
              </a:buClr>
              <a:buChar char="•"/>
              <a:tabLst>
                <a:tab pos="273685" algn="l"/>
                <a:tab pos="2336165" algn="l"/>
              </a:tabLst>
            </a:pPr>
            <a:r>
              <a:rPr sz="2600" spc="290" dirty="0" err="1">
                <a:solidFill>
                  <a:srgbClr val="181818"/>
                </a:solidFill>
                <a:latin typeface="Calibri"/>
                <a:cs typeface="Calibri"/>
              </a:rPr>
              <a:t>Laveti</a:t>
            </a:r>
            <a:r>
              <a:rPr sz="2600" spc="110" dirty="0">
                <a:solidFill>
                  <a:srgbClr val="181818"/>
                </a:solidFill>
                <a:latin typeface="Calibri"/>
                <a:cs typeface="Calibri"/>
              </a:rPr>
              <a:t> </a:t>
            </a:r>
            <a:r>
              <a:rPr sz="2600" spc="105" dirty="0">
                <a:solidFill>
                  <a:srgbClr val="282828"/>
                </a:solidFill>
                <a:latin typeface="Calibri"/>
                <a:cs typeface="Calibri"/>
              </a:rPr>
              <a:t>As</a:t>
            </a:r>
            <a:r>
              <a:rPr sz="2600" spc="330" dirty="0">
                <a:solidFill>
                  <a:srgbClr val="282828"/>
                </a:solidFill>
                <a:latin typeface="Calibri"/>
                <a:cs typeface="Calibri"/>
              </a:rPr>
              <a:t>ritha</a:t>
            </a:r>
            <a:r>
              <a:rPr lang="en-IN" sz="2600" spc="330" dirty="0">
                <a:solidFill>
                  <a:srgbClr val="282828"/>
                </a:solidFill>
                <a:latin typeface="Calibri"/>
                <a:cs typeface="Calibri"/>
              </a:rPr>
              <a:t> </a:t>
            </a:r>
            <a:r>
              <a:rPr sz="2600" dirty="0">
                <a:solidFill>
                  <a:srgbClr val="1A1A1A"/>
                </a:solidFill>
                <a:latin typeface="Calibri"/>
                <a:cs typeface="Calibri"/>
              </a:rPr>
              <a:t>(24KN1A05D1</a:t>
            </a:r>
            <a:r>
              <a:rPr sz="2600" spc="495" dirty="0">
                <a:solidFill>
                  <a:srgbClr val="1A1A1A"/>
                </a:solidFill>
                <a:latin typeface="Calibri"/>
                <a:cs typeface="Calibri"/>
              </a:rPr>
              <a:t> </a:t>
            </a:r>
            <a:r>
              <a:rPr sz="2600" spc="-50" dirty="0">
                <a:solidFill>
                  <a:srgbClr val="36465D"/>
                </a:solidFill>
                <a:latin typeface="Calibri"/>
                <a:cs typeface="Calibri"/>
              </a:rPr>
              <a:t>)</a:t>
            </a:r>
            <a:endParaRPr sz="2600" dirty="0">
              <a:latin typeface="Calibri"/>
              <a:cs typeface="Calibri"/>
            </a:endParaRPr>
          </a:p>
          <a:p>
            <a:pPr marL="258445" indent="-245745">
              <a:lnSpc>
                <a:spcPct val="100000"/>
              </a:lnSpc>
              <a:spcBef>
                <a:spcPts val="690"/>
              </a:spcBef>
              <a:buClr>
                <a:srgbClr val="242424"/>
              </a:buClr>
              <a:buChar char="•"/>
              <a:tabLst>
                <a:tab pos="258445" algn="l"/>
                <a:tab pos="1224915" algn="l"/>
                <a:tab pos="2336165" algn="l"/>
              </a:tabLst>
            </a:pPr>
            <a:r>
              <a:rPr sz="2600" spc="-10" dirty="0" err="1">
                <a:solidFill>
                  <a:srgbClr val="1F1F1F"/>
                </a:solidFill>
                <a:latin typeface="Calibri"/>
                <a:cs typeface="Calibri"/>
              </a:rPr>
              <a:t>Mugada</a:t>
            </a:r>
            <a:r>
              <a:rPr lang="en-IN" sz="2600" spc="-10" dirty="0">
                <a:solidFill>
                  <a:srgbClr val="1F1F1F"/>
                </a:solidFill>
                <a:latin typeface="Calibri"/>
                <a:cs typeface="Calibri"/>
              </a:rPr>
              <a:t> </a:t>
            </a:r>
            <a:r>
              <a:rPr sz="2600" spc="105" dirty="0">
                <a:solidFill>
                  <a:srgbClr val="232323"/>
                </a:solidFill>
                <a:latin typeface="Calibri"/>
                <a:cs typeface="Calibri"/>
              </a:rPr>
              <a:t>Abhiram</a:t>
            </a:r>
            <a:r>
              <a:rPr lang="en-IN" sz="2600" spc="105" dirty="0">
                <a:solidFill>
                  <a:srgbClr val="232323"/>
                </a:solidFill>
                <a:latin typeface="Calibri"/>
                <a:cs typeface="Calibri"/>
              </a:rPr>
              <a:t> </a:t>
            </a:r>
            <a:r>
              <a:rPr sz="2600" spc="70" dirty="0">
                <a:solidFill>
                  <a:srgbClr val="1A1A1A"/>
                </a:solidFill>
                <a:latin typeface="Calibri"/>
                <a:cs typeface="Calibri"/>
              </a:rPr>
              <a:t>(24KN1A05D0)</a:t>
            </a:r>
            <a:endParaRPr sz="2600" dirty="0">
              <a:latin typeface="Calibri"/>
              <a:cs typeface="Calibri"/>
            </a:endParaRPr>
          </a:p>
          <a:p>
            <a:pPr marL="258445" indent="-245745" algn="l">
              <a:lnSpc>
                <a:spcPct val="100000"/>
              </a:lnSpc>
              <a:spcBef>
                <a:spcPts val="565"/>
              </a:spcBef>
              <a:buClr>
                <a:srgbClr val="283156"/>
              </a:buClr>
              <a:buChar char="•"/>
              <a:tabLst>
                <a:tab pos="258445" algn="l"/>
                <a:tab pos="1774825" algn="l"/>
                <a:tab pos="2857500" algn="l"/>
                <a:tab pos="3702685" algn="l"/>
              </a:tabLst>
            </a:pPr>
            <a:r>
              <a:rPr sz="2600" spc="75" dirty="0" err="1">
                <a:solidFill>
                  <a:srgbClr val="131313"/>
                </a:solidFill>
                <a:latin typeface="Calibri"/>
                <a:cs typeface="Calibri"/>
              </a:rPr>
              <a:t>Ma</a:t>
            </a:r>
            <a:r>
              <a:rPr lang="en-US" sz="2600" spc="75" dirty="0" err="1">
                <a:solidFill>
                  <a:srgbClr val="131313"/>
                </a:solidFill>
                <a:latin typeface="Calibri"/>
                <a:cs typeface="Calibri"/>
              </a:rPr>
              <a:t>ll</a:t>
            </a:r>
            <a:r>
              <a:rPr sz="2600" spc="75" dirty="0" err="1">
                <a:solidFill>
                  <a:srgbClr val="131313"/>
                </a:solidFill>
                <a:latin typeface="Calibri"/>
                <a:cs typeface="Calibri"/>
              </a:rPr>
              <a:t>eboina</a:t>
            </a:r>
            <a:r>
              <a:rPr lang="en-IN" sz="2600" spc="75" dirty="0">
                <a:solidFill>
                  <a:srgbClr val="131313"/>
                </a:solidFill>
                <a:latin typeface="Calibri"/>
                <a:cs typeface="Calibri"/>
              </a:rPr>
              <a:t> </a:t>
            </a:r>
            <a:r>
              <a:rPr sz="2600" spc="135" dirty="0">
                <a:solidFill>
                  <a:srgbClr val="181818"/>
                </a:solidFill>
                <a:latin typeface="Calibri"/>
                <a:cs typeface="Calibri"/>
              </a:rPr>
              <a:t>Venkata</a:t>
            </a:r>
            <a:r>
              <a:rPr lang="en-US" sz="2600" spc="135" dirty="0">
                <a:solidFill>
                  <a:srgbClr val="181818"/>
                </a:solidFill>
                <a:latin typeface="Calibri"/>
                <a:cs typeface="Calibri"/>
              </a:rPr>
              <a:t> </a:t>
            </a:r>
            <a:r>
              <a:rPr sz="2600" spc="-10" dirty="0">
                <a:solidFill>
                  <a:srgbClr val="1D1D1D"/>
                </a:solidFill>
                <a:latin typeface="Calibri"/>
                <a:cs typeface="Calibri"/>
              </a:rPr>
              <a:t>Moha</a:t>
            </a:r>
            <a:r>
              <a:rPr lang="en-IN" sz="2600" spc="-10" dirty="0">
                <a:solidFill>
                  <a:srgbClr val="1D1D1D"/>
                </a:solidFill>
                <a:latin typeface="Calibri"/>
                <a:cs typeface="Calibri"/>
              </a:rPr>
              <a:t>n</a:t>
            </a:r>
            <a:r>
              <a:rPr sz="2600" spc="10" dirty="0">
                <a:solidFill>
                  <a:srgbClr val="161616"/>
                </a:solidFill>
                <a:latin typeface="Calibri"/>
                <a:cs typeface="Calibri"/>
              </a:rPr>
              <a:t>(24KN1A05D8</a:t>
            </a:r>
            <a:r>
              <a:rPr sz="2600" spc="385" dirty="0">
                <a:solidFill>
                  <a:srgbClr val="161616"/>
                </a:solidFill>
                <a:latin typeface="Calibri"/>
                <a:cs typeface="Calibri"/>
              </a:rPr>
              <a:t> </a:t>
            </a:r>
            <a:r>
              <a:rPr sz="2600" spc="-50" dirty="0">
                <a:solidFill>
                  <a:srgbClr val="282828"/>
                </a:solidFill>
                <a:latin typeface="Calibri"/>
                <a:cs typeface="Calibri"/>
              </a:rPr>
              <a:t>)</a:t>
            </a:r>
            <a:endParaRPr sz="2600" dirty="0">
              <a:latin typeface="Calibri"/>
              <a:cs typeface="Calibri"/>
            </a:endParaRPr>
          </a:p>
        </p:txBody>
      </p:sp>
      <p:sp>
        <p:nvSpPr>
          <p:cNvPr id="10" name="object 10"/>
          <p:cNvSpPr txBox="1"/>
          <p:nvPr/>
        </p:nvSpPr>
        <p:spPr>
          <a:xfrm>
            <a:off x="13862050" y="8049431"/>
            <a:ext cx="6934200" cy="2059153"/>
          </a:xfrm>
          <a:prstGeom prst="rect">
            <a:avLst/>
          </a:prstGeom>
        </p:spPr>
        <p:txBody>
          <a:bodyPr vert="horz" wrap="square" lIns="0" tIns="167005" rIns="0" bIns="0" rtlCol="0">
            <a:spAutoFit/>
          </a:bodyPr>
          <a:lstStyle/>
          <a:p>
            <a:pPr marL="12700">
              <a:lnSpc>
                <a:spcPct val="100000"/>
              </a:lnSpc>
              <a:spcBef>
                <a:spcPts val="1315"/>
              </a:spcBef>
            </a:pPr>
            <a:r>
              <a:rPr sz="2400" spc="-160" dirty="0">
                <a:solidFill>
                  <a:srgbClr val="2A2A2A"/>
                </a:solidFill>
                <a:latin typeface="Arial MT"/>
                <a:cs typeface="Arial MT"/>
              </a:rPr>
              <a:t>PROJECT</a:t>
            </a:r>
            <a:r>
              <a:rPr sz="2400" spc="-70" dirty="0">
                <a:solidFill>
                  <a:srgbClr val="2A2A2A"/>
                </a:solidFill>
                <a:latin typeface="Arial MT"/>
                <a:cs typeface="Arial MT"/>
              </a:rPr>
              <a:t> </a:t>
            </a:r>
            <a:r>
              <a:rPr sz="2400" spc="-10" dirty="0">
                <a:solidFill>
                  <a:srgbClr val="1C4934"/>
                </a:solidFill>
                <a:latin typeface="Arial MT"/>
                <a:cs typeface="Arial MT"/>
              </a:rPr>
              <a:t>GUIDE</a:t>
            </a:r>
            <a:endParaRPr sz="2400" dirty="0">
              <a:latin typeface="Arial MT"/>
              <a:cs typeface="Arial MT"/>
            </a:endParaRPr>
          </a:p>
          <a:p>
            <a:pPr marL="16510" marR="1285240" indent="-4445">
              <a:lnSpc>
                <a:spcPct val="115599"/>
              </a:lnSpc>
              <a:spcBef>
                <a:spcPts val="894"/>
              </a:spcBef>
            </a:pPr>
            <a:r>
              <a:rPr sz="2400" spc="-100" dirty="0">
                <a:solidFill>
                  <a:srgbClr val="1F1F1F"/>
                </a:solidFill>
                <a:latin typeface="Arial MT"/>
                <a:cs typeface="Arial MT"/>
              </a:rPr>
              <a:t>Mr.</a:t>
            </a:r>
            <a:r>
              <a:rPr sz="2400" spc="-110" dirty="0">
                <a:solidFill>
                  <a:srgbClr val="1F1F1F"/>
                </a:solidFill>
                <a:latin typeface="Arial MT"/>
                <a:cs typeface="Arial MT"/>
              </a:rPr>
              <a:t> </a:t>
            </a:r>
            <a:r>
              <a:rPr sz="2400" spc="-135" dirty="0">
                <a:solidFill>
                  <a:srgbClr val="1F1F1F"/>
                </a:solidFill>
                <a:latin typeface="Arial MT"/>
                <a:cs typeface="Arial MT"/>
              </a:rPr>
              <a:t>S. </a:t>
            </a:r>
            <a:r>
              <a:rPr sz="2400" spc="-150" dirty="0">
                <a:solidFill>
                  <a:srgbClr val="242424"/>
                </a:solidFill>
                <a:latin typeface="Arial MT"/>
                <a:cs typeface="Arial MT"/>
              </a:rPr>
              <a:t>Sai</a:t>
            </a:r>
            <a:r>
              <a:rPr sz="2400" spc="-135" dirty="0">
                <a:solidFill>
                  <a:srgbClr val="242424"/>
                </a:solidFill>
                <a:latin typeface="Arial MT"/>
                <a:cs typeface="Arial MT"/>
              </a:rPr>
              <a:t> </a:t>
            </a:r>
            <a:r>
              <a:rPr sz="2400" spc="-125" dirty="0">
                <a:solidFill>
                  <a:srgbClr val="181818"/>
                </a:solidFill>
                <a:latin typeface="Arial MT"/>
                <a:cs typeface="Arial MT"/>
              </a:rPr>
              <a:t>Bala</a:t>
            </a:r>
            <a:r>
              <a:rPr sz="2400" spc="-135" dirty="0">
                <a:solidFill>
                  <a:srgbClr val="181818"/>
                </a:solidFill>
                <a:latin typeface="Arial MT"/>
                <a:cs typeface="Arial MT"/>
              </a:rPr>
              <a:t> </a:t>
            </a:r>
            <a:r>
              <a:rPr sz="2400" spc="-80" dirty="0">
                <a:solidFill>
                  <a:srgbClr val="1A1A1A"/>
                </a:solidFill>
                <a:latin typeface="Arial MT"/>
                <a:cs typeface="Arial MT"/>
              </a:rPr>
              <a:t>Krishna </a:t>
            </a:r>
            <a:endParaRPr lang="en-IN" sz="2400" spc="-80" dirty="0">
              <a:solidFill>
                <a:srgbClr val="1A1A1A"/>
              </a:solidFill>
              <a:latin typeface="Arial MT"/>
              <a:cs typeface="Arial MT"/>
            </a:endParaRPr>
          </a:p>
          <a:p>
            <a:pPr marL="16510" marR="1285240" indent="-4445">
              <a:lnSpc>
                <a:spcPct val="115599"/>
              </a:lnSpc>
              <a:spcBef>
                <a:spcPts val="894"/>
              </a:spcBef>
            </a:pPr>
            <a:r>
              <a:rPr lang="en-IN" sz="2400" spc="-125" dirty="0">
                <a:solidFill>
                  <a:srgbClr val="1F1F1F"/>
                </a:solidFill>
                <a:latin typeface="Arial MT"/>
                <a:cs typeface="Arial MT"/>
              </a:rPr>
              <a:t>Assistant</a:t>
            </a:r>
            <a:r>
              <a:rPr lang="en-US" sz="2400" spc="-125" dirty="0">
                <a:solidFill>
                  <a:srgbClr val="1F1F1F"/>
                </a:solidFill>
                <a:latin typeface="Arial MT"/>
                <a:cs typeface="Arial MT"/>
              </a:rPr>
              <a:t> </a:t>
            </a:r>
            <a:r>
              <a:rPr sz="2400" spc="-85" dirty="0">
                <a:solidFill>
                  <a:srgbClr val="1F1F1F"/>
                </a:solidFill>
                <a:latin typeface="Arial MT"/>
                <a:cs typeface="Arial MT"/>
              </a:rPr>
              <a:t> </a:t>
            </a:r>
            <a:r>
              <a:rPr sz="2400" spc="-10" dirty="0">
                <a:solidFill>
                  <a:srgbClr val="1F1F1F"/>
                </a:solidFill>
                <a:latin typeface="Arial MT"/>
                <a:cs typeface="Arial MT"/>
              </a:rPr>
              <a:t>Professor,</a:t>
            </a:r>
            <a:endParaRPr sz="2400" dirty="0">
              <a:latin typeface="Arial MT"/>
              <a:cs typeface="Arial MT"/>
            </a:endParaRPr>
          </a:p>
          <a:p>
            <a:pPr marL="19050">
              <a:lnSpc>
                <a:spcPct val="100000"/>
              </a:lnSpc>
              <a:spcBef>
                <a:spcPts val="509"/>
              </a:spcBef>
            </a:pPr>
            <a:r>
              <a:rPr sz="2400" spc="-45" dirty="0">
                <a:solidFill>
                  <a:srgbClr val="1C1C1C"/>
                </a:solidFill>
                <a:latin typeface="Arial MT"/>
                <a:cs typeface="Arial MT"/>
              </a:rPr>
              <a:t>Computer</a:t>
            </a:r>
            <a:r>
              <a:rPr sz="2400" spc="-90" dirty="0">
                <a:solidFill>
                  <a:srgbClr val="1C1C1C"/>
                </a:solidFill>
                <a:latin typeface="Arial MT"/>
                <a:cs typeface="Arial MT"/>
              </a:rPr>
              <a:t> </a:t>
            </a:r>
            <a:r>
              <a:rPr sz="2400" spc="-90" dirty="0">
                <a:solidFill>
                  <a:srgbClr val="1F1F1F"/>
                </a:solidFill>
                <a:latin typeface="Arial MT"/>
                <a:cs typeface="Arial MT"/>
              </a:rPr>
              <a:t>Science</a:t>
            </a:r>
            <a:r>
              <a:rPr sz="2400" spc="-114" dirty="0">
                <a:solidFill>
                  <a:srgbClr val="1F1F1F"/>
                </a:solidFill>
                <a:latin typeface="Arial MT"/>
                <a:cs typeface="Arial MT"/>
              </a:rPr>
              <a:t> </a:t>
            </a:r>
            <a:r>
              <a:rPr sz="2400" spc="-145" dirty="0">
                <a:solidFill>
                  <a:srgbClr val="1D1D1D"/>
                </a:solidFill>
                <a:latin typeface="Arial MT"/>
                <a:cs typeface="Arial MT"/>
              </a:rPr>
              <a:t>and</a:t>
            </a:r>
            <a:r>
              <a:rPr sz="2400" spc="-215" dirty="0">
                <a:solidFill>
                  <a:srgbClr val="1D1D1D"/>
                </a:solidFill>
                <a:latin typeface="Arial MT"/>
                <a:cs typeface="Arial MT"/>
              </a:rPr>
              <a:t> </a:t>
            </a:r>
            <a:r>
              <a:rPr sz="2400" spc="-80" dirty="0">
                <a:solidFill>
                  <a:srgbClr val="151515"/>
                </a:solidFill>
                <a:latin typeface="Arial MT"/>
                <a:cs typeface="Arial MT"/>
              </a:rPr>
              <a:t>Engineering</a:t>
            </a:r>
            <a:endParaRPr sz="2400" dirty="0">
              <a:latin typeface="Arial MT"/>
              <a:cs typeface="Arial M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212850" y="1158875"/>
            <a:ext cx="6963905" cy="799210"/>
          </a:xfrm>
          <a:prstGeom prst="rect">
            <a:avLst/>
          </a:prstGeom>
        </p:spPr>
        <p:txBody>
          <a:bodyPr vert="horz" wrap="square" lIns="0" tIns="90441" rIns="0" bIns="0" rtlCol="0">
            <a:spAutoFit/>
          </a:bodyPr>
          <a:lstStyle/>
          <a:p>
            <a:pPr marL="38100">
              <a:lnSpc>
                <a:spcPct val="100000"/>
              </a:lnSpc>
              <a:spcBef>
                <a:spcPts val="135"/>
              </a:spcBef>
            </a:pPr>
            <a:r>
              <a:rPr sz="6900" baseline="-12681" dirty="0">
                <a:solidFill>
                  <a:srgbClr val="287B49"/>
                </a:solidFill>
                <a:latin typeface="Arial MT"/>
                <a:cs typeface="Arial MT"/>
              </a:rPr>
              <a:t>I</a:t>
            </a:r>
            <a:r>
              <a:rPr sz="6900" spc="-52" baseline="-12681" dirty="0">
                <a:solidFill>
                  <a:srgbClr val="287B49"/>
                </a:solidFill>
                <a:latin typeface="Arial MT"/>
                <a:cs typeface="Arial MT"/>
              </a:rPr>
              <a:t>  </a:t>
            </a:r>
            <a:r>
              <a:rPr sz="4600" b="1" spc="-10" dirty="0">
                <a:solidFill>
                  <a:srgbClr val="00542A"/>
                </a:solidFill>
                <a:latin typeface="Arial MT"/>
                <a:cs typeface="Arial MT"/>
              </a:rPr>
              <a:t>Abstract</a:t>
            </a:r>
            <a:endParaRPr sz="4600" b="1" dirty="0">
              <a:latin typeface="Arial MT"/>
              <a:cs typeface="Arial MT"/>
            </a:endParaRPr>
          </a:p>
        </p:txBody>
      </p:sp>
      <p:sp>
        <p:nvSpPr>
          <p:cNvPr id="3" name="object 3"/>
          <p:cNvSpPr txBox="1"/>
          <p:nvPr/>
        </p:nvSpPr>
        <p:spPr>
          <a:xfrm>
            <a:off x="1441450" y="2911475"/>
            <a:ext cx="17754600" cy="3696525"/>
          </a:xfrm>
          <a:prstGeom prst="rect">
            <a:avLst/>
          </a:prstGeom>
        </p:spPr>
        <p:txBody>
          <a:bodyPr vert="horz" wrap="square" lIns="0" tIns="3175" rIns="0" bIns="0" rtlCol="0">
            <a:spAutoFit/>
          </a:bodyPr>
          <a:lstStyle/>
          <a:p>
            <a:pPr>
              <a:lnSpc>
                <a:spcPct val="100000"/>
              </a:lnSpc>
              <a:spcBef>
                <a:spcPts val="405"/>
              </a:spcBef>
            </a:pPr>
            <a:r>
              <a:rPr lang="en-IN" sz="4000" dirty="0"/>
              <a:t>This project integrates </a:t>
            </a:r>
            <a:r>
              <a:rPr lang="en-IN" sz="4000" b="1" dirty="0"/>
              <a:t>Artificial Intelligence, DNA cryptography, and QR code steganography</a:t>
            </a:r>
            <a:r>
              <a:rPr lang="en-IN" sz="4000" dirty="0"/>
              <a:t> to provide a secure data transmission system. AI improves encryption by selecting dynamic DNA encoding methods and secure keys, while machine learning detects QR code tampering. The framework ensures secure, efficient, and reliable communication across various real-world applications.</a:t>
            </a:r>
            <a:endParaRPr sz="4000" dirty="0">
              <a:latin typeface="Arial MT"/>
              <a:cs typeface="Arial M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92551-1A4E-12BA-0FB4-C3F18DAF872A}"/>
              </a:ext>
            </a:extLst>
          </p:cNvPr>
          <p:cNvSpPr>
            <a:spLocks noGrp="1"/>
          </p:cNvSpPr>
          <p:nvPr>
            <p:ph type="title"/>
          </p:nvPr>
        </p:nvSpPr>
        <p:spPr>
          <a:xfrm>
            <a:off x="1006410" y="701675"/>
            <a:ext cx="7170345" cy="838200"/>
          </a:xfrm>
        </p:spPr>
        <p:txBody>
          <a:bodyPr/>
          <a:lstStyle/>
          <a:p>
            <a:r>
              <a:rPr lang="en-IN" b="1" dirty="0"/>
              <a:t>Problem Statement</a:t>
            </a:r>
          </a:p>
        </p:txBody>
      </p:sp>
      <p:sp>
        <p:nvSpPr>
          <p:cNvPr id="3" name="Content Placeholder 2">
            <a:extLst>
              <a:ext uri="{FF2B5EF4-FFF2-40B4-BE49-F238E27FC236}">
                <a16:creationId xmlns:a16="http://schemas.microsoft.com/office/drawing/2014/main" id="{A482CC96-B1C7-97C1-D8C5-A955B3835915}"/>
              </a:ext>
            </a:extLst>
          </p:cNvPr>
          <p:cNvSpPr>
            <a:spLocks noGrp="1"/>
          </p:cNvSpPr>
          <p:nvPr>
            <p:ph sz="half" idx="2"/>
          </p:nvPr>
        </p:nvSpPr>
        <p:spPr>
          <a:xfrm>
            <a:off x="1006410" y="2454275"/>
            <a:ext cx="17961040" cy="2462213"/>
          </a:xfrm>
        </p:spPr>
        <p:txBody>
          <a:bodyPr/>
          <a:lstStyle/>
          <a:p>
            <a:r>
              <a:rPr lang="en-US" sz="3200" dirty="0"/>
              <a:t>Existing DNA steganography methods focus on hiding data but often fail to preserve natural DNA characteristics, making hidden information easier to detect. They also lack effective mechanisms to evaluate security against modern steganalysis. This project proposes a Dual-Channel DNA Steganography System with a Deep Learning-based Steganalysis Framework to improve security, reduce detectability, and ensure reliable hidden data transmission</a:t>
            </a:r>
            <a:r>
              <a:rPr lang="en-US" dirty="0"/>
              <a:t>.</a:t>
            </a:r>
            <a:endParaRPr lang="en-IN" dirty="0"/>
          </a:p>
        </p:txBody>
      </p:sp>
      <p:sp>
        <p:nvSpPr>
          <p:cNvPr id="4" name="Content Placeholder 3">
            <a:extLst>
              <a:ext uri="{FF2B5EF4-FFF2-40B4-BE49-F238E27FC236}">
                <a16:creationId xmlns:a16="http://schemas.microsoft.com/office/drawing/2014/main" id="{42DB6775-EC6F-4B76-E37D-F1959192A0DE}"/>
              </a:ext>
            </a:extLst>
          </p:cNvPr>
          <p:cNvSpPr>
            <a:spLocks noGrp="1"/>
          </p:cNvSpPr>
          <p:nvPr>
            <p:ph sz="half" idx="3"/>
          </p:nvPr>
        </p:nvSpPr>
        <p:spPr>
          <a:xfrm>
            <a:off x="16605249" y="13655675"/>
            <a:ext cx="2493645" cy="152400"/>
          </a:xfrm>
        </p:spPr>
        <p:txBody>
          <a:bodyPr/>
          <a:lstStyle/>
          <a:p>
            <a:endParaRPr lang="en-IN" dirty="0"/>
          </a:p>
        </p:txBody>
      </p:sp>
    </p:spTree>
    <p:extLst>
      <p:ext uri="{BB962C8B-B14F-4D97-AF65-F5344CB8AC3E}">
        <p14:creationId xmlns:p14="http://schemas.microsoft.com/office/powerpoint/2010/main" val="3944478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object 11" descr="$PPTXTitle"/>
          <p:cNvSpPr txBox="1">
            <a:spLocks noGrp="1"/>
          </p:cNvSpPr>
          <p:nvPr>
            <p:ph type="title"/>
          </p:nvPr>
        </p:nvSpPr>
        <p:spPr>
          <a:xfrm>
            <a:off x="1146561" y="1158875"/>
            <a:ext cx="7030194" cy="791281"/>
          </a:xfrm>
          <a:prstGeom prst="rect">
            <a:avLst/>
          </a:prstGeom>
        </p:spPr>
        <p:txBody>
          <a:bodyPr vert="horz" wrap="square" lIns="0" tIns="82588" rIns="0" bIns="0" rtlCol="0">
            <a:spAutoFit/>
          </a:bodyPr>
          <a:lstStyle/>
          <a:p>
            <a:pPr marL="38100">
              <a:lnSpc>
                <a:spcPct val="100000"/>
              </a:lnSpc>
              <a:spcBef>
                <a:spcPts val="135"/>
              </a:spcBef>
            </a:pPr>
            <a:r>
              <a:rPr sz="6900" baseline="-13285" dirty="0">
                <a:solidFill>
                  <a:srgbClr val="287B49"/>
                </a:solidFill>
                <a:latin typeface="Arial MT"/>
                <a:cs typeface="Arial MT"/>
              </a:rPr>
              <a:t>I</a:t>
            </a:r>
            <a:r>
              <a:rPr sz="6900" b="1" spc="1702" baseline="-13285" dirty="0">
                <a:solidFill>
                  <a:srgbClr val="287B49"/>
                </a:solidFill>
                <a:latin typeface="Arial MT"/>
                <a:cs typeface="Arial MT"/>
              </a:rPr>
              <a:t> </a:t>
            </a:r>
            <a:r>
              <a:rPr sz="4600" b="1" spc="-45" dirty="0">
                <a:solidFill>
                  <a:srgbClr val="0F4F2B"/>
                </a:solidFill>
                <a:latin typeface="Arial MT"/>
                <a:cs typeface="Arial MT"/>
              </a:rPr>
              <a:t>Title</a:t>
            </a:r>
            <a:r>
              <a:rPr sz="4600" b="1" spc="-360" dirty="0">
                <a:solidFill>
                  <a:srgbClr val="0F4F2B"/>
                </a:solidFill>
                <a:latin typeface="Arial MT"/>
                <a:cs typeface="Arial MT"/>
              </a:rPr>
              <a:t> </a:t>
            </a:r>
            <a:r>
              <a:rPr sz="4600" b="1" spc="75" dirty="0">
                <a:solidFill>
                  <a:srgbClr val="0A4F2A"/>
                </a:solidFill>
                <a:latin typeface="Arial MT"/>
                <a:cs typeface="Arial MT"/>
              </a:rPr>
              <a:t>Justification</a:t>
            </a:r>
            <a:endParaRPr sz="4600" b="1" dirty="0">
              <a:latin typeface="Arial MT"/>
              <a:cs typeface="Arial MT"/>
            </a:endParaRPr>
          </a:p>
        </p:txBody>
      </p:sp>
      <p:sp>
        <p:nvSpPr>
          <p:cNvPr id="12" name="object 12"/>
          <p:cNvSpPr txBox="1"/>
          <p:nvPr/>
        </p:nvSpPr>
        <p:spPr>
          <a:xfrm>
            <a:off x="1489739" y="3091124"/>
            <a:ext cx="4568825" cy="438150"/>
          </a:xfrm>
          <a:prstGeom prst="rect">
            <a:avLst/>
          </a:prstGeom>
        </p:spPr>
        <p:txBody>
          <a:bodyPr vert="horz" wrap="square" lIns="0" tIns="13335" rIns="0" bIns="0" rtlCol="0">
            <a:spAutoFit/>
          </a:bodyPr>
          <a:lstStyle/>
          <a:p>
            <a:pPr marL="12700">
              <a:lnSpc>
                <a:spcPct val="100000"/>
              </a:lnSpc>
              <a:spcBef>
                <a:spcPts val="105"/>
              </a:spcBef>
            </a:pPr>
            <a:r>
              <a:rPr sz="2700" b="1" spc="-70" dirty="0">
                <a:solidFill>
                  <a:srgbClr val="164D36"/>
                </a:solidFill>
                <a:latin typeface="Arial"/>
                <a:cs typeface="Arial"/>
              </a:rPr>
              <a:t>“Measuring</a:t>
            </a:r>
            <a:r>
              <a:rPr sz="2700" b="1" spc="-80" dirty="0">
                <a:solidFill>
                  <a:srgbClr val="164D36"/>
                </a:solidFill>
                <a:latin typeface="Arial"/>
                <a:cs typeface="Arial"/>
              </a:rPr>
              <a:t> </a:t>
            </a:r>
            <a:r>
              <a:rPr sz="2700" b="1" spc="-10" dirty="0">
                <a:solidFill>
                  <a:srgbClr val="034B38"/>
                </a:solidFill>
                <a:latin typeface="Arial"/>
                <a:cs typeface="Arial"/>
              </a:rPr>
              <a:t>Undetect</a:t>
            </a:r>
            <a:r>
              <a:rPr lang="en-US" sz="2700" b="1" spc="-10" dirty="0">
                <a:solidFill>
                  <a:srgbClr val="034B38"/>
                </a:solidFill>
                <a:latin typeface="Arial"/>
                <a:cs typeface="Arial"/>
              </a:rPr>
              <a:t>a</a:t>
            </a:r>
            <a:r>
              <a:rPr sz="2700" b="1" spc="-10" dirty="0">
                <a:solidFill>
                  <a:srgbClr val="034B38"/>
                </a:solidFill>
                <a:latin typeface="Arial"/>
                <a:cs typeface="Arial"/>
              </a:rPr>
              <a:t>bility“</a:t>
            </a:r>
            <a:endParaRPr sz="2700" dirty="0">
              <a:latin typeface="Arial"/>
              <a:cs typeface="Arial"/>
            </a:endParaRPr>
          </a:p>
        </p:txBody>
      </p:sp>
      <p:sp>
        <p:nvSpPr>
          <p:cNvPr id="15" name="object 15"/>
          <p:cNvSpPr txBox="1"/>
          <p:nvPr/>
        </p:nvSpPr>
        <p:spPr>
          <a:xfrm>
            <a:off x="7766050" y="3091124"/>
            <a:ext cx="4064788" cy="428964"/>
          </a:xfrm>
          <a:prstGeom prst="rect">
            <a:avLst/>
          </a:prstGeom>
        </p:spPr>
        <p:txBody>
          <a:bodyPr vert="horz" wrap="square" lIns="0" tIns="13335" rIns="0" bIns="0" rtlCol="0">
            <a:spAutoFit/>
          </a:bodyPr>
          <a:lstStyle/>
          <a:p>
            <a:pPr marL="12700">
              <a:lnSpc>
                <a:spcPct val="100000"/>
              </a:lnSpc>
              <a:spcBef>
                <a:spcPts val="105"/>
              </a:spcBef>
            </a:pPr>
            <a:r>
              <a:rPr sz="2700" b="1" spc="-310" dirty="0">
                <a:solidFill>
                  <a:srgbClr val="055636"/>
                </a:solidFill>
                <a:latin typeface="Arial"/>
                <a:cs typeface="Arial"/>
              </a:rPr>
              <a:t>“DNA</a:t>
            </a:r>
            <a:r>
              <a:rPr sz="2700" b="1" spc="80" dirty="0">
                <a:solidFill>
                  <a:srgbClr val="055636"/>
                </a:solidFill>
                <a:latin typeface="Arial"/>
                <a:cs typeface="Arial"/>
              </a:rPr>
              <a:t> </a:t>
            </a:r>
            <a:r>
              <a:rPr sz="2700" b="1" spc="-10" dirty="0">
                <a:solidFill>
                  <a:srgbClr val="004426"/>
                </a:solidFill>
                <a:latin typeface="Arial"/>
                <a:cs typeface="Arial"/>
              </a:rPr>
              <a:t>Steg</a:t>
            </a:r>
            <a:r>
              <a:rPr lang="en-US" sz="2700" b="1" spc="-10" dirty="0">
                <a:solidFill>
                  <a:srgbClr val="004426"/>
                </a:solidFill>
                <a:latin typeface="Arial"/>
                <a:cs typeface="Arial"/>
              </a:rPr>
              <a:t>a</a:t>
            </a:r>
            <a:r>
              <a:rPr sz="2700" b="1" spc="-10" dirty="0">
                <a:solidFill>
                  <a:srgbClr val="004426"/>
                </a:solidFill>
                <a:latin typeface="Arial"/>
                <a:cs typeface="Arial"/>
              </a:rPr>
              <a:t>nogr</a:t>
            </a:r>
            <a:r>
              <a:rPr lang="en-US" sz="2700" b="1" spc="-10" dirty="0">
                <a:solidFill>
                  <a:srgbClr val="004426"/>
                </a:solidFill>
                <a:latin typeface="Arial"/>
                <a:cs typeface="Arial"/>
              </a:rPr>
              <a:t>a</a:t>
            </a:r>
            <a:r>
              <a:rPr sz="2700" b="1" spc="-10" dirty="0">
                <a:solidFill>
                  <a:srgbClr val="004426"/>
                </a:solidFill>
                <a:latin typeface="Arial"/>
                <a:cs typeface="Arial"/>
              </a:rPr>
              <a:t>phy"</a:t>
            </a:r>
            <a:endParaRPr sz="2700" dirty="0">
              <a:latin typeface="Arial"/>
              <a:cs typeface="Arial"/>
            </a:endParaRPr>
          </a:p>
        </p:txBody>
      </p:sp>
      <p:sp>
        <p:nvSpPr>
          <p:cNvPr id="16" name="object 16"/>
          <p:cNvSpPr txBox="1"/>
          <p:nvPr/>
        </p:nvSpPr>
        <p:spPr>
          <a:xfrm>
            <a:off x="7521730" y="5431833"/>
            <a:ext cx="4915535" cy="3476657"/>
          </a:xfrm>
          <a:prstGeom prst="rect">
            <a:avLst/>
          </a:prstGeom>
        </p:spPr>
        <p:txBody>
          <a:bodyPr vert="horz" wrap="square" lIns="0" tIns="635" rIns="0" bIns="0" rtlCol="0">
            <a:spAutoFit/>
          </a:bodyPr>
          <a:lstStyle/>
          <a:p>
            <a:pPr marL="12700" marR="5080" indent="635" algn="just">
              <a:lnSpc>
                <a:spcPct val="118800"/>
              </a:lnSpc>
              <a:spcBef>
                <a:spcPts val="5"/>
              </a:spcBef>
            </a:pPr>
            <a:r>
              <a:rPr lang="en-US" sz="2400" spc="20" dirty="0">
                <a:solidFill>
                  <a:schemeClr val="tx1">
                    <a:lumMod val="95000"/>
                    <a:lumOff val="5000"/>
                  </a:schemeClr>
                </a:solidFill>
                <a:latin typeface="Arial MT"/>
                <a:cs typeface="Arial MT"/>
              </a:rPr>
              <a:t>The</a:t>
            </a:r>
            <a:r>
              <a:rPr sz="2400" spc="20" dirty="0">
                <a:solidFill>
                  <a:srgbClr val="D1D1D1"/>
                </a:solidFill>
                <a:latin typeface="Arial MT"/>
                <a:cs typeface="Arial MT"/>
              </a:rPr>
              <a:t> </a:t>
            </a:r>
            <a:r>
              <a:rPr sz="2400" dirty="0">
                <a:solidFill>
                  <a:srgbClr val="414141"/>
                </a:solidFill>
                <a:latin typeface="Arial MT"/>
                <a:cs typeface="Arial MT"/>
              </a:rPr>
              <a:t>core</a:t>
            </a:r>
            <a:r>
              <a:rPr sz="2400" spc="25" dirty="0">
                <a:solidFill>
                  <a:srgbClr val="414141"/>
                </a:solidFill>
                <a:latin typeface="Arial MT"/>
                <a:cs typeface="Arial MT"/>
              </a:rPr>
              <a:t>  </a:t>
            </a:r>
            <a:r>
              <a:rPr sz="2400" dirty="0">
                <a:solidFill>
                  <a:srgbClr val="464646"/>
                </a:solidFill>
                <a:latin typeface="Arial MT"/>
                <a:cs typeface="Arial MT"/>
              </a:rPr>
              <a:t>carrier</a:t>
            </a:r>
            <a:r>
              <a:rPr sz="2400" spc="95" dirty="0">
                <a:solidFill>
                  <a:srgbClr val="464646"/>
                </a:solidFill>
                <a:latin typeface="Arial MT"/>
                <a:cs typeface="Arial MT"/>
              </a:rPr>
              <a:t>  </a:t>
            </a:r>
            <a:r>
              <a:rPr sz="2400" dirty="0">
                <a:solidFill>
                  <a:srgbClr val="444444"/>
                </a:solidFill>
                <a:latin typeface="Arial MT"/>
                <a:cs typeface="Arial MT"/>
              </a:rPr>
              <a:t>utilizes</a:t>
            </a:r>
            <a:r>
              <a:rPr sz="2400" spc="70" dirty="0">
                <a:solidFill>
                  <a:srgbClr val="444444"/>
                </a:solidFill>
                <a:latin typeface="Arial MT"/>
                <a:cs typeface="Arial MT"/>
              </a:rPr>
              <a:t>  </a:t>
            </a:r>
            <a:r>
              <a:rPr sz="2400" dirty="0">
                <a:solidFill>
                  <a:srgbClr val="464646"/>
                </a:solidFill>
                <a:latin typeface="Arial MT"/>
                <a:cs typeface="Arial MT"/>
              </a:rPr>
              <a:t>genomic</a:t>
            </a:r>
            <a:r>
              <a:rPr sz="2400" spc="105" dirty="0">
                <a:solidFill>
                  <a:srgbClr val="464646"/>
                </a:solidFill>
                <a:latin typeface="Arial MT"/>
                <a:cs typeface="Arial MT"/>
              </a:rPr>
              <a:t>  </a:t>
            </a:r>
            <a:r>
              <a:rPr sz="2400" spc="-10" dirty="0">
                <a:solidFill>
                  <a:srgbClr val="444444"/>
                </a:solidFill>
                <a:latin typeface="Arial MT"/>
                <a:cs typeface="Arial MT"/>
              </a:rPr>
              <a:t>sequences </a:t>
            </a:r>
            <a:r>
              <a:rPr sz="2400" dirty="0">
                <a:solidFill>
                  <a:srgbClr val="494949"/>
                </a:solidFill>
                <a:latin typeface="Arial MT"/>
                <a:cs typeface="Arial MT"/>
              </a:rPr>
              <a:t>(synthetic</a:t>
            </a:r>
            <a:r>
              <a:rPr sz="2400" spc="409" dirty="0">
                <a:solidFill>
                  <a:srgbClr val="494949"/>
                </a:solidFill>
                <a:latin typeface="Arial MT"/>
                <a:cs typeface="Arial MT"/>
              </a:rPr>
              <a:t> </a:t>
            </a:r>
            <a:r>
              <a:rPr sz="2400" dirty="0">
                <a:solidFill>
                  <a:srgbClr val="444444"/>
                </a:solidFill>
                <a:latin typeface="Arial MT"/>
                <a:cs typeface="Arial MT"/>
              </a:rPr>
              <a:t>or</a:t>
            </a:r>
            <a:r>
              <a:rPr sz="2400" spc="315" dirty="0">
                <a:solidFill>
                  <a:srgbClr val="444444"/>
                </a:solidFill>
                <a:latin typeface="Arial MT"/>
                <a:cs typeface="Arial MT"/>
              </a:rPr>
              <a:t> </a:t>
            </a:r>
            <a:r>
              <a:rPr sz="2400" dirty="0">
                <a:solidFill>
                  <a:srgbClr val="4B4B4B"/>
                </a:solidFill>
                <a:latin typeface="Arial MT"/>
                <a:cs typeface="Arial MT"/>
              </a:rPr>
              <a:t>biological).</a:t>
            </a:r>
            <a:r>
              <a:rPr sz="2400" spc="290" dirty="0">
                <a:solidFill>
                  <a:srgbClr val="4B4B4B"/>
                </a:solidFill>
                <a:latin typeface="Arial MT"/>
                <a:cs typeface="Arial MT"/>
              </a:rPr>
              <a:t> </a:t>
            </a:r>
            <a:r>
              <a:rPr sz="2400" dirty="0">
                <a:solidFill>
                  <a:srgbClr val="3D3D3D"/>
                </a:solidFill>
                <a:latin typeface="Arial MT"/>
                <a:cs typeface="Arial MT"/>
              </a:rPr>
              <a:t>Deoxyribonucleic</a:t>
            </a:r>
            <a:r>
              <a:rPr sz="2400" spc="175" dirty="0">
                <a:solidFill>
                  <a:srgbClr val="3D3D3D"/>
                </a:solidFill>
                <a:latin typeface="Arial MT"/>
                <a:cs typeface="Arial MT"/>
              </a:rPr>
              <a:t> </a:t>
            </a:r>
            <a:r>
              <a:rPr sz="2400" spc="-20" dirty="0">
                <a:solidFill>
                  <a:srgbClr val="444444"/>
                </a:solidFill>
                <a:latin typeface="Arial MT"/>
                <a:cs typeface="Arial MT"/>
              </a:rPr>
              <a:t>Acid </a:t>
            </a:r>
            <a:r>
              <a:rPr sz="2400" dirty="0">
                <a:solidFill>
                  <a:srgbClr val="3D3D3D"/>
                </a:solidFill>
                <a:latin typeface="Arial MT"/>
                <a:cs typeface="Arial MT"/>
              </a:rPr>
              <a:t>offers</a:t>
            </a:r>
            <a:r>
              <a:rPr sz="2400" spc="229" dirty="0">
                <a:solidFill>
                  <a:srgbClr val="3D3D3D"/>
                </a:solidFill>
                <a:latin typeface="Arial MT"/>
                <a:cs typeface="Arial MT"/>
              </a:rPr>
              <a:t> </a:t>
            </a:r>
            <a:r>
              <a:rPr sz="2400" dirty="0">
                <a:solidFill>
                  <a:srgbClr val="494949"/>
                </a:solidFill>
                <a:latin typeface="Arial MT"/>
                <a:cs typeface="Arial MT"/>
              </a:rPr>
              <a:t>high</a:t>
            </a:r>
            <a:r>
              <a:rPr sz="2400" spc="360" dirty="0">
                <a:solidFill>
                  <a:srgbClr val="494949"/>
                </a:solidFill>
                <a:latin typeface="Arial MT"/>
                <a:cs typeface="Arial MT"/>
              </a:rPr>
              <a:t> </a:t>
            </a:r>
            <a:r>
              <a:rPr sz="2400" dirty="0">
                <a:solidFill>
                  <a:srgbClr val="464646"/>
                </a:solidFill>
                <a:latin typeface="Arial MT"/>
                <a:cs typeface="Arial MT"/>
              </a:rPr>
              <a:t>resistance</a:t>
            </a:r>
            <a:r>
              <a:rPr sz="2400" spc="360" dirty="0">
                <a:solidFill>
                  <a:srgbClr val="464646"/>
                </a:solidFill>
                <a:latin typeface="Arial MT"/>
                <a:cs typeface="Arial MT"/>
              </a:rPr>
              <a:t> </a:t>
            </a:r>
            <a:r>
              <a:rPr sz="2400" dirty="0">
                <a:solidFill>
                  <a:srgbClr val="444444"/>
                </a:solidFill>
                <a:latin typeface="Arial MT"/>
                <a:cs typeface="Arial MT"/>
              </a:rPr>
              <a:t>to</a:t>
            </a:r>
            <a:r>
              <a:rPr sz="2400" spc="480" dirty="0">
                <a:solidFill>
                  <a:srgbClr val="444444"/>
                </a:solidFill>
                <a:latin typeface="Arial MT"/>
                <a:cs typeface="Arial MT"/>
              </a:rPr>
              <a:t> </a:t>
            </a:r>
            <a:r>
              <a:rPr sz="2400" dirty="0">
                <a:solidFill>
                  <a:srgbClr val="484848"/>
                </a:solidFill>
                <a:latin typeface="Arial MT"/>
                <a:cs typeface="Arial MT"/>
              </a:rPr>
              <a:t>physical</a:t>
            </a:r>
            <a:r>
              <a:rPr sz="2400" spc="240" dirty="0">
                <a:solidFill>
                  <a:srgbClr val="484848"/>
                </a:solidFill>
                <a:latin typeface="Arial MT"/>
                <a:cs typeface="Arial MT"/>
              </a:rPr>
              <a:t> </a:t>
            </a:r>
            <a:r>
              <a:rPr sz="2400" spc="-10" dirty="0">
                <a:solidFill>
                  <a:srgbClr val="424242"/>
                </a:solidFill>
                <a:latin typeface="Arial MT"/>
                <a:cs typeface="Arial MT"/>
              </a:rPr>
              <a:t>degradation</a:t>
            </a:r>
            <a:r>
              <a:rPr lang="en-US" sz="2400" dirty="0">
                <a:solidFill>
                  <a:srgbClr val="4F4F4F"/>
                </a:solidFill>
                <a:latin typeface="Arial MT"/>
                <a:cs typeface="Arial MT"/>
              </a:rPr>
              <a:t> and</a:t>
            </a:r>
            <a:r>
              <a:rPr lang="en-US" sz="2400" spc="445" dirty="0">
                <a:solidFill>
                  <a:srgbClr val="4F4F4F"/>
                </a:solidFill>
                <a:latin typeface="Arial MT"/>
                <a:cs typeface="Arial MT"/>
              </a:rPr>
              <a:t>   </a:t>
            </a:r>
            <a:r>
              <a:rPr lang="en-US" sz="2400" dirty="0">
                <a:solidFill>
                  <a:srgbClr val="3D3D3D"/>
                </a:solidFill>
                <a:latin typeface="Arial MT"/>
                <a:cs typeface="Arial MT"/>
              </a:rPr>
              <a:t>offers</a:t>
            </a:r>
            <a:r>
              <a:rPr lang="en-US" sz="2400" spc="490" dirty="0">
                <a:solidFill>
                  <a:srgbClr val="3D3D3D"/>
                </a:solidFill>
                <a:latin typeface="Arial MT"/>
                <a:cs typeface="Arial MT"/>
              </a:rPr>
              <a:t>   </a:t>
            </a:r>
            <a:r>
              <a:rPr lang="en-US" sz="2400" dirty="0">
                <a:solidFill>
                  <a:srgbClr val="494949"/>
                </a:solidFill>
                <a:latin typeface="Arial MT"/>
                <a:cs typeface="Arial MT"/>
              </a:rPr>
              <a:t>extremely</a:t>
            </a:r>
            <a:r>
              <a:rPr lang="en-US" sz="2400" spc="254" dirty="0">
                <a:solidFill>
                  <a:srgbClr val="494949"/>
                </a:solidFill>
                <a:latin typeface="Arial MT"/>
                <a:cs typeface="Arial MT"/>
              </a:rPr>
              <a:t>    </a:t>
            </a:r>
            <a:r>
              <a:rPr lang="en-US" sz="2400" dirty="0">
                <a:solidFill>
                  <a:srgbClr val="4F4F4F"/>
                </a:solidFill>
                <a:latin typeface="Arial MT"/>
                <a:cs typeface="Arial MT"/>
              </a:rPr>
              <a:t>high</a:t>
            </a:r>
            <a:r>
              <a:rPr lang="en-US" sz="2400" spc="480" dirty="0">
                <a:solidFill>
                  <a:srgbClr val="4F4F4F"/>
                </a:solidFill>
                <a:latin typeface="Arial MT"/>
                <a:cs typeface="Arial MT"/>
              </a:rPr>
              <a:t>   </a:t>
            </a:r>
            <a:r>
              <a:rPr lang="en-US" sz="2400" spc="-10" dirty="0">
                <a:solidFill>
                  <a:srgbClr val="3D3D3D"/>
                </a:solidFill>
                <a:latin typeface="Arial MT"/>
                <a:cs typeface="Arial MT"/>
              </a:rPr>
              <a:t>sequence </a:t>
            </a:r>
            <a:r>
              <a:rPr lang="en-US" sz="2400" dirty="0">
                <a:solidFill>
                  <a:srgbClr val="3F3F3F"/>
                </a:solidFill>
                <a:latin typeface="Arial MT"/>
                <a:cs typeface="Arial MT"/>
              </a:rPr>
              <a:t>permutations,</a:t>
            </a:r>
            <a:r>
              <a:rPr lang="en-US" sz="2400" spc="165" dirty="0">
                <a:solidFill>
                  <a:srgbClr val="3F3F3F"/>
                </a:solidFill>
                <a:latin typeface="Arial MT"/>
                <a:cs typeface="Arial MT"/>
              </a:rPr>
              <a:t> </a:t>
            </a:r>
            <a:r>
              <a:rPr lang="en-US" sz="2400" dirty="0">
                <a:solidFill>
                  <a:srgbClr val="464646"/>
                </a:solidFill>
                <a:latin typeface="Arial MT"/>
                <a:cs typeface="Arial MT"/>
              </a:rPr>
              <a:t>making</a:t>
            </a:r>
            <a:r>
              <a:rPr lang="en-US" sz="2400" spc="70" dirty="0">
                <a:solidFill>
                  <a:srgbClr val="464646"/>
                </a:solidFill>
                <a:latin typeface="Arial MT"/>
                <a:cs typeface="Arial MT"/>
              </a:rPr>
              <a:t> </a:t>
            </a:r>
            <a:r>
              <a:rPr lang="en-US" sz="2400" dirty="0">
                <a:solidFill>
                  <a:srgbClr val="565656"/>
                </a:solidFill>
                <a:latin typeface="Arial MT"/>
                <a:cs typeface="Arial MT"/>
              </a:rPr>
              <a:t>it</a:t>
            </a:r>
            <a:r>
              <a:rPr lang="en-US" sz="2400" spc="90" dirty="0">
                <a:solidFill>
                  <a:srgbClr val="565656"/>
                </a:solidFill>
                <a:latin typeface="Arial MT"/>
                <a:cs typeface="Arial MT"/>
              </a:rPr>
              <a:t> </a:t>
            </a:r>
            <a:r>
              <a:rPr lang="en-US" sz="2400" dirty="0">
                <a:solidFill>
                  <a:srgbClr val="3F3F3F"/>
                </a:solidFill>
                <a:latin typeface="Arial MT"/>
                <a:cs typeface="Arial MT"/>
              </a:rPr>
              <a:t>the</a:t>
            </a:r>
            <a:r>
              <a:rPr lang="en-US" sz="2400" spc="-125" dirty="0">
                <a:solidFill>
                  <a:srgbClr val="3F3F3F"/>
                </a:solidFill>
                <a:latin typeface="Arial MT"/>
                <a:cs typeface="Arial MT"/>
              </a:rPr>
              <a:t> </a:t>
            </a:r>
            <a:r>
              <a:rPr lang="en-US" sz="2400" dirty="0">
                <a:solidFill>
                  <a:srgbClr val="4D4D4D"/>
                </a:solidFill>
                <a:latin typeface="Arial MT"/>
                <a:cs typeface="Arial MT"/>
              </a:rPr>
              <a:t>ultimate</a:t>
            </a:r>
            <a:r>
              <a:rPr lang="en-US" sz="2400" spc="-60" dirty="0">
                <a:solidFill>
                  <a:srgbClr val="4D4D4D"/>
                </a:solidFill>
                <a:latin typeface="Arial MT"/>
                <a:cs typeface="Arial MT"/>
              </a:rPr>
              <a:t> </a:t>
            </a:r>
            <a:r>
              <a:rPr lang="en-US" sz="2400" dirty="0">
                <a:solidFill>
                  <a:srgbClr val="4B4B4B"/>
                </a:solidFill>
                <a:latin typeface="Arial MT"/>
                <a:cs typeface="Arial MT"/>
              </a:rPr>
              <a:t>medium</a:t>
            </a:r>
            <a:r>
              <a:rPr lang="en-US" sz="2400" spc="-55" dirty="0">
                <a:solidFill>
                  <a:srgbClr val="4B4B4B"/>
                </a:solidFill>
                <a:latin typeface="Arial MT"/>
                <a:cs typeface="Arial MT"/>
              </a:rPr>
              <a:t> </a:t>
            </a:r>
            <a:r>
              <a:rPr lang="en-US" sz="2400" spc="-25" dirty="0">
                <a:solidFill>
                  <a:srgbClr val="3D3D3D"/>
                </a:solidFill>
                <a:latin typeface="Arial MT"/>
                <a:cs typeface="Arial MT"/>
              </a:rPr>
              <a:t>for </a:t>
            </a:r>
            <a:r>
              <a:rPr lang="en-US" sz="2400" spc="-10" dirty="0">
                <a:solidFill>
                  <a:srgbClr val="4F4F4F"/>
                </a:solidFill>
                <a:latin typeface="Arial MT"/>
                <a:cs typeface="Arial MT"/>
              </a:rPr>
              <a:t>highly</a:t>
            </a:r>
            <a:r>
              <a:rPr lang="en-US" sz="2400" spc="-70" dirty="0">
                <a:solidFill>
                  <a:srgbClr val="4F4F4F"/>
                </a:solidFill>
                <a:latin typeface="Arial MT"/>
                <a:cs typeface="Arial MT"/>
              </a:rPr>
              <a:t> </a:t>
            </a:r>
            <a:r>
              <a:rPr lang="en-US" sz="2400" spc="-10" dirty="0">
                <a:solidFill>
                  <a:srgbClr val="3D3D3D"/>
                </a:solidFill>
                <a:latin typeface="Arial MT"/>
                <a:cs typeface="Arial MT"/>
              </a:rPr>
              <a:t>secure</a:t>
            </a:r>
            <a:r>
              <a:rPr lang="en-US" sz="2400" spc="-155" dirty="0">
                <a:solidFill>
                  <a:srgbClr val="3D3D3D"/>
                </a:solidFill>
                <a:latin typeface="Arial MT"/>
                <a:cs typeface="Arial MT"/>
              </a:rPr>
              <a:t> </a:t>
            </a:r>
            <a:r>
              <a:rPr lang="en-US" sz="2400" dirty="0">
                <a:solidFill>
                  <a:srgbClr val="494949"/>
                </a:solidFill>
                <a:latin typeface="Arial MT"/>
                <a:cs typeface="Arial MT"/>
              </a:rPr>
              <a:t>long-</a:t>
            </a:r>
            <a:r>
              <a:rPr lang="en-US" sz="2400" spc="50" dirty="0">
                <a:solidFill>
                  <a:srgbClr val="494949"/>
                </a:solidFill>
                <a:latin typeface="Arial MT"/>
                <a:cs typeface="Arial MT"/>
              </a:rPr>
              <a:t>term</a:t>
            </a:r>
            <a:r>
              <a:rPr lang="en-US" sz="2400" spc="-90" dirty="0">
                <a:solidFill>
                  <a:srgbClr val="494949"/>
                </a:solidFill>
                <a:latin typeface="Arial MT"/>
                <a:cs typeface="Arial MT"/>
              </a:rPr>
              <a:t> </a:t>
            </a:r>
            <a:r>
              <a:rPr lang="en-US" sz="2400" dirty="0">
                <a:solidFill>
                  <a:srgbClr val="414141"/>
                </a:solidFill>
                <a:latin typeface="Arial MT"/>
                <a:cs typeface="Arial MT"/>
              </a:rPr>
              <a:t>secret</a:t>
            </a:r>
            <a:r>
              <a:rPr lang="en-US" sz="2400" spc="-50" dirty="0">
                <a:solidFill>
                  <a:srgbClr val="414141"/>
                </a:solidFill>
                <a:latin typeface="Arial MT"/>
                <a:cs typeface="Arial MT"/>
              </a:rPr>
              <a:t> </a:t>
            </a:r>
            <a:r>
              <a:rPr lang="en-US" sz="2400" spc="-10" dirty="0">
                <a:solidFill>
                  <a:srgbClr val="4B4B4B"/>
                </a:solidFill>
                <a:latin typeface="Arial MT"/>
                <a:cs typeface="Arial MT"/>
              </a:rPr>
              <a:t>storage</a:t>
            </a:r>
            <a:r>
              <a:rPr lang="en-IN" sz="2400" spc="-10" dirty="0">
                <a:solidFill>
                  <a:srgbClr val="424242"/>
                </a:solidFill>
                <a:latin typeface="Arial MT"/>
                <a:cs typeface="Arial MT"/>
              </a:rPr>
              <a:t> </a:t>
            </a:r>
            <a:endParaRPr sz="2400" dirty="0">
              <a:latin typeface="Arial MT"/>
              <a:cs typeface="Arial MT"/>
            </a:endParaRPr>
          </a:p>
        </p:txBody>
      </p:sp>
      <p:sp>
        <p:nvSpPr>
          <p:cNvPr id="17" name="object 17"/>
          <p:cNvSpPr txBox="1"/>
          <p:nvPr/>
        </p:nvSpPr>
        <p:spPr>
          <a:xfrm>
            <a:off x="7589770" y="6417732"/>
            <a:ext cx="4906010" cy="295978"/>
          </a:xfrm>
          <a:prstGeom prst="rect">
            <a:avLst/>
          </a:prstGeom>
        </p:spPr>
        <p:txBody>
          <a:bodyPr vert="horz" wrap="square" lIns="0" tIns="4445" rIns="0" bIns="0" rtlCol="0">
            <a:spAutoFit/>
          </a:bodyPr>
          <a:lstStyle/>
          <a:p>
            <a:pPr marL="12700" marR="5080" indent="6350" algn="just">
              <a:lnSpc>
                <a:spcPct val="114500"/>
              </a:lnSpc>
              <a:spcBef>
                <a:spcPts val="35"/>
              </a:spcBef>
            </a:pPr>
            <a:r>
              <a:rPr sz="1800" spc="-10" dirty="0">
                <a:solidFill>
                  <a:srgbClr val="4B4B4B"/>
                </a:solidFill>
                <a:latin typeface="Arial MT"/>
                <a:cs typeface="Arial MT"/>
              </a:rPr>
              <a:t>.</a:t>
            </a:r>
            <a:endParaRPr sz="1800" dirty="0">
              <a:latin typeface="Arial MT"/>
              <a:cs typeface="Arial MT"/>
            </a:endParaRPr>
          </a:p>
        </p:txBody>
      </p:sp>
      <p:sp>
        <p:nvSpPr>
          <p:cNvPr id="18" name="object 18"/>
          <p:cNvSpPr txBox="1"/>
          <p:nvPr/>
        </p:nvSpPr>
        <p:spPr>
          <a:xfrm>
            <a:off x="13538324" y="3091124"/>
            <a:ext cx="5789109" cy="447751"/>
          </a:xfrm>
          <a:prstGeom prst="rect">
            <a:avLst/>
          </a:prstGeom>
        </p:spPr>
        <p:txBody>
          <a:bodyPr vert="horz" wrap="square" lIns="0" tIns="5715" rIns="0" bIns="0" rtlCol="0">
            <a:spAutoFit/>
          </a:bodyPr>
          <a:lstStyle/>
          <a:p>
            <a:pPr marL="269875" marR="5080" indent="-257810">
              <a:lnSpc>
                <a:spcPts val="3710"/>
              </a:lnSpc>
              <a:spcBef>
                <a:spcPts val="45"/>
              </a:spcBef>
            </a:pPr>
            <a:r>
              <a:rPr sz="2950" spc="-55" dirty="0">
                <a:solidFill>
                  <a:srgbClr val="085D36"/>
                </a:solidFill>
                <a:latin typeface="Arial MT"/>
                <a:cs typeface="Arial MT"/>
              </a:rPr>
              <a:t>“</a:t>
            </a:r>
            <a:r>
              <a:rPr sz="2950" b="1" spc="-55" dirty="0">
                <a:solidFill>
                  <a:srgbClr val="085D36"/>
                </a:solidFill>
                <a:latin typeface="Arial MT"/>
                <a:cs typeface="Arial MT"/>
              </a:rPr>
              <a:t>Dual</a:t>
            </a:r>
            <a:r>
              <a:rPr lang="en-US" sz="2950" b="1" spc="-55" dirty="0">
                <a:solidFill>
                  <a:srgbClr val="085D36"/>
                </a:solidFill>
                <a:latin typeface="Arial MT"/>
                <a:cs typeface="Arial MT"/>
              </a:rPr>
              <a:t> </a:t>
            </a:r>
            <a:r>
              <a:rPr sz="2950" b="1" spc="-40" dirty="0">
                <a:solidFill>
                  <a:srgbClr val="085D36"/>
                </a:solidFill>
                <a:latin typeface="Arial MT"/>
                <a:cs typeface="Arial MT"/>
              </a:rPr>
              <a:t>Channel</a:t>
            </a:r>
            <a:r>
              <a:rPr lang="en-US" sz="2950" b="1" spc="-40" dirty="0">
                <a:solidFill>
                  <a:srgbClr val="085D36"/>
                </a:solidFill>
                <a:latin typeface="Arial MT"/>
                <a:cs typeface="Arial MT"/>
              </a:rPr>
              <a:t> </a:t>
            </a:r>
            <a:r>
              <a:rPr sz="2950" b="1" spc="-50" dirty="0">
                <a:solidFill>
                  <a:srgbClr val="005436"/>
                </a:solidFill>
                <a:latin typeface="Arial MT"/>
                <a:cs typeface="Arial MT"/>
              </a:rPr>
              <a:t>&amp;</a:t>
            </a:r>
            <a:r>
              <a:rPr lang="en-US" sz="2950" b="1" spc="-50" dirty="0">
                <a:solidFill>
                  <a:srgbClr val="005436"/>
                </a:solidFill>
                <a:latin typeface="Arial MT"/>
                <a:cs typeface="Arial MT"/>
              </a:rPr>
              <a:t> </a:t>
            </a:r>
            <a:r>
              <a:rPr sz="2950" b="1" spc="-10" dirty="0">
                <a:solidFill>
                  <a:srgbClr val="08422D"/>
                </a:solidFill>
                <a:latin typeface="Arial MT"/>
                <a:cs typeface="Arial MT"/>
              </a:rPr>
              <a:t>Steganalysis“</a:t>
            </a:r>
            <a:endParaRPr sz="2950" b="1" dirty="0">
              <a:latin typeface="Arial MT"/>
              <a:cs typeface="Arial MT"/>
            </a:endParaRPr>
          </a:p>
        </p:txBody>
      </p:sp>
      <p:sp>
        <p:nvSpPr>
          <p:cNvPr id="28" name="TextBox 27">
            <a:extLst>
              <a:ext uri="{FF2B5EF4-FFF2-40B4-BE49-F238E27FC236}">
                <a16:creationId xmlns:a16="http://schemas.microsoft.com/office/drawing/2014/main" id="{6CC9E04C-BDCA-3C47-995F-D2CE00AC1B1A}"/>
              </a:ext>
            </a:extLst>
          </p:cNvPr>
          <p:cNvSpPr txBox="1"/>
          <p:nvPr/>
        </p:nvSpPr>
        <p:spPr>
          <a:xfrm>
            <a:off x="13938250" y="5459646"/>
            <a:ext cx="4906011" cy="4302588"/>
          </a:xfrm>
          <a:prstGeom prst="rect">
            <a:avLst/>
          </a:prstGeom>
          <a:noFill/>
        </p:spPr>
        <p:txBody>
          <a:bodyPr wrap="square">
            <a:spAutoFit/>
          </a:bodyPr>
          <a:lstStyle/>
          <a:p>
            <a:pPr marL="18415" marR="5080" indent="-6350" algn="just">
              <a:lnSpc>
                <a:spcPct val="117400"/>
              </a:lnSpc>
              <a:spcBef>
                <a:spcPts val="95"/>
              </a:spcBef>
              <a:tabLst>
                <a:tab pos="570230" algn="l"/>
                <a:tab pos="944880" algn="l"/>
                <a:tab pos="1505585" algn="l"/>
              </a:tabLst>
            </a:pPr>
            <a:r>
              <a:rPr lang="en-US" sz="2400" spc="-20" dirty="0">
                <a:solidFill>
                  <a:srgbClr val="4D4D4D"/>
                </a:solidFill>
                <a:latin typeface="Arial MT"/>
                <a:cs typeface="Arial MT"/>
              </a:rPr>
              <a:t>This</a:t>
            </a:r>
            <a:r>
              <a:rPr lang="en-US" sz="2400" dirty="0">
                <a:solidFill>
                  <a:srgbClr val="4D4D4D"/>
                </a:solidFill>
                <a:latin typeface="Arial MT"/>
                <a:cs typeface="Arial MT"/>
              </a:rPr>
              <a:t>	</a:t>
            </a:r>
            <a:r>
              <a:rPr lang="en-US" sz="2400" spc="-10" dirty="0">
                <a:solidFill>
                  <a:srgbClr val="444444"/>
                </a:solidFill>
                <a:latin typeface="Arial MT"/>
                <a:cs typeface="Arial MT"/>
              </a:rPr>
              <a:t>justifies </a:t>
            </a:r>
            <a:r>
              <a:rPr lang="en-US" sz="2400" spc="-25" dirty="0">
                <a:solidFill>
                  <a:srgbClr val="494949"/>
                </a:solidFill>
                <a:latin typeface="Arial MT"/>
                <a:cs typeface="Arial MT"/>
              </a:rPr>
              <a:t>the </a:t>
            </a:r>
            <a:r>
              <a:rPr lang="en-US" sz="2400" spc="-10" dirty="0">
                <a:solidFill>
                  <a:srgbClr val="414141"/>
                </a:solidFill>
                <a:latin typeface="Arial MT"/>
                <a:cs typeface="Arial MT"/>
              </a:rPr>
              <a:t>system </a:t>
            </a:r>
            <a:r>
              <a:rPr lang="en-US" sz="2400" spc="-10" dirty="0">
                <a:solidFill>
                  <a:srgbClr val="444444"/>
                </a:solidFill>
                <a:latin typeface="Arial MT"/>
                <a:cs typeface="Arial MT"/>
              </a:rPr>
              <a:t>splits c</a:t>
            </a:r>
            <a:r>
              <a:rPr lang="en-IN" sz="2400" dirty="0">
                <a:solidFill>
                  <a:srgbClr val="444444"/>
                </a:solidFill>
                <a:latin typeface="Arial MT"/>
                <a:cs typeface="Arial MT"/>
              </a:rPr>
              <a:t>o-</a:t>
            </a:r>
            <a:r>
              <a:rPr lang="en-IN" sz="2400" spc="-10" dirty="0">
                <a:solidFill>
                  <a:srgbClr val="444444"/>
                </a:solidFill>
                <a:latin typeface="Arial MT"/>
                <a:cs typeface="Arial MT"/>
              </a:rPr>
              <a:t>design </a:t>
            </a:r>
            <a:r>
              <a:rPr lang="en-IN" sz="2400" spc="-10" dirty="0" err="1">
                <a:solidFill>
                  <a:srgbClr val="464646"/>
                </a:solidFill>
                <a:latin typeface="Arial MT"/>
                <a:cs typeface="Arial MT"/>
              </a:rPr>
              <a:t>framework.</a:t>
            </a:r>
            <a:r>
              <a:rPr lang="en-IN" sz="2400" spc="-60" dirty="0" err="1">
                <a:solidFill>
                  <a:srgbClr val="444444"/>
                </a:solidFill>
                <a:latin typeface="Arial MT"/>
                <a:cs typeface="Arial MT"/>
              </a:rPr>
              <a:t>The</a:t>
            </a:r>
            <a:r>
              <a:rPr lang="en-IN" sz="2400" spc="-60" dirty="0">
                <a:solidFill>
                  <a:srgbClr val="444444"/>
                </a:solidFill>
                <a:latin typeface="Arial MT"/>
                <a:cs typeface="Arial MT"/>
              </a:rPr>
              <a:t> </a:t>
            </a:r>
            <a:r>
              <a:rPr lang="en-US" sz="2400" spc="-20" dirty="0">
                <a:solidFill>
                  <a:srgbClr val="494949"/>
                </a:solidFill>
                <a:latin typeface="Arial MT"/>
                <a:cs typeface="Arial MT"/>
              </a:rPr>
              <a:t>data </a:t>
            </a:r>
            <a:r>
              <a:rPr lang="en-US" sz="2400" spc="-10" dirty="0">
                <a:solidFill>
                  <a:srgbClr val="444444"/>
                </a:solidFill>
                <a:latin typeface="Arial MT"/>
                <a:cs typeface="Arial MT"/>
              </a:rPr>
              <a:t>across d</a:t>
            </a:r>
            <a:r>
              <a:rPr lang="en-US" sz="2400" spc="-20" dirty="0">
                <a:solidFill>
                  <a:srgbClr val="484848"/>
                </a:solidFill>
                <a:latin typeface="Arial MT"/>
                <a:cs typeface="Arial MT"/>
              </a:rPr>
              <a:t>ual </a:t>
            </a:r>
            <a:r>
              <a:rPr lang="en-US" sz="2400" spc="-10" dirty="0">
                <a:solidFill>
                  <a:srgbClr val="494949"/>
                </a:solidFill>
                <a:latin typeface="Arial MT"/>
                <a:cs typeface="Arial MT"/>
              </a:rPr>
              <a:t>biological pathways (</a:t>
            </a:r>
            <a:r>
              <a:rPr lang="en-US" sz="2400" spc="-10" dirty="0" err="1">
                <a:solidFill>
                  <a:srgbClr val="494949"/>
                </a:solidFill>
                <a:latin typeface="Arial MT"/>
                <a:cs typeface="Arial MT"/>
              </a:rPr>
              <a:t>e.g.</a:t>
            </a:r>
            <a:r>
              <a:rPr lang="en-US" sz="2400" spc="80" dirty="0" err="1">
                <a:solidFill>
                  <a:srgbClr val="424242"/>
                </a:solidFill>
                <a:latin typeface="Arial MT"/>
                <a:cs typeface="Arial MT"/>
              </a:rPr>
              <a:t>coding</a:t>
            </a:r>
            <a:r>
              <a:rPr lang="en-US" sz="2400" spc="80" dirty="0">
                <a:solidFill>
                  <a:srgbClr val="424242"/>
                </a:solidFill>
                <a:latin typeface="Arial MT"/>
                <a:cs typeface="Arial MT"/>
              </a:rPr>
              <a:t>/non-coding</a:t>
            </a:r>
            <a:r>
              <a:rPr lang="en-US" sz="2400" spc="135" dirty="0">
                <a:solidFill>
                  <a:srgbClr val="424242"/>
                </a:solidFill>
                <a:latin typeface="Arial MT"/>
                <a:cs typeface="Arial MT"/>
              </a:rPr>
              <a:t> </a:t>
            </a:r>
            <a:r>
              <a:rPr lang="en-US" sz="2400" spc="-10" dirty="0">
                <a:solidFill>
                  <a:srgbClr val="3D3D3D"/>
                </a:solidFill>
                <a:latin typeface="Arial MT"/>
                <a:cs typeface="Arial MT"/>
              </a:rPr>
              <a:t>regions </a:t>
            </a:r>
            <a:r>
              <a:rPr lang="en-US" sz="2400" dirty="0">
                <a:solidFill>
                  <a:srgbClr val="444444"/>
                </a:solidFill>
                <a:latin typeface="Arial MT"/>
                <a:cs typeface="Arial MT"/>
              </a:rPr>
              <a:t>and</a:t>
            </a:r>
            <a:r>
              <a:rPr lang="en-US" sz="2400" spc="80" dirty="0">
                <a:solidFill>
                  <a:srgbClr val="444444"/>
                </a:solidFill>
                <a:latin typeface="Arial MT"/>
                <a:cs typeface="Arial MT"/>
              </a:rPr>
              <a:t> </a:t>
            </a:r>
            <a:r>
              <a:rPr lang="en-US" sz="2400" dirty="0">
                <a:solidFill>
                  <a:srgbClr val="484848"/>
                </a:solidFill>
                <a:latin typeface="Arial MT"/>
                <a:cs typeface="Arial MT"/>
              </a:rPr>
              <a:t>utilizes</a:t>
            </a:r>
            <a:r>
              <a:rPr lang="en-US" sz="2400" spc="285" dirty="0">
                <a:solidFill>
                  <a:srgbClr val="484848"/>
                </a:solidFill>
                <a:latin typeface="Arial MT"/>
                <a:cs typeface="Arial MT"/>
              </a:rPr>
              <a:t> </a:t>
            </a:r>
            <a:r>
              <a:rPr lang="en-US" sz="2400" dirty="0">
                <a:solidFill>
                  <a:srgbClr val="4F4F4F"/>
                </a:solidFill>
                <a:latin typeface="Arial MT"/>
                <a:cs typeface="Arial MT"/>
              </a:rPr>
              <a:t>deep</a:t>
            </a:r>
            <a:r>
              <a:rPr lang="en-US" sz="2400" spc="229" dirty="0">
                <a:solidFill>
                  <a:srgbClr val="4F4F4F"/>
                </a:solidFill>
                <a:latin typeface="Arial MT"/>
                <a:cs typeface="Arial MT"/>
              </a:rPr>
              <a:t> </a:t>
            </a:r>
            <a:r>
              <a:rPr lang="en-US" sz="2400" dirty="0">
                <a:solidFill>
                  <a:srgbClr val="444444"/>
                </a:solidFill>
                <a:latin typeface="Arial MT"/>
                <a:cs typeface="Arial MT"/>
              </a:rPr>
              <a:t>neural</a:t>
            </a:r>
            <a:r>
              <a:rPr lang="en-US" sz="2400" spc="195" dirty="0">
                <a:solidFill>
                  <a:srgbClr val="444444"/>
                </a:solidFill>
                <a:latin typeface="Arial MT"/>
                <a:cs typeface="Arial MT"/>
              </a:rPr>
              <a:t> </a:t>
            </a:r>
            <a:r>
              <a:rPr lang="en-US" sz="2400" dirty="0">
                <a:solidFill>
                  <a:srgbClr val="4D4D4D"/>
                </a:solidFill>
                <a:latin typeface="Arial MT"/>
                <a:cs typeface="Arial MT"/>
              </a:rPr>
              <a:t>networks</a:t>
            </a:r>
            <a:r>
              <a:rPr lang="en-US" sz="2400" spc="235" dirty="0">
                <a:solidFill>
                  <a:srgbClr val="4D4D4D"/>
                </a:solidFill>
                <a:latin typeface="Arial MT"/>
                <a:cs typeface="Arial MT"/>
              </a:rPr>
              <a:t> </a:t>
            </a:r>
            <a:r>
              <a:rPr lang="en-US" sz="2400" spc="-35" dirty="0">
                <a:solidFill>
                  <a:srgbClr val="444444"/>
                </a:solidFill>
                <a:latin typeface="Arial MT"/>
                <a:cs typeface="Arial MT"/>
              </a:rPr>
              <a:t>(RNNs)</a:t>
            </a:r>
            <a:r>
              <a:rPr lang="en-US" sz="2400" spc="285" dirty="0">
                <a:solidFill>
                  <a:srgbClr val="444444"/>
                </a:solidFill>
                <a:latin typeface="Arial MT"/>
                <a:cs typeface="Arial MT"/>
              </a:rPr>
              <a:t> </a:t>
            </a:r>
            <a:r>
              <a:rPr lang="en-US" sz="2400" dirty="0">
                <a:solidFill>
                  <a:srgbClr val="4D4D4D"/>
                </a:solidFill>
                <a:latin typeface="Arial MT"/>
                <a:cs typeface="Arial MT"/>
              </a:rPr>
              <a:t>as</a:t>
            </a:r>
            <a:r>
              <a:rPr lang="en-US" sz="2400" spc="185" dirty="0">
                <a:solidFill>
                  <a:srgbClr val="4D4D4D"/>
                </a:solidFill>
                <a:latin typeface="Arial MT"/>
                <a:cs typeface="Arial MT"/>
              </a:rPr>
              <a:t> </a:t>
            </a:r>
            <a:r>
              <a:rPr lang="en-US" sz="2400" spc="-50" dirty="0">
                <a:solidFill>
                  <a:srgbClr val="4B4B4B"/>
                </a:solidFill>
                <a:latin typeface="Arial MT"/>
                <a:cs typeface="Arial MT"/>
              </a:rPr>
              <a:t>a </a:t>
            </a:r>
            <a:r>
              <a:rPr lang="en-US" sz="2400" dirty="0">
                <a:solidFill>
                  <a:srgbClr val="444444"/>
                </a:solidFill>
                <a:latin typeface="Arial MT"/>
                <a:cs typeface="Arial MT"/>
              </a:rPr>
              <a:t>steganalysis</a:t>
            </a:r>
            <a:r>
              <a:rPr lang="en-US" sz="2400" spc="125" dirty="0">
                <a:solidFill>
                  <a:srgbClr val="444444"/>
                </a:solidFill>
                <a:latin typeface="Arial MT"/>
                <a:cs typeface="Arial MT"/>
              </a:rPr>
              <a:t>  </a:t>
            </a:r>
            <a:r>
              <a:rPr lang="en-US" sz="2400" dirty="0">
                <a:solidFill>
                  <a:srgbClr val="414141"/>
                </a:solidFill>
                <a:latin typeface="Arial MT"/>
                <a:cs typeface="Arial MT"/>
              </a:rPr>
              <a:t>model</a:t>
            </a:r>
            <a:r>
              <a:rPr lang="en-US" sz="2400" spc="40" dirty="0">
                <a:solidFill>
                  <a:srgbClr val="414141"/>
                </a:solidFill>
                <a:latin typeface="Arial MT"/>
                <a:cs typeface="Arial MT"/>
              </a:rPr>
              <a:t>  </a:t>
            </a:r>
            <a:r>
              <a:rPr lang="en-US" sz="2400" dirty="0">
                <a:solidFill>
                  <a:srgbClr val="3D3D3D"/>
                </a:solidFill>
                <a:latin typeface="Arial MT"/>
                <a:cs typeface="Arial MT"/>
              </a:rPr>
              <a:t>to</a:t>
            </a:r>
            <a:r>
              <a:rPr lang="en-US" sz="2400" spc="120" dirty="0">
                <a:solidFill>
                  <a:srgbClr val="3D3D3D"/>
                </a:solidFill>
                <a:latin typeface="Arial MT"/>
                <a:cs typeface="Arial MT"/>
              </a:rPr>
              <a:t>  </a:t>
            </a:r>
            <a:r>
              <a:rPr lang="en-US" sz="2400" dirty="0">
                <a:solidFill>
                  <a:srgbClr val="4B4B4B"/>
                </a:solidFill>
                <a:latin typeface="Arial MT"/>
                <a:cs typeface="Arial MT"/>
              </a:rPr>
              <a:t>act</a:t>
            </a:r>
            <a:r>
              <a:rPr lang="en-US" sz="2400" spc="65" dirty="0">
                <a:solidFill>
                  <a:srgbClr val="4B4B4B"/>
                </a:solidFill>
                <a:latin typeface="Arial MT"/>
                <a:cs typeface="Arial MT"/>
              </a:rPr>
              <a:t>  </a:t>
            </a:r>
            <a:r>
              <a:rPr lang="en-US" sz="2400" dirty="0">
                <a:solidFill>
                  <a:srgbClr val="444444"/>
                </a:solidFill>
                <a:latin typeface="Arial MT"/>
                <a:cs typeface="Arial MT"/>
              </a:rPr>
              <a:t>as</a:t>
            </a:r>
            <a:r>
              <a:rPr lang="en-US" sz="2400" spc="60" dirty="0">
                <a:solidFill>
                  <a:srgbClr val="444444"/>
                </a:solidFill>
                <a:latin typeface="Arial MT"/>
                <a:cs typeface="Arial MT"/>
              </a:rPr>
              <a:t>  </a:t>
            </a:r>
            <a:r>
              <a:rPr lang="en-US" sz="2400" dirty="0">
                <a:solidFill>
                  <a:srgbClr val="484848"/>
                </a:solidFill>
                <a:latin typeface="Arial MT"/>
                <a:cs typeface="Arial MT"/>
              </a:rPr>
              <a:t>an</a:t>
            </a:r>
            <a:r>
              <a:rPr lang="en-US" sz="2400" spc="35" dirty="0">
                <a:solidFill>
                  <a:srgbClr val="484848"/>
                </a:solidFill>
                <a:latin typeface="Arial MT"/>
                <a:cs typeface="Arial MT"/>
              </a:rPr>
              <a:t>  </a:t>
            </a:r>
            <a:r>
              <a:rPr lang="en-US" sz="2400" spc="-10" dirty="0">
                <a:solidFill>
                  <a:srgbClr val="3F3F3F"/>
                </a:solidFill>
                <a:latin typeface="Arial MT"/>
                <a:cs typeface="Arial MT"/>
              </a:rPr>
              <a:t>automated </a:t>
            </a:r>
            <a:r>
              <a:rPr lang="en-US" sz="2400" dirty="0">
                <a:solidFill>
                  <a:srgbClr val="484848"/>
                </a:solidFill>
                <a:latin typeface="Arial MT"/>
                <a:cs typeface="Arial MT"/>
              </a:rPr>
              <a:t>security</a:t>
            </a:r>
            <a:r>
              <a:rPr lang="en-US" sz="2400" spc="-170" dirty="0">
                <a:solidFill>
                  <a:srgbClr val="484848"/>
                </a:solidFill>
                <a:latin typeface="Arial MT"/>
                <a:cs typeface="Arial MT"/>
              </a:rPr>
              <a:t> </a:t>
            </a:r>
            <a:r>
              <a:rPr lang="en-US" sz="2400" spc="-10" dirty="0">
                <a:solidFill>
                  <a:srgbClr val="494949"/>
                </a:solidFill>
                <a:latin typeface="Arial MT"/>
                <a:cs typeface="Arial MT"/>
              </a:rPr>
              <a:t>auditor.</a:t>
            </a:r>
            <a:endParaRPr lang="en-US" sz="2400" dirty="0">
              <a:latin typeface="Arial MT"/>
              <a:cs typeface="Arial MT"/>
            </a:endParaRPr>
          </a:p>
          <a:p>
            <a:pPr marL="18415" marR="5080" indent="-6350" algn="just">
              <a:lnSpc>
                <a:spcPct val="117400"/>
              </a:lnSpc>
              <a:spcBef>
                <a:spcPts val="95"/>
              </a:spcBef>
              <a:tabLst>
                <a:tab pos="570230" algn="l"/>
                <a:tab pos="944880" algn="l"/>
                <a:tab pos="1505585" algn="l"/>
              </a:tabLst>
            </a:pPr>
            <a:endParaRPr lang="en-IN" sz="2400" dirty="0">
              <a:latin typeface="Arial MT"/>
              <a:cs typeface="Arial MT"/>
            </a:endParaRPr>
          </a:p>
          <a:p>
            <a:pPr marL="18415" marR="5080" indent="-6350">
              <a:lnSpc>
                <a:spcPct val="117400"/>
              </a:lnSpc>
              <a:spcBef>
                <a:spcPts val="95"/>
              </a:spcBef>
              <a:tabLst>
                <a:tab pos="570230" algn="l"/>
                <a:tab pos="944880" algn="l"/>
                <a:tab pos="1505585" algn="l"/>
              </a:tabLst>
            </a:pPr>
            <a:endParaRPr lang="en-US" dirty="0">
              <a:latin typeface="Arial MT"/>
              <a:cs typeface="Arial MT"/>
            </a:endParaRPr>
          </a:p>
        </p:txBody>
      </p:sp>
      <p:sp>
        <p:nvSpPr>
          <p:cNvPr id="14" name="TextBox 13">
            <a:extLst>
              <a:ext uri="{FF2B5EF4-FFF2-40B4-BE49-F238E27FC236}">
                <a16:creationId xmlns:a16="http://schemas.microsoft.com/office/drawing/2014/main" id="{98CF681E-984B-2146-218E-A18414EA5EFF}"/>
              </a:ext>
            </a:extLst>
          </p:cNvPr>
          <p:cNvSpPr txBox="1"/>
          <p:nvPr/>
        </p:nvSpPr>
        <p:spPr>
          <a:xfrm>
            <a:off x="1593850" y="3825876"/>
            <a:ext cx="4568824" cy="2917658"/>
          </a:xfrm>
          <a:prstGeom prst="rect">
            <a:avLst/>
          </a:prstGeom>
          <a:noFill/>
        </p:spPr>
        <p:txBody>
          <a:bodyPr wrap="square" rtlCol="0">
            <a:spAutoFit/>
          </a:bodyPr>
          <a:lstStyle/>
          <a:p>
            <a:pPr marL="17780" marR="5080" indent="-5715" algn="just">
              <a:lnSpc>
                <a:spcPct val="115900"/>
              </a:lnSpc>
              <a:spcBef>
                <a:spcPts val="5"/>
              </a:spcBef>
            </a:pPr>
            <a:r>
              <a:rPr lang="en-US" sz="2000" dirty="0">
                <a:solidFill>
                  <a:srgbClr val="4D4D4D"/>
                </a:solidFill>
                <a:latin typeface="Arial MT"/>
                <a:cs typeface="Arial MT"/>
              </a:rPr>
              <a:t>The</a:t>
            </a:r>
            <a:r>
              <a:rPr lang="en-US" sz="2000" spc="300" dirty="0">
                <a:solidFill>
                  <a:srgbClr val="4D4D4D"/>
                </a:solidFill>
                <a:latin typeface="Arial MT"/>
                <a:cs typeface="Arial MT"/>
              </a:rPr>
              <a:t> </a:t>
            </a:r>
            <a:r>
              <a:rPr lang="en-US" sz="2000" dirty="0">
                <a:solidFill>
                  <a:srgbClr val="494949"/>
                </a:solidFill>
                <a:latin typeface="Arial MT"/>
                <a:cs typeface="Arial MT"/>
              </a:rPr>
              <a:t>system</a:t>
            </a:r>
            <a:r>
              <a:rPr lang="en-US" sz="2000" spc="380" dirty="0">
                <a:solidFill>
                  <a:srgbClr val="494949"/>
                </a:solidFill>
                <a:latin typeface="Arial MT"/>
                <a:cs typeface="Arial MT"/>
              </a:rPr>
              <a:t> </a:t>
            </a:r>
            <a:r>
              <a:rPr lang="en-US" sz="2000" dirty="0">
                <a:solidFill>
                  <a:srgbClr val="3F3F3F"/>
                </a:solidFill>
                <a:latin typeface="Arial MT"/>
                <a:cs typeface="Arial MT"/>
              </a:rPr>
              <a:t>evaluates</a:t>
            </a:r>
            <a:r>
              <a:rPr lang="en-US" sz="2000" spc="430" dirty="0">
                <a:solidFill>
                  <a:srgbClr val="3F3F3F"/>
                </a:solidFill>
                <a:latin typeface="Arial MT"/>
                <a:cs typeface="Arial MT"/>
              </a:rPr>
              <a:t> </a:t>
            </a:r>
            <a:r>
              <a:rPr lang="en-IN" sz="2000" spc="430" dirty="0">
                <a:solidFill>
                  <a:srgbClr val="3F3F3F"/>
                </a:solidFill>
                <a:latin typeface="Arial MT"/>
                <a:cs typeface="Arial MT"/>
              </a:rPr>
              <a:t>the</a:t>
            </a:r>
            <a:r>
              <a:rPr lang="en-US" sz="2000" spc="254" dirty="0">
                <a:solidFill>
                  <a:srgbClr val="DDF4FF"/>
                </a:solidFill>
                <a:latin typeface="Arial MT"/>
                <a:cs typeface="Arial MT"/>
              </a:rPr>
              <a:t> </a:t>
            </a:r>
            <a:r>
              <a:rPr lang="en-US" sz="2000" dirty="0">
                <a:solidFill>
                  <a:srgbClr val="414141"/>
                </a:solidFill>
                <a:latin typeface="Arial MT"/>
                <a:cs typeface="Arial MT"/>
              </a:rPr>
              <a:t>exact</a:t>
            </a:r>
            <a:r>
              <a:rPr lang="en-US" sz="2000" spc="434" dirty="0">
                <a:solidFill>
                  <a:srgbClr val="414141"/>
                </a:solidFill>
                <a:latin typeface="Arial MT"/>
                <a:cs typeface="Arial MT"/>
              </a:rPr>
              <a:t> </a:t>
            </a:r>
            <a:r>
              <a:rPr lang="en-US" sz="2000" dirty="0">
                <a:solidFill>
                  <a:srgbClr val="424242"/>
                </a:solidFill>
                <a:latin typeface="Arial MT"/>
                <a:cs typeface="Arial MT"/>
              </a:rPr>
              <a:t>probability</a:t>
            </a:r>
            <a:r>
              <a:rPr lang="en-US" sz="2000" spc="400" dirty="0">
                <a:solidFill>
                  <a:srgbClr val="424242"/>
                </a:solidFill>
                <a:latin typeface="Arial MT"/>
                <a:cs typeface="Arial MT"/>
              </a:rPr>
              <a:t> </a:t>
            </a:r>
            <a:r>
              <a:rPr lang="en-US" sz="2000" spc="35" dirty="0">
                <a:solidFill>
                  <a:srgbClr val="494949"/>
                </a:solidFill>
                <a:latin typeface="Arial MT"/>
                <a:cs typeface="Arial MT"/>
              </a:rPr>
              <a:t>of </a:t>
            </a:r>
            <a:r>
              <a:rPr lang="en-US" sz="2000" dirty="0">
                <a:solidFill>
                  <a:srgbClr val="494949"/>
                </a:solidFill>
                <a:latin typeface="Arial MT"/>
                <a:cs typeface="Arial MT"/>
              </a:rPr>
              <a:t>detection </a:t>
            </a:r>
            <a:r>
              <a:rPr lang="en-US" sz="2000" dirty="0">
                <a:solidFill>
                  <a:srgbClr val="444444"/>
                </a:solidFill>
                <a:latin typeface="Arial MT"/>
                <a:cs typeface="Arial MT"/>
              </a:rPr>
              <a:t>under </a:t>
            </a:r>
            <a:r>
              <a:rPr lang="en-US" sz="2000" dirty="0">
                <a:solidFill>
                  <a:srgbClr val="484848"/>
                </a:solidFill>
                <a:latin typeface="Arial MT"/>
                <a:cs typeface="Arial MT"/>
              </a:rPr>
              <a:t>modern statistical </a:t>
            </a:r>
            <a:r>
              <a:rPr lang="en-US" sz="2000" dirty="0">
                <a:solidFill>
                  <a:srgbClr val="505050"/>
                </a:solidFill>
                <a:latin typeface="Arial MT"/>
                <a:cs typeface="Arial MT"/>
              </a:rPr>
              <a:t>and </a:t>
            </a:r>
            <a:r>
              <a:rPr lang="en-US" sz="2000" spc="50" dirty="0">
                <a:solidFill>
                  <a:srgbClr val="484848"/>
                </a:solidFill>
                <a:latin typeface="Arial MT"/>
                <a:cs typeface="Arial MT"/>
              </a:rPr>
              <a:t>deep-</a:t>
            </a:r>
            <a:r>
              <a:rPr lang="en-US" sz="2000" dirty="0">
                <a:solidFill>
                  <a:srgbClr val="4D4D4D"/>
                </a:solidFill>
                <a:latin typeface="Arial MT"/>
                <a:cs typeface="Arial MT"/>
              </a:rPr>
              <a:t>learning</a:t>
            </a:r>
            <a:r>
              <a:rPr lang="en-US" sz="2000" spc="245" dirty="0">
                <a:solidFill>
                  <a:srgbClr val="4D4D4D"/>
                </a:solidFill>
                <a:latin typeface="Arial MT"/>
                <a:cs typeface="Arial MT"/>
              </a:rPr>
              <a:t>  </a:t>
            </a:r>
            <a:r>
              <a:rPr lang="en-US" sz="2000" dirty="0">
                <a:solidFill>
                  <a:srgbClr val="4D4D4D"/>
                </a:solidFill>
                <a:latin typeface="Arial MT"/>
                <a:cs typeface="Arial MT"/>
              </a:rPr>
              <a:t>threat</a:t>
            </a:r>
            <a:r>
              <a:rPr lang="en-US" sz="2000" spc="200" dirty="0">
                <a:solidFill>
                  <a:srgbClr val="4D4D4D"/>
                </a:solidFill>
                <a:latin typeface="Arial MT"/>
                <a:cs typeface="Arial MT"/>
              </a:rPr>
              <a:t>  </a:t>
            </a:r>
            <a:r>
              <a:rPr lang="en-US" sz="2000" dirty="0">
                <a:solidFill>
                  <a:srgbClr val="424242"/>
                </a:solidFill>
                <a:latin typeface="Arial MT"/>
                <a:cs typeface="Arial MT"/>
              </a:rPr>
              <a:t>vectors.</a:t>
            </a:r>
            <a:r>
              <a:rPr lang="en-US" sz="2000" dirty="0">
                <a:solidFill>
                  <a:srgbClr val="4B4B4B"/>
                </a:solidFill>
                <a:latin typeface="Arial MT"/>
                <a:cs typeface="Arial MT"/>
              </a:rPr>
              <a:t> By</a:t>
            </a:r>
            <a:r>
              <a:rPr lang="en-US" sz="2000" spc="215" dirty="0">
                <a:solidFill>
                  <a:srgbClr val="4B4B4B"/>
                </a:solidFill>
                <a:latin typeface="Arial MT"/>
                <a:cs typeface="Arial MT"/>
              </a:rPr>
              <a:t> </a:t>
            </a:r>
            <a:r>
              <a:rPr lang="en-US" sz="2000" dirty="0">
                <a:solidFill>
                  <a:srgbClr val="444444"/>
                </a:solidFill>
                <a:latin typeface="Arial MT"/>
                <a:cs typeface="Arial MT"/>
              </a:rPr>
              <a:t>implementing</a:t>
            </a:r>
            <a:r>
              <a:rPr lang="en-US" sz="2000" spc="240" dirty="0">
                <a:solidFill>
                  <a:srgbClr val="444444"/>
                </a:solidFill>
                <a:latin typeface="Arial MT"/>
                <a:cs typeface="Arial MT"/>
              </a:rPr>
              <a:t> </a:t>
            </a:r>
            <a:r>
              <a:rPr lang="en-US" sz="2000" spc="-50" dirty="0">
                <a:solidFill>
                  <a:srgbClr val="4F4F4F"/>
                </a:solidFill>
                <a:latin typeface="Arial MT"/>
                <a:cs typeface="Arial MT"/>
              </a:rPr>
              <a:t>a </a:t>
            </a:r>
            <a:r>
              <a:rPr lang="en-US" sz="2000" dirty="0">
                <a:solidFill>
                  <a:srgbClr val="464646"/>
                </a:solidFill>
                <a:latin typeface="Arial MT"/>
                <a:cs typeface="Arial MT"/>
              </a:rPr>
              <a:t>standardized</a:t>
            </a:r>
            <a:r>
              <a:rPr lang="en-US" sz="2000" spc="105" dirty="0">
                <a:solidFill>
                  <a:srgbClr val="464646"/>
                </a:solidFill>
                <a:latin typeface="Arial MT"/>
                <a:cs typeface="Arial MT"/>
              </a:rPr>
              <a:t> </a:t>
            </a:r>
            <a:r>
              <a:rPr lang="en-US" sz="2000" dirty="0">
                <a:solidFill>
                  <a:srgbClr val="494949"/>
                </a:solidFill>
                <a:latin typeface="Arial MT"/>
                <a:cs typeface="Arial MT"/>
              </a:rPr>
              <a:t>framework,</a:t>
            </a:r>
            <a:r>
              <a:rPr lang="en-US" sz="2000" spc="95" dirty="0">
                <a:solidFill>
                  <a:srgbClr val="494949"/>
                </a:solidFill>
                <a:latin typeface="Arial MT"/>
                <a:cs typeface="Arial MT"/>
              </a:rPr>
              <a:t> </a:t>
            </a:r>
            <a:r>
              <a:rPr lang="en-US" sz="2000" dirty="0">
                <a:solidFill>
                  <a:srgbClr val="565656"/>
                </a:solidFill>
                <a:latin typeface="Arial MT"/>
                <a:cs typeface="Arial MT"/>
              </a:rPr>
              <a:t>we</a:t>
            </a:r>
            <a:r>
              <a:rPr lang="en-US" sz="2000" spc="-85" dirty="0">
                <a:solidFill>
                  <a:srgbClr val="565656"/>
                </a:solidFill>
                <a:latin typeface="Arial MT"/>
                <a:cs typeface="Arial MT"/>
              </a:rPr>
              <a:t> </a:t>
            </a:r>
            <a:r>
              <a:rPr lang="en-US" sz="2000" dirty="0">
                <a:solidFill>
                  <a:srgbClr val="494949"/>
                </a:solidFill>
                <a:latin typeface="Arial MT"/>
                <a:cs typeface="Arial MT"/>
              </a:rPr>
              <a:t>quantify</a:t>
            </a:r>
            <a:r>
              <a:rPr lang="en-US" sz="2000" spc="105" dirty="0">
                <a:solidFill>
                  <a:srgbClr val="494949"/>
                </a:solidFill>
                <a:latin typeface="Arial MT"/>
                <a:cs typeface="Arial MT"/>
              </a:rPr>
              <a:t> </a:t>
            </a:r>
            <a:r>
              <a:rPr lang="en-US" sz="2000" dirty="0">
                <a:solidFill>
                  <a:schemeClr val="tx1">
                    <a:lumMod val="85000"/>
                    <a:lumOff val="15000"/>
                  </a:schemeClr>
                </a:solidFill>
                <a:latin typeface="Arial MT"/>
                <a:cs typeface="Arial MT"/>
              </a:rPr>
              <a:t>the</a:t>
            </a:r>
            <a:r>
              <a:rPr lang="en-US" sz="2000" spc="-125" dirty="0">
                <a:solidFill>
                  <a:srgbClr val="D1D1D1"/>
                </a:solidFill>
                <a:latin typeface="Arial MT"/>
                <a:cs typeface="Arial MT"/>
              </a:rPr>
              <a:t> </a:t>
            </a:r>
            <a:r>
              <a:rPr lang="en-US" sz="2000" spc="-10" dirty="0">
                <a:solidFill>
                  <a:srgbClr val="525252"/>
                </a:solidFill>
                <a:latin typeface="Arial MT"/>
                <a:cs typeface="Arial MT"/>
              </a:rPr>
              <a:t>stealth </a:t>
            </a:r>
            <a:r>
              <a:rPr lang="en-US" sz="2000" dirty="0">
                <a:solidFill>
                  <a:srgbClr val="424242"/>
                </a:solidFill>
                <a:latin typeface="Arial MT"/>
                <a:cs typeface="Arial MT"/>
              </a:rPr>
              <a:t>quality</a:t>
            </a:r>
            <a:r>
              <a:rPr lang="en-US" sz="2000" spc="195" dirty="0">
                <a:solidFill>
                  <a:srgbClr val="424242"/>
                </a:solidFill>
                <a:latin typeface="Arial MT"/>
                <a:cs typeface="Arial MT"/>
              </a:rPr>
              <a:t>  </a:t>
            </a:r>
            <a:r>
              <a:rPr lang="en-US" sz="2000" spc="65" dirty="0">
                <a:solidFill>
                  <a:srgbClr val="3D3D3D"/>
                </a:solidFill>
                <a:latin typeface="Arial MT"/>
                <a:cs typeface="Arial MT"/>
              </a:rPr>
              <a:t>of</a:t>
            </a:r>
            <a:r>
              <a:rPr lang="en-US" sz="2000" spc="220" dirty="0">
                <a:solidFill>
                  <a:srgbClr val="3D3D3D"/>
                </a:solidFill>
                <a:latin typeface="Arial MT"/>
                <a:cs typeface="Arial MT"/>
              </a:rPr>
              <a:t>  </a:t>
            </a:r>
            <a:r>
              <a:rPr lang="en-US" sz="2000" dirty="0">
                <a:solidFill>
                  <a:srgbClr val="3D3D3D"/>
                </a:solidFill>
                <a:latin typeface="Arial MT"/>
                <a:cs typeface="Arial MT"/>
              </a:rPr>
              <a:t>our</a:t>
            </a:r>
            <a:r>
              <a:rPr lang="en-US" sz="2000" spc="215" dirty="0">
                <a:solidFill>
                  <a:srgbClr val="3D3D3D"/>
                </a:solidFill>
                <a:latin typeface="Arial MT"/>
                <a:cs typeface="Arial MT"/>
              </a:rPr>
              <a:t>  </a:t>
            </a:r>
            <a:r>
              <a:rPr lang="en-US" sz="2000" dirty="0" err="1">
                <a:solidFill>
                  <a:srgbClr val="424242"/>
                </a:solidFill>
                <a:latin typeface="Arial MT"/>
                <a:cs typeface="Arial MT"/>
              </a:rPr>
              <a:t>stego</a:t>
            </a:r>
            <a:r>
              <a:rPr lang="en-US" sz="2000" dirty="0">
                <a:solidFill>
                  <a:srgbClr val="424242"/>
                </a:solidFill>
                <a:latin typeface="Arial MT"/>
                <a:cs typeface="Arial MT"/>
              </a:rPr>
              <a:t>-sequences</a:t>
            </a:r>
            <a:r>
              <a:rPr lang="en-US" sz="2000" spc="95" dirty="0">
                <a:solidFill>
                  <a:srgbClr val="424242"/>
                </a:solidFill>
                <a:latin typeface="Arial MT"/>
                <a:cs typeface="Arial MT"/>
              </a:rPr>
              <a:t>  </a:t>
            </a:r>
            <a:r>
              <a:rPr lang="en-US" sz="2000" dirty="0">
                <a:solidFill>
                  <a:srgbClr val="4B4B4B"/>
                </a:solidFill>
                <a:latin typeface="Arial MT"/>
                <a:cs typeface="Arial MT"/>
              </a:rPr>
              <a:t>rather</a:t>
            </a:r>
            <a:r>
              <a:rPr lang="en-US" sz="2000" spc="300" dirty="0">
                <a:solidFill>
                  <a:srgbClr val="4B4B4B"/>
                </a:solidFill>
                <a:latin typeface="Arial MT"/>
                <a:cs typeface="Arial MT"/>
              </a:rPr>
              <a:t>  </a:t>
            </a:r>
            <a:r>
              <a:rPr lang="en-US" sz="2000" spc="-20" dirty="0">
                <a:solidFill>
                  <a:srgbClr val="4F4F4F"/>
                </a:solidFill>
                <a:latin typeface="Arial MT"/>
                <a:cs typeface="Arial MT"/>
              </a:rPr>
              <a:t>than </a:t>
            </a:r>
            <a:r>
              <a:rPr lang="en-US" sz="2000" spc="-25" dirty="0">
                <a:solidFill>
                  <a:srgbClr val="464646"/>
                </a:solidFill>
                <a:latin typeface="Arial MT"/>
                <a:cs typeface="Arial MT"/>
              </a:rPr>
              <a:t>relying</a:t>
            </a:r>
            <a:r>
              <a:rPr lang="en-US" sz="2000" spc="-110" dirty="0">
                <a:solidFill>
                  <a:srgbClr val="464646"/>
                </a:solidFill>
                <a:latin typeface="Arial MT"/>
                <a:cs typeface="Arial MT"/>
              </a:rPr>
              <a:t> </a:t>
            </a:r>
            <a:r>
              <a:rPr lang="en-US" sz="2000" dirty="0">
                <a:solidFill>
                  <a:srgbClr val="525252"/>
                </a:solidFill>
                <a:latin typeface="Arial MT"/>
                <a:cs typeface="Arial MT"/>
              </a:rPr>
              <a:t>on</a:t>
            </a:r>
            <a:r>
              <a:rPr lang="en-US" sz="2000" spc="-190" dirty="0">
                <a:solidFill>
                  <a:srgbClr val="525252"/>
                </a:solidFill>
                <a:latin typeface="Arial MT"/>
                <a:cs typeface="Arial MT"/>
              </a:rPr>
              <a:t> </a:t>
            </a:r>
            <a:r>
              <a:rPr lang="en-US" sz="2000" dirty="0">
                <a:solidFill>
                  <a:srgbClr val="444444"/>
                </a:solidFill>
                <a:latin typeface="Arial MT"/>
                <a:cs typeface="Arial MT"/>
              </a:rPr>
              <a:t>basic</a:t>
            </a:r>
            <a:r>
              <a:rPr lang="en-US" sz="2000" spc="-130" dirty="0">
                <a:solidFill>
                  <a:srgbClr val="444444"/>
                </a:solidFill>
                <a:latin typeface="Arial MT"/>
                <a:cs typeface="Arial MT"/>
              </a:rPr>
              <a:t> </a:t>
            </a:r>
            <a:r>
              <a:rPr lang="en-US" sz="2000" spc="-40" dirty="0">
                <a:solidFill>
                  <a:srgbClr val="444444"/>
                </a:solidFill>
                <a:latin typeface="Arial MT"/>
                <a:cs typeface="Arial MT"/>
              </a:rPr>
              <a:t>visual</a:t>
            </a:r>
            <a:r>
              <a:rPr lang="en-US" sz="2000" spc="-180" dirty="0">
                <a:solidFill>
                  <a:srgbClr val="444444"/>
                </a:solidFill>
                <a:latin typeface="Arial MT"/>
                <a:cs typeface="Arial MT"/>
              </a:rPr>
              <a:t> </a:t>
            </a:r>
            <a:r>
              <a:rPr lang="en-US" sz="2000" spc="-10" dirty="0">
                <a:solidFill>
                  <a:srgbClr val="3B3B3B"/>
                </a:solidFill>
                <a:latin typeface="Arial MT"/>
                <a:cs typeface="Arial MT"/>
              </a:rPr>
              <a:t>evaluation.</a:t>
            </a:r>
            <a:endParaRPr lang="en-US" sz="2000" dirty="0">
              <a:latin typeface="Arial MT"/>
              <a:cs typeface="Arial M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29275" y="2795983"/>
            <a:ext cx="439777" cy="439777"/>
          </a:xfrm>
          <a:prstGeom prst="rect">
            <a:avLst/>
          </a:prstGeom>
        </p:spPr>
      </p:pic>
      <p:pic>
        <p:nvPicPr>
          <p:cNvPr id="3" name="object 3"/>
          <p:cNvPicPr/>
          <p:nvPr/>
        </p:nvPicPr>
        <p:blipFill>
          <a:blip r:embed="rId3" cstate="print"/>
          <a:stretch>
            <a:fillRect/>
          </a:stretch>
        </p:blipFill>
        <p:spPr>
          <a:xfrm>
            <a:off x="1429275" y="4322325"/>
            <a:ext cx="439777" cy="439777"/>
          </a:xfrm>
          <a:prstGeom prst="rect">
            <a:avLst/>
          </a:prstGeom>
        </p:spPr>
      </p:pic>
      <p:pic>
        <p:nvPicPr>
          <p:cNvPr id="4" name="object 4"/>
          <p:cNvPicPr/>
          <p:nvPr/>
        </p:nvPicPr>
        <p:blipFill>
          <a:blip r:embed="rId4" cstate="print"/>
          <a:stretch>
            <a:fillRect/>
          </a:stretch>
        </p:blipFill>
        <p:spPr>
          <a:xfrm>
            <a:off x="1442143" y="6547249"/>
            <a:ext cx="439777" cy="439777"/>
          </a:xfrm>
          <a:prstGeom prst="rect">
            <a:avLst/>
          </a:prstGeom>
        </p:spPr>
      </p:pic>
      <p:pic>
        <p:nvPicPr>
          <p:cNvPr id="5" name="object 5"/>
          <p:cNvPicPr/>
          <p:nvPr/>
        </p:nvPicPr>
        <p:blipFill>
          <a:blip r:embed="rId5" cstate="print"/>
          <a:stretch>
            <a:fillRect/>
          </a:stretch>
        </p:blipFill>
        <p:spPr>
          <a:xfrm>
            <a:off x="1429275" y="8513367"/>
            <a:ext cx="439777" cy="439777"/>
          </a:xfrm>
          <a:prstGeom prst="rect">
            <a:avLst/>
          </a:prstGeom>
        </p:spPr>
      </p:pic>
      <p:sp>
        <p:nvSpPr>
          <p:cNvPr id="6" name="object 6" descr="$PPTXTitle"/>
          <p:cNvSpPr txBox="1">
            <a:spLocks noGrp="1"/>
          </p:cNvSpPr>
          <p:nvPr>
            <p:ph type="title"/>
          </p:nvPr>
        </p:nvSpPr>
        <p:spPr>
          <a:xfrm>
            <a:off x="984250" y="777875"/>
            <a:ext cx="7170345" cy="846836"/>
          </a:xfrm>
          <a:prstGeom prst="rect">
            <a:avLst/>
          </a:prstGeom>
        </p:spPr>
        <p:txBody>
          <a:bodyPr vert="horz" wrap="square" lIns="0" tIns="71501" rIns="0" bIns="0" rtlCol="0">
            <a:spAutoFit/>
          </a:bodyPr>
          <a:lstStyle/>
          <a:p>
            <a:pPr marL="39370">
              <a:lnSpc>
                <a:spcPct val="100000"/>
              </a:lnSpc>
              <a:spcBef>
                <a:spcPts val="125"/>
              </a:spcBef>
            </a:pPr>
            <a:r>
              <a:rPr sz="7500" baseline="-8888" dirty="0">
                <a:solidFill>
                  <a:srgbClr val="287B49"/>
                </a:solidFill>
              </a:rPr>
              <a:t>I</a:t>
            </a:r>
            <a:r>
              <a:rPr sz="7500" spc="1725" baseline="-8888" dirty="0">
                <a:solidFill>
                  <a:srgbClr val="287B49"/>
                </a:solidFill>
              </a:rPr>
              <a:t> </a:t>
            </a:r>
            <a:r>
              <a:rPr sz="5000" b="1" spc="140" dirty="0">
                <a:solidFill>
                  <a:srgbClr val="0A502B"/>
                </a:solidFill>
              </a:rPr>
              <a:t>Key</a:t>
            </a:r>
            <a:r>
              <a:rPr sz="5000" b="1" spc="-275" dirty="0">
                <a:solidFill>
                  <a:srgbClr val="0A502B"/>
                </a:solidFill>
              </a:rPr>
              <a:t> </a:t>
            </a:r>
            <a:r>
              <a:rPr sz="5000" b="1" spc="-55" dirty="0">
                <a:solidFill>
                  <a:srgbClr val="03562D"/>
                </a:solidFill>
              </a:rPr>
              <a:t>Project</a:t>
            </a:r>
            <a:r>
              <a:rPr sz="5000" b="1" spc="-215" dirty="0">
                <a:solidFill>
                  <a:srgbClr val="03562D"/>
                </a:solidFill>
              </a:rPr>
              <a:t> </a:t>
            </a:r>
            <a:r>
              <a:rPr sz="5000" b="1" spc="-10" dirty="0">
                <a:solidFill>
                  <a:srgbClr val="0C522D"/>
                </a:solidFill>
              </a:rPr>
              <a:t>Objectives</a:t>
            </a:r>
            <a:endParaRPr sz="5000" b="1" dirty="0"/>
          </a:p>
        </p:txBody>
      </p:sp>
      <p:sp>
        <p:nvSpPr>
          <p:cNvPr id="7" name="object 7"/>
          <p:cNvSpPr txBox="1">
            <a:spLocks noGrp="1"/>
          </p:cNvSpPr>
          <p:nvPr>
            <p:ph type="body" idx="1"/>
          </p:nvPr>
        </p:nvSpPr>
        <p:spPr>
          <a:xfrm>
            <a:off x="2051050" y="2606675"/>
            <a:ext cx="15815627" cy="7273145"/>
          </a:xfrm>
          <a:prstGeom prst="rect">
            <a:avLst/>
          </a:prstGeom>
        </p:spPr>
        <p:txBody>
          <a:bodyPr vert="horz" wrap="square" lIns="0" tIns="34925" rIns="0" bIns="0" rtlCol="0">
            <a:spAutoFit/>
          </a:bodyPr>
          <a:lstStyle/>
          <a:p>
            <a:pPr marL="13970">
              <a:lnSpc>
                <a:spcPct val="100000"/>
              </a:lnSpc>
              <a:spcBef>
                <a:spcPts val="275"/>
              </a:spcBef>
            </a:pPr>
            <a:r>
              <a:rPr sz="2800" spc="-20" dirty="0">
                <a:solidFill>
                  <a:srgbClr val="0A523B"/>
                </a:solidFill>
              </a:rPr>
              <a:t>Develop</a:t>
            </a:r>
            <a:r>
              <a:rPr sz="2800" spc="-110" dirty="0">
                <a:solidFill>
                  <a:srgbClr val="0A523B"/>
                </a:solidFill>
              </a:rPr>
              <a:t> </a:t>
            </a:r>
            <a:r>
              <a:rPr sz="2800" spc="-75" dirty="0"/>
              <a:t>Dual-</a:t>
            </a:r>
            <a:r>
              <a:rPr sz="2800" spc="-65" dirty="0"/>
              <a:t>Channel</a:t>
            </a:r>
            <a:r>
              <a:rPr sz="2800" spc="35" dirty="0"/>
              <a:t> </a:t>
            </a:r>
            <a:r>
              <a:rPr sz="2800" spc="-20" dirty="0">
                <a:solidFill>
                  <a:srgbClr val="1C4933"/>
                </a:solidFill>
              </a:rPr>
              <a:t>Hiding</a:t>
            </a:r>
            <a:r>
              <a:rPr sz="2800" spc="-204" dirty="0">
                <a:solidFill>
                  <a:srgbClr val="1C4933"/>
                </a:solidFill>
              </a:rPr>
              <a:t> </a:t>
            </a:r>
            <a:r>
              <a:rPr sz="2800" spc="-10" dirty="0">
                <a:solidFill>
                  <a:srgbClr val="01593B"/>
                </a:solidFill>
              </a:rPr>
              <a:t>Algorithms</a:t>
            </a:r>
          </a:p>
          <a:p>
            <a:pPr marL="18415" marR="5080" indent="5080">
              <a:lnSpc>
                <a:spcPts val="2230"/>
              </a:lnSpc>
              <a:spcBef>
                <a:spcPts val="310"/>
              </a:spcBef>
            </a:pPr>
            <a:r>
              <a:rPr sz="2800" spc="-30" dirty="0">
                <a:solidFill>
                  <a:srgbClr val="4B4B4B"/>
                </a:solidFill>
              </a:rPr>
              <a:t>Create</a:t>
            </a:r>
            <a:r>
              <a:rPr sz="2800" spc="-70" dirty="0">
                <a:solidFill>
                  <a:srgbClr val="4B4B4B"/>
                </a:solidFill>
              </a:rPr>
              <a:t> </a:t>
            </a:r>
            <a:r>
              <a:rPr sz="2800" spc="-25" dirty="0">
                <a:solidFill>
                  <a:srgbClr val="4B4B4B"/>
                </a:solidFill>
              </a:rPr>
              <a:t>separate</a:t>
            </a:r>
            <a:r>
              <a:rPr sz="2800" spc="40" dirty="0">
                <a:solidFill>
                  <a:srgbClr val="4B4B4B"/>
                </a:solidFill>
              </a:rPr>
              <a:t> </a:t>
            </a:r>
            <a:r>
              <a:rPr sz="2800" spc="-45" dirty="0">
                <a:solidFill>
                  <a:srgbClr val="464646"/>
                </a:solidFill>
              </a:rPr>
              <a:t>optimization</a:t>
            </a:r>
            <a:r>
              <a:rPr sz="2800" spc="-70" dirty="0">
                <a:solidFill>
                  <a:srgbClr val="464646"/>
                </a:solidFill>
              </a:rPr>
              <a:t> </a:t>
            </a:r>
            <a:r>
              <a:rPr sz="2800" spc="-40" dirty="0">
                <a:solidFill>
                  <a:srgbClr val="4D4D4D"/>
                </a:solidFill>
              </a:rPr>
              <a:t>pathways</a:t>
            </a:r>
            <a:r>
              <a:rPr sz="2800" spc="-20" dirty="0">
                <a:solidFill>
                  <a:srgbClr val="4D4D4D"/>
                </a:solidFill>
              </a:rPr>
              <a:t> </a:t>
            </a:r>
            <a:r>
              <a:rPr sz="2800" dirty="0">
                <a:solidFill>
                  <a:srgbClr val="484848"/>
                </a:solidFill>
              </a:rPr>
              <a:t>for</a:t>
            </a:r>
            <a:r>
              <a:rPr sz="2800" spc="-45" dirty="0">
                <a:solidFill>
                  <a:srgbClr val="484848"/>
                </a:solidFill>
              </a:rPr>
              <a:t> </a:t>
            </a:r>
            <a:r>
              <a:rPr sz="2800" spc="-45" dirty="0">
                <a:solidFill>
                  <a:srgbClr val="444444"/>
                </a:solidFill>
              </a:rPr>
              <a:t>active</a:t>
            </a:r>
            <a:r>
              <a:rPr sz="2800" spc="-10" dirty="0">
                <a:solidFill>
                  <a:srgbClr val="444444"/>
                </a:solidFill>
              </a:rPr>
              <a:t> </a:t>
            </a:r>
            <a:r>
              <a:rPr sz="2800" spc="-30" dirty="0">
                <a:solidFill>
                  <a:srgbClr val="494949"/>
                </a:solidFill>
              </a:rPr>
              <a:t>genomic</a:t>
            </a:r>
            <a:r>
              <a:rPr sz="2800" spc="5" dirty="0">
                <a:solidFill>
                  <a:srgbClr val="494949"/>
                </a:solidFill>
              </a:rPr>
              <a:t> </a:t>
            </a:r>
            <a:r>
              <a:rPr sz="2800" dirty="0">
                <a:solidFill>
                  <a:srgbClr val="4B4B4B"/>
                </a:solidFill>
              </a:rPr>
              <a:t>segments(coding</a:t>
            </a:r>
            <a:r>
              <a:rPr sz="2800" spc="-190" dirty="0">
                <a:solidFill>
                  <a:srgbClr val="4B4B4B"/>
                </a:solidFill>
              </a:rPr>
              <a:t> </a:t>
            </a:r>
            <a:r>
              <a:rPr sz="2800" spc="-85" dirty="0">
                <a:solidFill>
                  <a:srgbClr val="494949"/>
                </a:solidFill>
              </a:rPr>
              <a:t>exons)</a:t>
            </a:r>
            <a:r>
              <a:rPr sz="2800" spc="-70" dirty="0">
                <a:solidFill>
                  <a:srgbClr val="494949"/>
                </a:solidFill>
              </a:rPr>
              <a:t> </a:t>
            </a:r>
            <a:r>
              <a:rPr sz="2800" spc="-65" dirty="0">
                <a:solidFill>
                  <a:srgbClr val="484848"/>
                </a:solidFill>
              </a:rPr>
              <a:t>and</a:t>
            </a:r>
            <a:r>
              <a:rPr sz="2800" spc="-250" dirty="0">
                <a:solidFill>
                  <a:srgbClr val="484848"/>
                </a:solidFill>
              </a:rPr>
              <a:t> </a:t>
            </a:r>
            <a:r>
              <a:rPr sz="2800" spc="-50" dirty="0">
                <a:solidFill>
                  <a:srgbClr val="444444"/>
                </a:solidFill>
              </a:rPr>
              <a:t>inactive</a:t>
            </a:r>
            <a:r>
              <a:rPr sz="2800" spc="-75" dirty="0">
                <a:solidFill>
                  <a:srgbClr val="444444"/>
                </a:solidFill>
              </a:rPr>
              <a:t> </a:t>
            </a:r>
            <a:r>
              <a:rPr sz="2800" dirty="0">
                <a:solidFill>
                  <a:srgbClr val="4B4B4B"/>
                </a:solidFill>
              </a:rPr>
              <a:t>segments(non-</a:t>
            </a:r>
            <a:r>
              <a:rPr sz="2800" spc="-20" dirty="0">
                <a:solidFill>
                  <a:srgbClr val="4B4B4B"/>
                </a:solidFill>
              </a:rPr>
              <a:t>coding</a:t>
            </a:r>
            <a:r>
              <a:rPr sz="2800" spc="-20" dirty="0">
                <a:solidFill>
                  <a:srgbClr val="494949"/>
                </a:solidFill>
              </a:rPr>
              <a:t>introns)</a:t>
            </a:r>
            <a:r>
              <a:rPr sz="2800" spc="-65" dirty="0">
                <a:solidFill>
                  <a:srgbClr val="494949"/>
                </a:solidFill>
              </a:rPr>
              <a:t> </a:t>
            </a:r>
            <a:r>
              <a:rPr sz="2800" dirty="0">
                <a:solidFill>
                  <a:srgbClr val="62709A"/>
                </a:solidFill>
              </a:rPr>
              <a:t>to</a:t>
            </a:r>
            <a:r>
              <a:rPr sz="2800" spc="-245" dirty="0">
                <a:solidFill>
                  <a:srgbClr val="62709A"/>
                </a:solidFill>
              </a:rPr>
              <a:t> </a:t>
            </a:r>
            <a:r>
              <a:rPr sz="2800" spc="-85" dirty="0">
                <a:solidFill>
                  <a:srgbClr val="4D4D4D"/>
                </a:solidFill>
              </a:rPr>
              <a:t>maximize</a:t>
            </a:r>
            <a:r>
              <a:rPr sz="2800" spc="90" dirty="0">
                <a:solidFill>
                  <a:srgbClr val="4D4D4D"/>
                </a:solidFill>
              </a:rPr>
              <a:t> </a:t>
            </a:r>
            <a:r>
              <a:rPr sz="2800" spc="-10" dirty="0">
                <a:solidFill>
                  <a:srgbClr val="424242"/>
                </a:solidFill>
              </a:rPr>
              <a:t>embedding </a:t>
            </a:r>
            <a:r>
              <a:rPr sz="2800" spc="-10" dirty="0">
                <a:solidFill>
                  <a:srgbClr val="484848"/>
                </a:solidFill>
              </a:rPr>
              <a:t>capacity.</a:t>
            </a:r>
            <a:endParaRPr sz="2800" dirty="0"/>
          </a:p>
          <a:p>
            <a:pPr>
              <a:lnSpc>
                <a:spcPct val="100000"/>
              </a:lnSpc>
              <a:spcBef>
                <a:spcPts val="1355"/>
              </a:spcBef>
            </a:pPr>
            <a:endParaRPr sz="2800" dirty="0"/>
          </a:p>
          <a:p>
            <a:pPr marL="13970">
              <a:lnSpc>
                <a:spcPct val="100000"/>
              </a:lnSpc>
            </a:pPr>
            <a:r>
              <a:rPr sz="2800" spc="130" dirty="0">
                <a:solidFill>
                  <a:srgbClr val="0F4D42"/>
                </a:solidFill>
                <a:cs typeface="Calibri"/>
              </a:rPr>
              <a:t>Ninimize</a:t>
            </a:r>
            <a:r>
              <a:rPr sz="2800" spc="-5" dirty="0">
                <a:solidFill>
                  <a:srgbClr val="0F4D42"/>
                </a:solidFill>
                <a:cs typeface="Calibri"/>
              </a:rPr>
              <a:t> </a:t>
            </a:r>
            <a:r>
              <a:rPr sz="2800" spc="200" dirty="0">
                <a:solidFill>
                  <a:srgbClr val="114D2F"/>
                </a:solidFill>
                <a:cs typeface="Calibri"/>
              </a:rPr>
              <a:t>Codon</a:t>
            </a:r>
            <a:r>
              <a:rPr sz="2800" spc="-120" dirty="0">
                <a:solidFill>
                  <a:srgbClr val="114D2F"/>
                </a:solidFill>
                <a:cs typeface="Calibri"/>
              </a:rPr>
              <a:t> </a:t>
            </a:r>
            <a:r>
              <a:rPr sz="2800" spc="180" dirty="0">
                <a:solidFill>
                  <a:srgbClr val="165442"/>
                </a:solidFill>
                <a:cs typeface="Calibri"/>
              </a:rPr>
              <a:t>and</a:t>
            </a:r>
            <a:r>
              <a:rPr sz="2800" spc="-165" dirty="0">
                <a:solidFill>
                  <a:srgbClr val="165442"/>
                </a:solidFill>
                <a:cs typeface="Calibri"/>
              </a:rPr>
              <a:t> </a:t>
            </a:r>
            <a:r>
              <a:rPr sz="2800" spc="130" dirty="0">
                <a:solidFill>
                  <a:srgbClr val="0E4B2A"/>
                </a:solidFill>
                <a:cs typeface="Calibri"/>
              </a:rPr>
              <a:t>Character</a:t>
            </a:r>
            <a:r>
              <a:rPr sz="2800" spc="-15" dirty="0">
                <a:solidFill>
                  <a:srgbClr val="0E4B2A"/>
                </a:solidFill>
                <a:cs typeface="Calibri"/>
              </a:rPr>
              <a:t> </a:t>
            </a:r>
            <a:r>
              <a:rPr sz="2800" spc="50" dirty="0">
                <a:solidFill>
                  <a:srgbClr val="035233"/>
                </a:solidFill>
                <a:cs typeface="Calibri"/>
              </a:rPr>
              <a:t>Variations</a:t>
            </a:r>
            <a:endParaRPr sz="2800" dirty="0">
              <a:cs typeface="Calibri"/>
            </a:endParaRPr>
          </a:p>
          <a:p>
            <a:pPr marL="20320">
              <a:lnSpc>
                <a:spcPct val="100000"/>
              </a:lnSpc>
              <a:spcBef>
                <a:spcPts val="225"/>
              </a:spcBef>
            </a:pPr>
            <a:r>
              <a:rPr sz="2800" spc="-55" dirty="0">
                <a:solidFill>
                  <a:srgbClr val="444444"/>
                </a:solidFill>
              </a:rPr>
              <a:t>Apply </a:t>
            </a:r>
            <a:r>
              <a:rPr sz="2800" spc="-240" dirty="0">
                <a:solidFill>
                  <a:srgbClr val="4F4F4F"/>
                </a:solidFill>
              </a:rPr>
              <a:t>a</a:t>
            </a:r>
            <a:r>
              <a:rPr sz="2800" spc="-170" dirty="0">
                <a:solidFill>
                  <a:srgbClr val="4F4F4F"/>
                </a:solidFill>
              </a:rPr>
              <a:t> </a:t>
            </a:r>
            <a:r>
              <a:rPr sz="2800" spc="-10" dirty="0">
                <a:solidFill>
                  <a:srgbClr val="464646"/>
                </a:solidFill>
              </a:rPr>
              <a:t>bio-inspired</a:t>
            </a:r>
            <a:r>
              <a:rPr sz="2800" spc="-75" dirty="0">
                <a:solidFill>
                  <a:srgbClr val="464646"/>
                </a:solidFill>
              </a:rPr>
              <a:t> </a:t>
            </a:r>
            <a:r>
              <a:rPr sz="2800" spc="-10" dirty="0">
                <a:solidFill>
                  <a:srgbClr val="3A3A3A"/>
                </a:solidFill>
              </a:rPr>
              <a:t>complementary</a:t>
            </a:r>
            <a:r>
              <a:rPr sz="2800" spc="120" dirty="0">
                <a:solidFill>
                  <a:srgbClr val="3A3A3A"/>
                </a:solidFill>
              </a:rPr>
              <a:t> </a:t>
            </a:r>
            <a:r>
              <a:rPr sz="2800" spc="-35" dirty="0">
                <a:solidFill>
                  <a:srgbClr val="444444"/>
                </a:solidFill>
              </a:rPr>
              <a:t>substitution</a:t>
            </a:r>
            <a:r>
              <a:rPr sz="2800" spc="-125" dirty="0">
                <a:solidFill>
                  <a:srgbClr val="444444"/>
                </a:solidFill>
              </a:rPr>
              <a:t> </a:t>
            </a:r>
            <a:r>
              <a:rPr sz="2800" spc="-65" dirty="0">
                <a:solidFill>
                  <a:srgbClr val="4F4F4F"/>
                </a:solidFill>
              </a:rPr>
              <a:t>rule</a:t>
            </a:r>
            <a:r>
              <a:rPr sz="2800" spc="-100" dirty="0">
                <a:solidFill>
                  <a:srgbClr val="4F4F4F"/>
                </a:solidFill>
              </a:rPr>
              <a:t> </a:t>
            </a:r>
            <a:r>
              <a:rPr sz="2800" dirty="0">
                <a:solidFill>
                  <a:srgbClr val="6D759E"/>
                </a:solidFill>
              </a:rPr>
              <a:t>to</a:t>
            </a:r>
            <a:r>
              <a:rPr sz="2800" spc="-265" dirty="0">
                <a:solidFill>
                  <a:srgbClr val="6D759E"/>
                </a:solidFill>
              </a:rPr>
              <a:t> </a:t>
            </a:r>
            <a:r>
              <a:rPr sz="2800" spc="-20" dirty="0">
                <a:solidFill>
                  <a:srgbClr val="494949"/>
                </a:solidFill>
              </a:rPr>
              <a:t>prevent</a:t>
            </a:r>
            <a:r>
              <a:rPr sz="2800" spc="-75" dirty="0">
                <a:solidFill>
                  <a:srgbClr val="494949"/>
                </a:solidFill>
              </a:rPr>
              <a:t> </a:t>
            </a:r>
            <a:r>
              <a:rPr sz="2800" spc="-100" dirty="0">
                <a:solidFill>
                  <a:srgbClr val="4F5E6E"/>
                </a:solidFill>
              </a:rPr>
              <a:t>any</a:t>
            </a:r>
            <a:r>
              <a:rPr sz="2800" spc="-150" dirty="0">
                <a:solidFill>
                  <a:srgbClr val="4F5E6E"/>
                </a:solidFill>
              </a:rPr>
              <a:t> </a:t>
            </a:r>
            <a:r>
              <a:rPr sz="2800" spc="-20" dirty="0">
                <a:solidFill>
                  <a:srgbClr val="494949"/>
                </a:solidFill>
              </a:rPr>
              <a:t>shifts</a:t>
            </a:r>
            <a:r>
              <a:rPr sz="2800" spc="-200" dirty="0">
                <a:solidFill>
                  <a:srgbClr val="494949"/>
                </a:solidFill>
              </a:rPr>
              <a:t> </a:t>
            </a:r>
            <a:r>
              <a:rPr sz="2800" spc="-100" dirty="0">
                <a:solidFill>
                  <a:srgbClr val="4F4F4F"/>
                </a:solidFill>
              </a:rPr>
              <a:t>in</a:t>
            </a:r>
            <a:r>
              <a:rPr sz="2800" spc="-229" dirty="0">
                <a:solidFill>
                  <a:srgbClr val="4F4F4F"/>
                </a:solidFill>
              </a:rPr>
              <a:t> </a:t>
            </a:r>
            <a:r>
              <a:rPr sz="2800" spc="-20" dirty="0">
                <a:solidFill>
                  <a:srgbClr val="494949"/>
                </a:solidFill>
              </a:rPr>
              <a:t>nucleotide </a:t>
            </a:r>
            <a:r>
              <a:rPr sz="2800" spc="-65" dirty="0">
                <a:solidFill>
                  <a:srgbClr val="424242"/>
                </a:solidFill>
              </a:rPr>
              <a:t>base</a:t>
            </a:r>
            <a:r>
              <a:rPr sz="2800" spc="-70" dirty="0">
                <a:solidFill>
                  <a:srgbClr val="424242"/>
                </a:solidFill>
              </a:rPr>
              <a:t> </a:t>
            </a:r>
            <a:r>
              <a:rPr sz="2800" dirty="0">
                <a:solidFill>
                  <a:srgbClr val="3A3A3A"/>
                </a:solidFill>
              </a:rPr>
              <a:t>frequency</a:t>
            </a:r>
            <a:r>
              <a:rPr sz="2800" spc="15" dirty="0">
                <a:solidFill>
                  <a:srgbClr val="3A3A3A"/>
                </a:solidFill>
              </a:rPr>
              <a:t> </a:t>
            </a:r>
            <a:r>
              <a:rPr sz="2800" spc="-50" dirty="0">
                <a:solidFill>
                  <a:srgbClr val="595959"/>
                </a:solidFill>
              </a:rPr>
              <a:t>or</a:t>
            </a:r>
            <a:r>
              <a:rPr sz="2800" spc="-160" dirty="0">
                <a:solidFill>
                  <a:srgbClr val="595959"/>
                </a:solidFill>
              </a:rPr>
              <a:t> </a:t>
            </a:r>
            <a:r>
              <a:rPr sz="2800" spc="-20" dirty="0">
                <a:solidFill>
                  <a:srgbClr val="494949"/>
                </a:solidFill>
              </a:rPr>
              <a:t>codon</a:t>
            </a:r>
            <a:r>
              <a:rPr sz="2800" spc="-95" dirty="0">
                <a:solidFill>
                  <a:srgbClr val="494949"/>
                </a:solidFill>
              </a:rPr>
              <a:t> </a:t>
            </a:r>
            <a:r>
              <a:rPr sz="2800" spc="-10" dirty="0">
                <a:solidFill>
                  <a:srgbClr val="494949"/>
                </a:solidFill>
              </a:rPr>
              <a:t>distribution.</a:t>
            </a:r>
            <a:endParaRPr sz="2800" dirty="0"/>
          </a:p>
          <a:p>
            <a:pPr>
              <a:lnSpc>
                <a:spcPct val="100000"/>
              </a:lnSpc>
            </a:pPr>
            <a:endParaRPr sz="2800" dirty="0"/>
          </a:p>
          <a:p>
            <a:pPr>
              <a:lnSpc>
                <a:spcPct val="100000"/>
              </a:lnSpc>
              <a:spcBef>
                <a:spcPts val="1275"/>
              </a:spcBef>
            </a:pPr>
            <a:endParaRPr sz="2800" dirty="0"/>
          </a:p>
          <a:p>
            <a:pPr marL="21590">
              <a:lnSpc>
                <a:spcPct val="100000"/>
              </a:lnSpc>
            </a:pPr>
            <a:r>
              <a:rPr sz="2800" spc="-30" dirty="0">
                <a:solidFill>
                  <a:srgbClr val="0F482A"/>
                </a:solidFill>
              </a:rPr>
              <a:t>Construct</a:t>
            </a:r>
            <a:r>
              <a:rPr sz="2800" spc="-120" dirty="0">
                <a:solidFill>
                  <a:srgbClr val="0F482A"/>
                </a:solidFill>
              </a:rPr>
              <a:t> </a:t>
            </a:r>
            <a:r>
              <a:rPr sz="2800" spc="-105" dirty="0">
                <a:solidFill>
                  <a:srgbClr val="114B3D"/>
                </a:solidFill>
              </a:rPr>
              <a:t>a</a:t>
            </a:r>
            <a:r>
              <a:rPr sz="2800" spc="-290" dirty="0">
                <a:solidFill>
                  <a:srgbClr val="114B3D"/>
                </a:solidFill>
              </a:rPr>
              <a:t> </a:t>
            </a:r>
            <a:r>
              <a:rPr sz="2800" spc="-10" dirty="0">
                <a:solidFill>
                  <a:srgbClr val="242424"/>
                </a:solidFill>
              </a:rPr>
              <a:t>Deep</a:t>
            </a:r>
            <a:r>
              <a:rPr sz="2800" spc="-120" dirty="0">
                <a:solidFill>
                  <a:srgbClr val="242424"/>
                </a:solidFill>
              </a:rPr>
              <a:t> </a:t>
            </a:r>
            <a:r>
              <a:rPr sz="2800" spc="-55" dirty="0">
                <a:solidFill>
                  <a:srgbClr val="242424"/>
                </a:solidFill>
              </a:rPr>
              <a:t>Sequence</a:t>
            </a:r>
            <a:r>
              <a:rPr sz="2800" spc="25" dirty="0">
                <a:solidFill>
                  <a:srgbClr val="242424"/>
                </a:solidFill>
              </a:rPr>
              <a:t> </a:t>
            </a:r>
            <a:r>
              <a:rPr sz="2800" spc="-75" dirty="0">
                <a:solidFill>
                  <a:srgbClr val="242424"/>
                </a:solidFill>
              </a:rPr>
              <a:t>Steganalysis</a:t>
            </a:r>
            <a:r>
              <a:rPr sz="2800" spc="-110" dirty="0">
                <a:solidFill>
                  <a:srgbClr val="242424"/>
                </a:solidFill>
              </a:rPr>
              <a:t> </a:t>
            </a:r>
            <a:r>
              <a:rPr sz="2800" spc="40" dirty="0">
                <a:solidFill>
                  <a:srgbClr val="164B34"/>
                </a:solidFill>
              </a:rPr>
              <a:t>Nodel</a:t>
            </a:r>
          </a:p>
          <a:p>
            <a:pPr marL="17780">
              <a:lnSpc>
                <a:spcPct val="100000"/>
              </a:lnSpc>
              <a:spcBef>
                <a:spcPts val="195"/>
              </a:spcBef>
            </a:pPr>
            <a:r>
              <a:rPr sz="2800" spc="-45" dirty="0">
                <a:solidFill>
                  <a:srgbClr val="484848"/>
                </a:solidFill>
              </a:rPr>
              <a:t>Build</a:t>
            </a:r>
            <a:r>
              <a:rPr sz="2800" spc="-160" dirty="0">
                <a:solidFill>
                  <a:srgbClr val="484848"/>
                </a:solidFill>
              </a:rPr>
              <a:t> </a:t>
            </a:r>
            <a:r>
              <a:rPr sz="2800" dirty="0">
                <a:solidFill>
                  <a:srgbClr val="464646"/>
                </a:solidFill>
              </a:rPr>
              <a:t>deep</a:t>
            </a:r>
            <a:r>
              <a:rPr sz="2800" spc="-185" dirty="0">
                <a:solidFill>
                  <a:srgbClr val="464646"/>
                </a:solidFill>
              </a:rPr>
              <a:t> </a:t>
            </a:r>
            <a:r>
              <a:rPr sz="2800" spc="-25" dirty="0">
                <a:solidFill>
                  <a:srgbClr val="494949"/>
                </a:solidFill>
              </a:rPr>
              <a:t>recurrent</a:t>
            </a:r>
            <a:r>
              <a:rPr sz="2800" spc="-40" dirty="0">
                <a:solidFill>
                  <a:srgbClr val="494949"/>
                </a:solidFill>
              </a:rPr>
              <a:t> </a:t>
            </a:r>
            <a:r>
              <a:rPr sz="2800" spc="-55" dirty="0">
                <a:solidFill>
                  <a:srgbClr val="4D4D4D"/>
                </a:solidFill>
              </a:rPr>
              <a:t>neural</a:t>
            </a:r>
            <a:r>
              <a:rPr sz="2800" spc="-220" dirty="0">
                <a:solidFill>
                  <a:srgbClr val="4D4D4D"/>
                </a:solidFill>
              </a:rPr>
              <a:t> </a:t>
            </a:r>
            <a:r>
              <a:rPr sz="2800" spc="-60" dirty="0">
                <a:solidFill>
                  <a:srgbClr val="4F4F4F"/>
                </a:solidFill>
              </a:rPr>
              <a:t>networks(RNNs)</a:t>
            </a:r>
            <a:r>
              <a:rPr sz="2800" spc="-165" dirty="0">
                <a:solidFill>
                  <a:srgbClr val="4F4F4F"/>
                </a:solidFill>
              </a:rPr>
              <a:t> </a:t>
            </a:r>
            <a:r>
              <a:rPr sz="2800" spc="-25" dirty="0">
                <a:solidFill>
                  <a:srgbClr val="667999"/>
                </a:solidFill>
              </a:rPr>
              <a:t>that</a:t>
            </a:r>
            <a:r>
              <a:rPr sz="2800" spc="-110" dirty="0">
                <a:solidFill>
                  <a:srgbClr val="667999"/>
                </a:solidFill>
              </a:rPr>
              <a:t> </a:t>
            </a:r>
            <a:r>
              <a:rPr sz="2800" spc="-100" dirty="0">
                <a:solidFill>
                  <a:srgbClr val="414141"/>
                </a:solidFill>
              </a:rPr>
              <a:t>analyze</a:t>
            </a:r>
            <a:r>
              <a:rPr sz="2800" spc="-5" dirty="0">
                <a:solidFill>
                  <a:srgbClr val="414141"/>
                </a:solidFill>
              </a:rPr>
              <a:t> </a:t>
            </a:r>
            <a:r>
              <a:rPr sz="2800" spc="-45" dirty="0">
                <a:solidFill>
                  <a:srgbClr val="4D4D4D"/>
                </a:solidFill>
              </a:rPr>
              <a:t>structural</a:t>
            </a:r>
            <a:r>
              <a:rPr sz="2800" spc="-120" dirty="0">
                <a:solidFill>
                  <a:srgbClr val="4D4D4D"/>
                </a:solidFill>
              </a:rPr>
              <a:t> </a:t>
            </a:r>
            <a:r>
              <a:rPr sz="2800" spc="-20" dirty="0">
                <a:solidFill>
                  <a:srgbClr val="4D4D4D"/>
                </a:solidFill>
              </a:rPr>
              <a:t>intron-exon</a:t>
            </a:r>
            <a:r>
              <a:rPr sz="2800" spc="-40" dirty="0">
                <a:solidFill>
                  <a:srgbClr val="4D4D4D"/>
                </a:solidFill>
              </a:rPr>
              <a:t> </a:t>
            </a:r>
            <a:r>
              <a:rPr sz="2800" spc="-20" dirty="0">
                <a:solidFill>
                  <a:srgbClr val="444444"/>
                </a:solidFill>
              </a:rPr>
              <a:t>models</a:t>
            </a:r>
            <a:r>
              <a:rPr sz="2800" spc="-85" dirty="0">
                <a:solidFill>
                  <a:srgbClr val="444444"/>
                </a:solidFill>
              </a:rPr>
              <a:t> </a:t>
            </a:r>
            <a:r>
              <a:rPr sz="2800" spc="-65" dirty="0">
                <a:solidFill>
                  <a:srgbClr val="494949"/>
                </a:solidFill>
              </a:rPr>
              <a:t>and</a:t>
            </a:r>
            <a:r>
              <a:rPr sz="2800" spc="-245" dirty="0">
                <a:solidFill>
                  <a:srgbClr val="494949"/>
                </a:solidFill>
              </a:rPr>
              <a:t> </a:t>
            </a:r>
            <a:r>
              <a:rPr sz="2800" dirty="0">
                <a:solidFill>
                  <a:srgbClr val="444444"/>
                </a:solidFill>
              </a:rPr>
              <a:t>identify</a:t>
            </a:r>
            <a:r>
              <a:rPr sz="2800" spc="-25" dirty="0">
                <a:solidFill>
                  <a:srgbClr val="444444"/>
                </a:solidFill>
              </a:rPr>
              <a:t> </a:t>
            </a:r>
            <a:r>
              <a:rPr sz="2800" spc="-10" dirty="0">
                <a:solidFill>
                  <a:srgbClr val="494949"/>
                </a:solidFill>
              </a:rPr>
              <a:t>potential</a:t>
            </a:r>
            <a:r>
              <a:rPr sz="2800" spc="-170" dirty="0">
                <a:solidFill>
                  <a:srgbClr val="494949"/>
                </a:solidFill>
              </a:rPr>
              <a:t> </a:t>
            </a:r>
            <a:r>
              <a:rPr sz="2800" spc="-20" dirty="0">
                <a:solidFill>
                  <a:srgbClr val="484848"/>
                </a:solidFill>
              </a:rPr>
              <a:t>payload</a:t>
            </a:r>
            <a:r>
              <a:rPr sz="2800" spc="-185" dirty="0">
                <a:solidFill>
                  <a:srgbClr val="484848"/>
                </a:solidFill>
              </a:rPr>
              <a:t> </a:t>
            </a:r>
            <a:r>
              <a:rPr sz="2800" spc="-10" dirty="0">
                <a:solidFill>
                  <a:srgbClr val="424242"/>
                </a:solidFill>
              </a:rPr>
              <a:t>signatures.</a:t>
            </a:r>
            <a:endParaRPr sz="2800" dirty="0"/>
          </a:p>
          <a:p>
            <a:pPr>
              <a:lnSpc>
                <a:spcPct val="100000"/>
              </a:lnSpc>
              <a:spcBef>
                <a:spcPts val="1275"/>
              </a:spcBef>
            </a:pPr>
            <a:endParaRPr sz="2800" dirty="0"/>
          </a:p>
          <a:p>
            <a:pPr marL="12700">
              <a:lnSpc>
                <a:spcPct val="100000"/>
              </a:lnSpc>
            </a:pPr>
            <a:r>
              <a:rPr sz="2800" spc="80" dirty="0">
                <a:solidFill>
                  <a:srgbClr val="08483F"/>
                </a:solidFill>
                <a:cs typeface="Calibri"/>
              </a:rPr>
              <a:t>Nathematically</a:t>
            </a:r>
            <a:r>
              <a:rPr sz="2800" spc="-180" dirty="0">
                <a:solidFill>
                  <a:srgbClr val="08483F"/>
                </a:solidFill>
                <a:cs typeface="Calibri"/>
              </a:rPr>
              <a:t> </a:t>
            </a:r>
            <a:r>
              <a:rPr sz="2800" dirty="0">
                <a:solidFill>
                  <a:srgbClr val="034636"/>
                </a:solidFill>
                <a:cs typeface="Calibri"/>
              </a:rPr>
              <a:t>Validate</a:t>
            </a:r>
            <a:r>
              <a:rPr sz="2800" spc="135" dirty="0">
                <a:solidFill>
                  <a:srgbClr val="034636"/>
                </a:solidFill>
                <a:cs typeface="Calibri"/>
              </a:rPr>
              <a:t> </a:t>
            </a:r>
            <a:r>
              <a:rPr sz="2800" dirty="0">
                <a:solidFill>
                  <a:srgbClr val="01523F"/>
                </a:solidFill>
                <a:cs typeface="Calibri"/>
              </a:rPr>
              <a:t>the</a:t>
            </a:r>
            <a:r>
              <a:rPr sz="2800" spc="45" dirty="0">
                <a:solidFill>
                  <a:srgbClr val="01523F"/>
                </a:solidFill>
                <a:cs typeface="Calibri"/>
              </a:rPr>
              <a:t> </a:t>
            </a:r>
            <a:r>
              <a:rPr sz="2800" spc="65" dirty="0">
                <a:solidFill>
                  <a:srgbClr val="11502D"/>
                </a:solidFill>
                <a:cs typeface="Calibri"/>
              </a:rPr>
              <a:t>Security</a:t>
            </a:r>
            <a:r>
              <a:rPr sz="2800" spc="-70" dirty="0">
                <a:solidFill>
                  <a:srgbClr val="11502D"/>
                </a:solidFill>
                <a:cs typeface="Calibri"/>
              </a:rPr>
              <a:t> </a:t>
            </a:r>
            <a:r>
              <a:rPr sz="2800" spc="-10" dirty="0">
                <a:solidFill>
                  <a:srgbClr val="0A5434"/>
                </a:solidFill>
                <a:cs typeface="Calibri"/>
              </a:rPr>
              <a:t>Boundary</a:t>
            </a:r>
          </a:p>
          <a:p>
            <a:pPr marL="17780">
              <a:lnSpc>
                <a:spcPct val="100000"/>
              </a:lnSpc>
              <a:spcBef>
                <a:spcPts val="295"/>
              </a:spcBef>
            </a:pPr>
            <a:r>
              <a:rPr sz="2800" spc="-20" dirty="0">
                <a:solidFill>
                  <a:srgbClr val="4B4B4B"/>
                </a:solidFill>
              </a:rPr>
              <a:t>Evaluate</a:t>
            </a:r>
            <a:r>
              <a:rPr sz="2800" spc="55" dirty="0">
                <a:solidFill>
                  <a:srgbClr val="4B4B4B"/>
                </a:solidFill>
              </a:rPr>
              <a:t> </a:t>
            </a:r>
            <a:r>
              <a:rPr sz="2800" spc="65" dirty="0">
                <a:solidFill>
                  <a:srgbClr val="494949"/>
                </a:solidFill>
              </a:rPr>
              <a:t>key</a:t>
            </a:r>
            <a:r>
              <a:rPr sz="2800" spc="-75" dirty="0">
                <a:solidFill>
                  <a:srgbClr val="494949"/>
                </a:solidFill>
              </a:rPr>
              <a:t> </a:t>
            </a:r>
            <a:r>
              <a:rPr sz="2800" dirty="0">
                <a:solidFill>
                  <a:srgbClr val="444444"/>
                </a:solidFill>
              </a:rPr>
              <a:t>parameters</a:t>
            </a:r>
            <a:r>
              <a:rPr sz="2800" spc="15" dirty="0">
                <a:solidFill>
                  <a:srgbClr val="444444"/>
                </a:solidFill>
              </a:rPr>
              <a:t> </a:t>
            </a:r>
            <a:r>
              <a:rPr sz="2800" dirty="0">
                <a:solidFill>
                  <a:srgbClr val="3B3B3B"/>
                </a:solidFill>
              </a:rPr>
              <a:t>including</a:t>
            </a:r>
            <a:r>
              <a:rPr sz="2800" spc="-70" dirty="0">
                <a:solidFill>
                  <a:srgbClr val="3B3B3B"/>
                </a:solidFill>
              </a:rPr>
              <a:t> </a:t>
            </a:r>
            <a:r>
              <a:rPr sz="2800" dirty="0">
                <a:solidFill>
                  <a:srgbClr val="444444"/>
                </a:solidFill>
              </a:rPr>
              <a:t>cracking</a:t>
            </a:r>
            <a:r>
              <a:rPr sz="2800" spc="-90" dirty="0">
                <a:solidFill>
                  <a:srgbClr val="444444"/>
                </a:solidFill>
              </a:rPr>
              <a:t> </a:t>
            </a:r>
            <a:r>
              <a:rPr sz="2800" dirty="0">
                <a:solidFill>
                  <a:srgbClr val="565656"/>
                </a:solidFill>
              </a:rPr>
              <a:t>probability,</a:t>
            </a:r>
            <a:r>
              <a:rPr sz="2800" spc="45" dirty="0">
                <a:solidFill>
                  <a:srgbClr val="565656"/>
                </a:solidFill>
              </a:rPr>
              <a:t> </a:t>
            </a:r>
            <a:r>
              <a:rPr sz="2800" spc="60" dirty="0">
                <a:solidFill>
                  <a:srgbClr val="424242"/>
                </a:solidFill>
              </a:rPr>
              <a:t>bits-</a:t>
            </a:r>
            <a:r>
              <a:rPr sz="2800" spc="75" dirty="0">
                <a:solidFill>
                  <a:srgbClr val="424242"/>
                </a:solidFill>
              </a:rPr>
              <a:t>per-nucleotide</a:t>
            </a:r>
            <a:r>
              <a:rPr sz="2800" spc="-245" dirty="0">
                <a:solidFill>
                  <a:srgbClr val="424242"/>
                </a:solidFill>
              </a:rPr>
              <a:t> </a:t>
            </a:r>
            <a:r>
              <a:rPr sz="2800" spc="-80" dirty="0">
                <a:solidFill>
                  <a:srgbClr val="757575"/>
                </a:solidFill>
              </a:rPr>
              <a:t>(BPN),</a:t>
            </a:r>
            <a:r>
              <a:rPr sz="2800" spc="60" dirty="0">
                <a:solidFill>
                  <a:srgbClr val="757575"/>
                </a:solidFill>
              </a:rPr>
              <a:t> </a:t>
            </a:r>
            <a:r>
              <a:rPr sz="2800" dirty="0">
                <a:solidFill>
                  <a:srgbClr val="3F3F3F"/>
                </a:solidFill>
              </a:rPr>
              <a:t>and</a:t>
            </a:r>
            <a:r>
              <a:rPr sz="2800" spc="-190" dirty="0">
                <a:solidFill>
                  <a:srgbClr val="3F3F3F"/>
                </a:solidFill>
              </a:rPr>
              <a:t> </a:t>
            </a:r>
            <a:r>
              <a:rPr sz="2800" dirty="0">
                <a:solidFill>
                  <a:srgbClr val="4D4D4D"/>
                </a:solidFill>
              </a:rPr>
              <a:t>structural</a:t>
            </a:r>
            <a:r>
              <a:rPr sz="2800" spc="-55" dirty="0">
                <a:solidFill>
                  <a:srgbClr val="4D4D4D"/>
                </a:solidFill>
              </a:rPr>
              <a:t> </a:t>
            </a:r>
            <a:r>
              <a:rPr sz="2800" dirty="0">
                <a:solidFill>
                  <a:srgbClr val="545454"/>
                </a:solidFill>
              </a:rPr>
              <a:t>similarity</a:t>
            </a:r>
            <a:r>
              <a:rPr sz="2800" spc="5" dirty="0">
                <a:solidFill>
                  <a:srgbClr val="545454"/>
                </a:solidFill>
              </a:rPr>
              <a:t> </a:t>
            </a:r>
            <a:r>
              <a:rPr sz="2800" dirty="0">
                <a:solidFill>
                  <a:srgbClr val="3F3F3F"/>
                </a:solidFill>
              </a:rPr>
              <a:t>indexes</a:t>
            </a:r>
            <a:r>
              <a:rPr sz="2800" spc="-5" dirty="0">
                <a:solidFill>
                  <a:srgbClr val="3F3F3F"/>
                </a:solidFill>
              </a:rPr>
              <a:t> </a:t>
            </a:r>
            <a:r>
              <a:rPr sz="2800" spc="-20" dirty="0">
                <a:solidFill>
                  <a:srgbClr val="494949"/>
                </a:solidFill>
              </a:rPr>
              <a:t>against</a:t>
            </a:r>
            <a:r>
              <a:rPr sz="2800" spc="-15" dirty="0">
                <a:solidFill>
                  <a:srgbClr val="494949"/>
                </a:solidFill>
              </a:rPr>
              <a:t> </a:t>
            </a:r>
            <a:r>
              <a:rPr sz="2800" dirty="0">
                <a:solidFill>
                  <a:srgbClr val="525252"/>
                </a:solidFill>
              </a:rPr>
              <a:t>modern</a:t>
            </a:r>
            <a:r>
              <a:rPr sz="2800" spc="-20" dirty="0">
                <a:solidFill>
                  <a:srgbClr val="525252"/>
                </a:solidFill>
              </a:rPr>
              <a:t> </a:t>
            </a:r>
            <a:r>
              <a:rPr sz="2800" dirty="0">
                <a:solidFill>
                  <a:srgbClr val="525252"/>
                </a:solidFill>
              </a:rPr>
              <a:t>steganalysis</a:t>
            </a:r>
            <a:r>
              <a:rPr sz="2800" spc="70" dirty="0">
                <a:solidFill>
                  <a:srgbClr val="525252"/>
                </a:solidFill>
              </a:rPr>
              <a:t> </a:t>
            </a:r>
            <a:r>
              <a:rPr sz="2800" spc="-10" dirty="0">
                <a:solidFill>
                  <a:srgbClr val="4D4D4D"/>
                </a:solidFill>
              </a:rPr>
              <a:t>attacks.</a:t>
            </a:r>
            <a:endParaRPr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146561" y="4429184"/>
            <a:ext cx="5670550" cy="94615"/>
            <a:chOff x="1146561" y="4429184"/>
            <a:chExt cx="5670550" cy="94615"/>
          </a:xfrm>
        </p:grpSpPr>
        <p:sp>
          <p:nvSpPr>
            <p:cNvPr id="3" name="object 3"/>
            <p:cNvSpPr/>
            <p:nvPr/>
          </p:nvSpPr>
          <p:spPr>
            <a:xfrm>
              <a:off x="1146561" y="4511642"/>
              <a:ext cx="5670550" cy="0"/>
            </a:xfrm>
            <a:custGeom>
              <a:avLst/>
              <a:gdLst/>
              <a:ahLst/>
              <a:cxnLst/>
              <a:rect l="l" t="t" r="r" b="b"/>
              <a:pathLst>
                <a:path w="5670550">
                  <a:moveTo>
                    <a:pt x="0" y="0"/>
                  </a:moveTo>
                  <a:lnTo>
                    <a:pt x="5669984" y="0"/>
                  </a:lnTo>
                </a:path>
              </a:pathLst>
            </a:custGeom>
            <a:ln w="23559">
              <a:solidFill>
                <a:srgbClr val="2B774B"/>
              </a:solidFill>
            </a:ln>
          </p:spPr>
          <p:txBody>
            <a:bodyPr wrap="square" lIns="0" tIns="0" rIns="0" bIns="0" rtlCol="0"/>
            <a:lstStyle/>
            <a:p>
              <a:endParaRPr/>
            </a:p>
          </p:txBody>
        </p:sp>
        <p:sp>
          <p:nvSpPr>
            <p:cNvPr id="4" name="object 4"/>
            <p:cNvSpPr/>
            <p:nvPr/>
          </p:nvSpPr>
          <p:spPr>
            <a:xfrm>
              <a:off x="1154415" y="4472377"/>
              <a:ext cx="5654675" cy="0"/>
            </a:xfrm>
            <a:custGeom>
              <a:avLst/>
              <a:gdLst/>
              <a:ahLst/>
              <a:cxnLst/>
              <a:rect l="l" t="t" r="r" b="b"/>
              <a:pathLst>
                <a:path w="5654675">
                  <a:moveTo>
                    <a:pt x="0" y="0"/>
                  </a:moveTo>
                  <a:lnTo>
                    <a:pt x="5654278" y="0"/>
                  </a:lnTo>
                </a:path>
              </a:pathLst>
            </a:custGeom>
            <a:ln w="23559">
              <a:solidFill>
                <a:srgbClr val="2B774B"/>
              </a:solidFill>
            </a:ln>
          </p:spPr>
          <p:txBody>
            <a:bodyPr wrap="square" lIns="0" tIns="0" rIns="0" bIns="0" rtlCol="0"/>
            <a:lstStyle/>
            <a:p>
              <a:endParaRPr/>
            </a:p>
          </p:txBody>
        </p:sp>
        <p:sp>
          <p:nvSpPr>
            <p:cNvPr id="5" name="object 5"/>
            <p:cNvSpPr/>
            <p:nvPr/>
          </p:nvSpPr>
          <p:spPr>
            <a:xfrm>
              <a:off x="1177974" y="4440964"/>
              <a:ext cx="5607685" cy="0"/>
            </a:xfrm>
            <a:custGeom>
              <a:avLst/>
              <a:gdLst/>
              <a:ahLst/>
              <a:cxnLst/>
              <a:rect l="l" t="t" r="r" b="b"/>
              <a:pathLst>
                <a:path w="5607684">
                  <a:moveTo>
                    <a:pt x="0" y="0"/>
                  </a:moveTo>
                  <a:lnTo>
                    <a:pt x="5607159" y="0"/>
                  </a:lnTo>
                </a:path>
              </a:pathLst>
            </a:custGeom>
            <a:ln w="23559">
              <a:solidFill>
                <a:srgbClr val="2B774B"/>
              </a:solidFill>
            </a:ln>
          </p:spPr>
          <p:txBody>
            <a:bodyPr wrap="square" lIns="0" tIns="0" rIns="0" bIns="0" rtlCol="0"/>
            <a:lstStyle/>
            <a:p>
              <a:endParaRPr/>
            </a:p>
          </p:txBody>
        </p:sp>
      </p:grpSp>
      <p:grpSp>
        <p:nvGrpSpPr>
          <p:cNvPr id="6" name="object 6"/>
          <p:cNvGrpSpPr/>
          <p:nvPr/>
        </p:nvGrpSpPr>
        <p:grpSpPr>
          <a:xfrm>
            <a:off x="7240616" y="4429184"/>
            <a:ext cx="5685790" cy="94615"/>
            <a:chOff x="7240616" y="4429184"/>
            <a:chExt cx="5685790" cy="94615"/>
          </a:xfrm>
        </p:grpSpPr>
        <p:sp>
          <p:nvSpPr>
            <p:cNvPr id="7" name="object 7"/>
            <p:cNvSpPr/>
            <p:nvPr/>
          </p:nvSpPr>
          <p:spPr>
            <a:xfrm>
              <a:off x="7240616" y="4511642"/>
              <a:ext cx="5685790" cy="0"/>
            </a:xfrm>
            <a:custGeom>
              <a:avLst/>
              <a:gdLst/>
              <a:ahLst/>
              <a:cxnLst/>
              <a:rect l="l" t="t" r="r" b="b"/>
              <a:pathLst>
                <a:path w="5685790">
                  <a:moveTo>
                    <a:pt x="0" y="0"/>
                  </a:moveTo>
                  <a:lnTo>
                    <a:pt x="5685691" y="0"/>
                  </a:lnTo>
                </a:path>
              </a:pathLst>
            </a:custGeom>
            <a:ln w="23559">
              <a:solidFill>
                <a:srgbClr val="2B774B"/>
              </a:solidFill>
            </a:ln>
          </p:spPr>
          <p:txBody>
            <a:bodyPr wrap="square" lIns="0" tIns="0" rIns="0" bIns="0" rtlCol="0"/>
            <a:lstStyle/>
            <a:p>
              <a:endParaRPr/>
            </a:p>
          </p:txBody>
        </p:sp>
        <p:sp>
          <p:nvSpPr>
            <p:cNvPr id="8" name="object 8"/>
            <p:cNvSpPr/>
            <p:nvPr/>
          </p:nvSpPr>
          <p:spPr>
            <a:xfrm>
              <a:off x="7248470" y="4472377"/>
              <a:ext cx="5670550" cy="0"/>
            </a:xfrm>
            <a:custGeom>
              <a:avLst/>
              <a:gdLst/>
              <a:ahLst/>
              <a:cxnLst/>
              <a:rect l="l" t="t" r="r" b="b"/>
              <a:pathLst>
                <a:path w="5670550">
                  <a:moveTo>
                    <a:pt x="0" y="0"/>
                  </a:moveTo>
                  <a:lnTo>
                    <a:pt x="5669984" y="0"/>
                  </a:lnTo>
                </a:path>
              </a:pathLst>
            </a:custGeom>
            <a:ln w="23559">
              <a:solidFill>
                <a:srgbClr val="2B774B"/>
              </a:solidFill>
            </a:ln>
          </p:spPr>
          <p:txBody>
            <a:bodyPr wrap="square" lIns="0" tIns="0" rIns="0" bIns="0" rtlCol="0"/>
            <a:lstStyle/>
            <a:p>
              <a:endParaRPr/>
            </a:p>
          </p:txBody>
        </p:sp>
        <p:sp>
          <p:nvSpPr>
            <p:cNvPr id="9" name="object 9"/>
            <p:cNvSpPr/>
            <p:nvPr/>
          </p:nvSpPr>
          <p:spPr>
            <a:xfrm>
              <a:off x="7272029" y="4440964"/>
              <a:ext cx="5622925" cy="0"/>
            </a:xfrm>
            <a:custGeom>
              <a:avLst/>
              <a:gdLst/>
              <a:ahLst/>
              <a:cxnLst/>
              <a:rect l="l" t="t" r="r" b="b"/>
              <a:pathLst>
                <a:path w="5622925">
                  <a:moveTo>
                    <a:pt x="0" y="0"/>
                  </a:moveTo>
                  <a:lnTo>
                    <a:pt x="5622865" y="0"/>
                  </a:lnTo>
                </a:path>
              </a:pathLst>
            </a:custGeom>
            <a:ln w="23559">
              <a:solidFill>
                <a:srgbClr val="2B774B"/>
              </a:solidFill>
            </a:ln>
          </p:spPr>
          <p:txBody>
            <a:bodyPr wrap="square" lIns="0" tIns="0" rIns="0" bIns="0" rtlCol="0"/>
            <a:lstStyle/>
            <a:p>
              <a:endParaRPr/>
            </a:p>
          </p:txBody>
        </p:sp>
      </p:grpSp>
      <p:grpSp>
        <p:nvGrpSpPr>
          <p:cNvPr id="10" name="object 10"/>
          <p:cNvGrpSpPr/>
          <p:nvPr/>
        </p:nvGrpSpPr>
        <p:grpSpPr>
          <a:xfrm>
            <a:off x="13350378" y="4429184"/>
            <a:ext cx="5670550" cy="102235"/>
            <a:chOff x="13350378" y="4429184"/>
            <a:chExt cx="5670550" cy="102235"/>
          </a:xfrm>
        </p:grpSpPr>
        <p:sp>
          <p:nvSpPr>
            <p:cNvPr id="11" name="object 11"/>
            <p:cNvSpPr/>
            <p:nvPr/>
          </p:nvSpPr>
          <p:spPr>
            <a:xfrm>
              <a:off x="13350378" y="4519496"/>
              <a:ext cx="5670550" cy="0"/>
            </a:xfrm>
            <a:custGeom>
              <a:avLst/>
              <a:gdLst/>
              <a:ahLst/>
              <a:cxnLst/>
              <a:rect l="l" t="t" r="r" b="b"/>
              <a:pathLst>
                <a:path w="5670550">
                  <a:moveTo>
                    <a:pt x="0" y="0"/>
                  </a:moveTo>
                  <a:lnTo>
                    <a:pt x="5669984" y="0"/>
                  </a:lnTo>
                </a:path>
              </a:pathLst>
            </a:custGeom>
            <a:ln w="23559">
              <a:solidFill>
                <a:srgbClr val="2B774B"/>
              </a:solidFill>
            </a:ln>
          </p:spPr>
          <p:txBody>
            <a:bodyPr wrap="square" lIns="0" tIns="0" rIns="0" bIns="0" rtlCol="0"/>
            <a:lstStyle/>
            <a:p>
              <a:endParaRPr/>
            </a:p>
          </p:txBody>
        </p:sp>
        <p:sp>
          <p:nvSpPr>
            <p:cNvPr id="12" name="object 12"/>
            <p:cNvSpPr/>
            <p:nvPr/>
          </p:nvSpPr>
          <p:spPr>
            <a:xfrm>
              <a:off x="13358232" y="4472377"/>
              <a:ext cx="5654675" cy="0"/>
            </a:xfrm>
            <a:custGeom>
              <a:avLst/>
              <a:gdLst/>
              <a:ahLst/>
              <a:cxnLst/>
              <a:rect l="l" t="t" r="r" b="b"/>
              <a:pathLst>
                <a:path w="5654675">
                  <a:moveTo>
                    <a:pt x="0" y="0"/>
                  </a:moveTo>
                  <a:lnTo>
                    <a:pt x="5654278" y="0"/>
                  </a:lnTo>
                </a:path>
              </a:pathLst>
            </a:custGeom>
            <a:ln w="23559">
              <a:solidFill>
                <a:srgbClr val="2B774B"/>
              </a:solidFill>
            </a:ln>
          </p:spPr>
          <p:txBody>
            <a:bodyPr wrap="square" lIns="0" tIns="0" rIns="0" bIns="0" rtlCol="0"/>
            <a:lstStyle/>
            <a:p>
              <a:endParaRPr/>
            </a:p>
          </p:txBody>
        </p:sp>
        <p:sp>
          <p:nvSpPr>
            <p:cNvPr id="13" name="object 13"/>
            <p:cNvSpPr/>
            <p:nvPr/>
          </p:nvSpPr>
          <p:spPr>
            <a:xfrm>
              <a:off x="13397497" y="4440964"/>
              <a:ext cx="5575935" cy="0"/>
            </a:xfrm>
            <a:custGeom>
              <a:avLst/>
              <a:gdLst/>
              <a:ahLst/>
              <a:cxnLst/>
              <a:rect l="l" t="t" r="r" b="b"/>
              <a:pathLst>
                <a:path w="5575934">
                  <a:moveTo>
                    <a:pt x="0" y="0"/>
                  </a:moveTo>
                  <a:lnTo>
                    <a:pt x="5575746" y="0"/>
                  </a:lnTo>
                </a:path>
              </a:pathLst>
            </a:custGeom>
            <a:ln w="23559">
              <a:solidFill>
                <a:srgbClr val="2B774B"/>
              </a:solidFill>
            </a:ln>
          </p:spPr>
          <p:txBody>
            <a:bodyPr wrap="square" lIns="0" tIns="0" rIns="0" bIns="0" rtlCol="0"/>
            <a:lstStyle/>
            <a:p>
              <a:endParaRPr/>
            </a:p>
          </p:txBody>
        </p:sp>
      </p:grpSp>
      <p:pic>
        <p:nvPicPr>
          <p:cNvPr id="14" name="object 14"/>
          <p:cNvPicPr/>
          <p:nvPr/>
        </p:nvPicPr>
        <p:blipFill>
          <a:blip r:embed="rId2" cstate="print"/>
          <a:stretch>
            <a:fillRect/>
          </a:stretch>
        </p:blipFill>
        <p:spPr>
          <a:xfrm>
            <a:off x="1099442" y="785316"/>
            <a:ext cx="94237" cy="643959"/>
          </a:xfrm>
          <a:prstGeom prst="rect">
            <a:avLst/>
          </a:prstGeom>
        </p:spPr>
      </p:pic>
      <p:sp>
        <p:nvSpPr>
          <p:cNvPr id="15" name="object 15" descr="$PPTXTitle"/>
          <p:cNvSpPr txBox="1">
            <a:spLocks noGrp="1"/>
          </p:cNvSpPr>
          <p:nvPr>
            <p:ph type="title"/>
          </p:nvPr>
        </p:nvSpPr>
        <p:spPr>
          <a:xfrm>
            <a:off x="1006410" y="612935"/>
            <a:ext cx="7170345" cy="796494"/>
          </a:xfrm>
          <a:prstGeom prst="rect">
            <a:avLst/>
          </a:prstGeom>
        </p:spPr>
        <p:txBody>
          <a:bodyPr vert="horz" wrap="square" lIns="0" tIns="102991" rIns="0" bIns="0" rtlCol="0">
            <a:spAutoFit/>
          </a:bodyPr>
          <a:lstStyle/>
          <a:p>
            <a:pPr marL="495934">
              <a:lnSpc>
                <a:spcPct val="100000"/>
              </a:lnSpc>
              <a:spcBef>
                <a:spcPts val="105"/>
              </a:spcBef>
            </a:pPr>
            <a:r>
              <a:rPr sz="4500" b="1" dirty="0">
                <a:latin typeface="Arial MT"/>
                <a:cs typeface="Arial MT"/>
              </a:rPr>
              <a:t>Defined</a:t>
            </a:r>
            <a:r>
              <a:rPr sz="4500" b="1" spc="-30" dirty="0">
                <a:latin typeface="Arial MT"/>
                <a:cs typeface="Arial MT"/>
              </a:rPr>
              <a:t> </a:t>
            </a:r>
            <a:r>
              <a:rPr sz="4500" b="1" dirty="0">
                <a:solidFill>
                  <a:srgbClr val="0A522B"/>
                </a:solidFill>
                <a:latin typeface="Arial MT"/>
                <a:cs typeface="Arial MT"/>
              </a:rPr>
              <a:t>Project</a:t>
            </a:r>
            <a:r>
              <a:rPr sz="4500" b="1" spc="-30" dirty="0">
                <a:solidFill>
                  <a:srgbClr val="0A522B"/>
                </a:solidFill>
                <a:latin typeface="Arial MT"/>
                <a:cs typeface="Arial MT"/>
              </a:rPr>
              <a:t> </a:t>
            </a:r>
            <a:r>
              <a:rPr sz="4500" b="1" spc="-10" dirty="0">
                <a:solidFill>
                  <a:srgbClr val="08542A"/>
                </a:solidFill>
                <a:latin typeface="Arial MT"/>
                <a:cs typeface="Arial MT"/>
              </a:rPr>
              <a:t>Scope</a:t>
            </a:r>
            <a:endParaRPr sz="4500" b="1" dirty="0">
              <a:latin typeface="Arial MT"/>
              <a:cs typeface="Arial MT"/>
            </a:endParaRPr>
          </a:p>
        </p:txBody>
      </p:sp>
      <p:sp>
        <p:nvSpPr>
          <p:cNvPr id="16" name="object 16"/>
          <p:cNvSpPr txBox="1"/>
          <p:nvPr/>
        </p:nvSpPr>
        <p:spPr>
          <a:xfrm>
            <a:off x="2269654" y="4913197"/>
            <a:ext cx="3335020" cy="438150"/>
          </a:xfrm>
          <a:prstGeom prst="rect">
            <a:avLst/>
          </a:prstGeom>
        </p:spPr>
        <p:txBody>
          <a:bodyPr vert="horz" wrap="square" lIns="0" tIns="13335" rIns="0" bIns="0" rtlCol="0">
            <a:spAutoFit/>
          </a:bodyPr>
          <a:lstStyle/>
          <a:p>
            <a:pPr marL="12700">
              <a:lnSpc>
                <a:spcPct val="100000"/>
              </a:lnSpc>
              <a:spcBef>
                <a:spcPts val="105"/>
              </a:spcBef>
            </a:pPr>
            <a:r>
              <a:rPr sz="2700" spc="-415" dirty="0">
                <a:solidFill>
                  <a:srgbClr val="07572D"/>
                </a:solidFill>
                <a:latin typeface="Arial MT"/>
                <a:cs typeface="Arial MT"/>
              </a:rPr>
              <a:t>@</a:t>
            </a:r>
            <a:r>
              <a:rPr sz="2700" spc="200" dirty="0">
                <a:solidFill>
                  <a:srgbClr val="07572D"/>
                </a:solidFill>
                <a:latin typeface="Arial MT"/>
                <a:cs typeface="Arial MT"/>
              </a:rPr>
              <a:t> </a:t>
            </a:r>
            <a:r>
              <a:rPr sz="2700" b="1" spc="-75" dirty="0">
                <a:solidFill>
                  <a:srgbClr val="0C4F38"/>
                </a:solidFill>
                <a:latin typeface="Arial"/>
                <a:cs typeface="Arial"/>
              </a:rPr>
              <a:t>Biological</a:t>
            </a:r>
            <a:r>
              <a:rPr sz="2700" b="1" spc="-85" dirty="0">
                <a:solidFill>
                  <a:srgbClr val="0C4F38"/>
                </a:solidFill>
                <a:latin typeface="Arial"/>
                <a:cs typeface="Arial"/>
              </a:rPr>
              <a:t> </a:t>
            </a:r>
            <a:r>
              <a:rPr sz="2700" b="1" spc="-10" dirty="0">
                <a:solidFill>
                  <a:srgbClr val="0F4D36"/>
                </a:solidFill>
                <a:latin typeface="Arial"/>
                <a:cs typeface="Arial"/>
              </a:rPr>
              <a:t>Domain</a:t>
            </a:r>
            <a:endParaRPr sz="2700">
              <a:latin typeface="Arial"/>
              <a:cs typeface="Arial"/>
            </a:endParaRPr>
          </a:p>
        </p:txBody>
      </p:sp>
      <p:sp>
        <p:nvSpPr>
          <p:cNvPr id="17" name="object 17"/>
          <p:cNvSpPr txBox="1"/>
          <p:nvPr/>
        </p:nvSpPr>
        <p:spPr>
          <a:xfrm>
            <a:off x="1489451" y="5593150"/>
            <a:ext cx="4912360" cy="2947858"/>
          </a:xfrm>
          <a:prstGeom prst="rect">
            <a:avLst/>
          </a:prstGeom>
        </p:spPr>
        <p:txBody>
          <a:bodyPr vert="horz" wrap="square" lIns="0" tIns="10795" rIns="0" bIns="0" rtlCol="0">
            <a:spAutoFit/>
          </a:bodyPr>
          <a:lstStyle/>
          <a:p>
            <a:pPr marL="12700" marR="5080" algn="just">
              <a:lnSpc>
                <a:spcPct val="115199"/>
              </a:lnSpc>
              <a:spcBef>
                <a:spcPts val="85"/>
              </a:spcBef>
            </a:pPr>
            <a:r>
              <a:rPr sz="2400" spc="-155" dirty="0">
                <a:solidFill>
                  <a:srgbClr val="4D4D4D"/>
                </a:solidFill>
                <a:latin typeface="Arial MT"/>
                <a:cs typeface="Arial MT"/>
              </a:rPr>
              <a:t>The</a:t>
            </a:r>
            <a:r>
              <a:rPr sz="2400" spc="20" dirty="0">
                <a:solidFill>
                  <a:srgbClr val="4D4D4D"/>
                </a:solidFill>
                <a:latin typeface="Arial MT"/>
                <a:cs typeface="Arial MT"/>
              </a:rPr>
              <a:t> </a:t>
            </a:r>
            <a:r>
              <a:rPr sz="2400" dirty="0">
                <a:solidFill>
                  <a:srgbClr val="3F3F3F"/>
                </a:solidFill>
                <a:latin typeface="Arial MT"/>
                <a:cs typeface="Arial MT"/>
              </a:rPr>
              <a:t>biological</a:t>
            </a:r>
            <a:r>
              <a:rPr sz="2400" spc="-125" dirty="0">
                <a:solidFill>
                  <a:srgbClr val="3F3F3F"/>
                </a:solidFill>
                <a:latin typeface="Arial MT"/>
                <a:cs typeface="Arial MT"/>
              </a:rPr>
              <a:t> </a:t>
            </a:r>
            <a:r>
              <a:rPr sz="2400" dirty="0">
                <a:solidFill>
                  <a:srgbClr val="424242"/>
                </a:solidFill>
                <a:latin typeface="Arial MT"/>
                <a:cs typeface="Arial MT"/>
              </a:rPr>
              <a:t>scope</a:t>
            </a:r>
            <a:r>
              <a:rPr sz="2400" spc="-125" dirty="0">
                <a:solidFill>
                  <a:srgbClr val="424242"/>
                </a:solidFill>
                <a:latin typeface="Arial MT"/>
                <a:cs typeface="Arial MT"/>
              </a:rPr>
              <a:t> </a:t>
            </a:r>
            <a:r>
              <a:rPr sz="2400" spc="-25" dirty="0">
                <a:solidFill>
                  <a:srgbClr val="505050"/>
                </a:solidFill>
                <a:latin typeface="Arial MT"/>
                <a:cs typeface="Arial MT"/>
              </a:rPr>
              <a:t>limits</a:t>
            </a:r>
            <a:r>
              <a:rPr sz="2400" spc="-35" dirty="0">
                <a:solidFill>
                  <a:srgbClr val="505050"/>
                </a:solidFill>
                <a:latin typeface="Arial MT"/>
                <a:cs typeface="Arial MT"/>
              </a:rPr>
              <a:t> </a:t>
            </a:r>
            <a:r>
              <a:rPr sz="2400" dirty="0">
                <a:solidFill>
                  <a:srgbClr val="424242"/>
                </a:solidFill>
                <a:latin typeface="Arial MT"/>
                <a:cs typeface="Arial MT"/>
              </a:rPr>
              <a:t>carriers</a:t>
            </a:r>
            <a:r>
              <a:rPr sz="2400" spc="85" dirty="0">
                <a:solidFill>
                  <a:srgbClr val="424242"/>
                </a:solidFill>
                <a:latin typeface="Arial MT"/>
                <a:cs typeface="Arial MT"/>
              </a:rPr>
              <a:t> </a:t>
            </a:r>
            <a:r>
              <a:rPr sz="2400" dirty="0">
                <a:solidFill>
                  <a:srgbClr val="3F3F3F"/>
                </a:solidFill>
                <a:latin typeface="Arial MT"/>
                <a:cs typeface="Arial MT"/>
              </a:rPr>
              <a:t>to</a:t>
            </a:r>
            <a:r>
              <a:rPr sz="2400" spc="175" dirty="0">
                <a:solidFill>
                  <a:srgbClr val="3F3F3F"/>
                </a:solidFill>
                <a:latin typeface="Arial MT"/>
                <a:cs typeface="Arial MT"/>
              </a:rPr>
              <a:t> </a:t>
            </a:r>
            <a:r>
              <a:rPr sz="2400" spc="-10" dirty="0">
                <a:solidFill>
                  <a:srgbClr val="444444"/>
                </a:solidFill>
                <a:latin typeface="Arial MT"/>
                <a:cs typeface="Arial MT"/>
              </a:rPr>
              <a:t>sequenced </a:t>
            </a:r>
            <a:r>
              <a:rPr sz="2400" dirty="0">
                <a:solidFill>
                  <a:srgbClr val="464646"/>
                </a:solidFill>
                <a:latin typeface="Arial MT"/>
                <a:cs typeface="Arial MT"/>
              </a:rPr>
              <a:t>genomic</a:t>
            </a:r>
            <a:r>
              <a:rPr sz="2400" spc="305" dirty="0">
                <a:solidFill>
                  <a:srgbClr val="464646"/>
                </a:solidFill>
                <a:latin typeface="Arial MT"/>
                <a:cs typeface="Arial MT"/>
              </a:rPr>
              <a:t> </a:t>
            </a:r>
            <a:r>
              <a:rPr sz="2400" dirty="0">
                <a:solidFill>
                  <a:srgbClr val="3D3D3D"/>
                </a:solidFill>
                <a:latin typeface="Arial MT"/>
                <a:cs typeface="Arial MT"/>
              </a:rPr>
              <a:t>datasets</a:t>
            </a:r>
            <a:r>
              <a:rPr sz="2400" spc="195" dirty="0">
                <a:solidFill>
                  <a:srgbClr val="3D3D3D"/>
                </a:solidFill>
                <a:latin typeface="Arial MT"/>
                <a:cs typeface="Arial MT"/>
              </a:rPr>
              <a:t> </a:t>
            </a:r>
            <a:r>
              <a:rPr sz="2400" dirty="0">
                <a:solidFill>
                  <a:srgbClr val="464646"/>
                </a:solidFill>
                <a:latin typeface="Arial MT"/>
                <a:cs typeface="Arial MT"/>
              </a:rPr>
              <a:t>(such</a:t>
            </a:r>
            <a:r>
              <a:rPr sz="2400" spc="240" dirty="0">
                <a:solidFill>
                  <a:srgbClr val="464646"/>
                </a:solidFill>
                <a:latin typeface="Arial MT"/>
                <a:cs typeface="Arial MT"/>
              </a:rPr>
              <a:t> </a:t>
            </a:r>
            <a:r>
              <a:rPr sz="2400" dirty="0">
                <a:solidFill>
                  <a:srgbClr val="4F4F4F"/>
                </a:solidFill>
                <a:latin typeface="Arial MT"/>
                <a:cs typeface="Arial MT"/>
              </a:rPr>
              <a:t>as</a:t>
            </a:r>
            <a:r>
              <a:rPr sz="2400" spc="250" dirty="0">
                <a:solidFill>
                  <a:srgbClr val="4F4F4F"/>
                </a:solidFill>
                <a:latin typeface="Arial MT"/>
                <a:cs typeface="Arial MT"/>
              </a:rPr>
              <a:t> </a:t>
            </a:r>
            <a:r>
              <a:rPr sz="2400" dirty="0">
                <a:solidFill>
                  <a:srgbClr val="4B4B4B"/>
                </a:solidFill>
                <a:latin typeface="Arial MT"/>
                <a:cs typeface="Arial MT"/>
              </a:rPr>
              <a:t>standard</a:t>
            </a:r>
            <a:r>
              <a:rPr sz="2400" spc="215" dirty="0">
                <a:solidFill>
                  <a:srgbClr val="4B4B4B"/>
                </a:solidFill>
                <a:latin typeface="Arial MT"/>
                <a:cs typeface="Arial MT"/>
              </a:rPr>
              <a:t> </a:t>
            </a:r>
            <a:r>
              <a:rPr sz="2400" spc="-10" dirty="0">
                <a:solidFill>
                  <a:srgbClr val="424242"/>
                </a:solidFill>
                <a:latin typeface="Arial MT"/>
                <a:cs typeface="Arial MT"/>
              </a:rPr>
              <a:t>reference </a:t>
            </a:r>
            <a:r>
              <a:rPr sz="2400" spc="-10" dirty="0">
                <a:solidFill>
                  <a:srgbClr val="494949"/>
                </a:solidFill>
                <a:latin typeface="Arial MT"/>
                <a:cs typeface="Arial MT"/>
              </a:rPr>
              <a:t>human,</a:t>
            </a:r>
            <a:r>
              <a:rPr sz="2400" spc="80" dirty="0">
                <a:solidFill>
                  <a:srgbClr val="494949"/>
                </a:solidFill>
                <a:latin typeface="Arial MT"/>
                <a:cs typeface="Arial MT"/>
              </a:rPr>
              <a:t> </a:t>
            </a:r>
            <a:r>
              <a:rPr sz="2400" dirty="0">
                <a:solidFill>
                  <a:srgbClr val="4F4F4F"/>
                </a:solidFill>
                <a:latin typeface="Arial MT"/>
                <a:cs typeface="Arial MT"/>
              </a:rPr>
              <a:t>plant,</a:t>
            </a:r>
            <a:r>
              <a:rPr sz="2400" spc="35" dirty="0">
                <a:solidFill>
                  <a:srgbClr val="4F4F4F"/>
                </a:solidFill>
                <a:latin typeface="Arial MT"/>
                <a:cs typeface="Arial MT"/>
              </a:rPr>
              <a:t> </a:t>
            </a:r>
            <a:r>
              <a:rPr sz="2400" dirty="0">
                <a:solidFill>
                  <a:srgbClr val="4F4F4F"/>
                </a:solidFill>
                <a:latin typeface="Arial MT"/>
                <a:cs typeface="Arial MT"/>
              </a:rPr>
              <a:t>or</a:t>
            </a:r>
            <a:r>
              <a:rPr sz="2400" spc="-80" dirty="0">
                <a:solidFill>
                  <a:srgbClr val="4F4F4F"/>
                </a:solidFill>
                <a:latin typeface="Arial MT"/>
                <a:cs typeface="Arial MT"/>
              </a:rPr>
              <a:t> </a:t>
            </a:r>
            <a:r>
              <a:rPr sz="2400" dirty="0">
                <a:solidFill>
                  <a:srgbClr val="484848"/>
                </a:solidFill>
                <a:latin typeface="Arial MT"/>
                <a:cs typeface="Arial MT"/>
              </a:rPr>
              <a:t>bacterial</a:t>
            </a:r>
            <a:r>
              <a:rPr sz="2400" spc="-30" dirty="0">
                <a:solidFill>
                  <a:srgbClr val="484848"/>
                </a:solidFill>
                <a:latin typeface="Arial MT"/>
                <a:cs typeface="Arial MT"/>
              </a:rPr>
              <a:t> </a:t>
            </a:r>
            <a:r>
              <a:rPr sz="2400" spc="-25" dirty="0">
                <a:solidFill>
                  <a:srgbClr val="444444"/>
                </a:solidFill>
                <a:latin typeface="Arial MT"/>
                <a:cs typeface="Arial MT"/>
              </a:rPr>
              <a:t>GenBank</a:t>
            </a:r>
            <a:r>
              <a:rPr sz="2400" spc="35" dirty="0">
                <a:solidFill>
                  <a:srgbClr val="444444"/>
                </a:solidFill>
                <a:latin typeface="Arial MT"/>
                <a:cs typeface="Arial MT"/>
              </a:rPr>
              <a:t> </a:t>
            </a:r>
            <a:r>
              <a:rPr sz="2400" spc="-10" dirty="0">
                <a:solidFill>
                  <a:srgbClr val="494949"/>
                </a:solidFill>
                <a:latin typeface="Arial MT"/>
                <a:cs typeface="Arial MT"/>
              </a:rPr>
              <a:t>sequences). </a:t>
            </a:r>
            <a:r>
              <a:rPr sz="2400" dirty="0">
                <a:solidFill>
                  <a:srgbClr val="444444"/>
                </a:solidFill>
                <a:latin typeface="Arial MT"/>
                <a:cs typeface="Arial MT"/>
              </a:rPr>
              <a:t>It</a:t>
            </a:r>
            <a:r>
              <a:rPr sz="2400" spc="-125" dirty="0">
                <a:solidFill>
                  <a:srgbClr val="444444"/>
                </a:solidFill>
                <a:latin typeface="Arial MT"/>
                <a:cs typeface="Arial MT"/>
              </a:rPr>
              <a:t> </a:t>
            </a:r>
            <a:r>
              <a:rPr sz="2400" dirty="0">
                <a:solidFill>
                  <a:srgbClr val="444444"/>
                </a:solidFill>
                <a:latin typeface="Arial MT"/>
                <a:cs typeface="Arial MT"/>
              </a:rPr>
              <a:t>focuses</a:t>
            </a:r>
            <a:r>
              <a:rPr sz="2400" spc="10" dirty="0">
                <a:solidFill>
                  <a:srgbClr val="444444"/>
                </a:solidFill>
                <a:latin typeface="Arial MT"/>
                <a:cs typeface="Arial MT"/>
              </a:rPr>
              <a:t> </a:t>
            </a:r>
            <a:r>
              <a:rPr sz="2400" dirty="0">
                <a:solidFill>
                  <a:srgbClr val="4B4B4B"/>
                </a:solidFill>
                <a:latin typeface="Arial MT"/>
                <a:cs typeface="Arial MT"/>
              </a:rPr>
              <a:t>on</a:t>
            </a:r>
            <a:r>
              <a:rPr sz="2400" spc="-75" dirty="0">
                <a:solidFill>
                  <a:srgbClr val="4B4B4B"/>
                </a:solidFill>
                <a:latin typeface="Arial MT"/>
                <a:cs typeface="Arial MT"/>
              </a:rPr>
              <a:t> </a:t>
            </a:r>
            <a:r>
              <a:rPr sz="2400" dirty="0">
                <a:solidFill>
                  <a:srgbClr val="464646"/>
                </a:solidFill>
                <a:latin typeface="Arial MT"/>
                <a:cs typeface="Arial MT"/>
              </a:rPr>
              <a:t>simulating</a:t>
            </a:r>
            <a:r>
              <a:rPr sz="2400" spc="75" dirty="0">
                <a:solidFill>
                  <a:srgbClr val="464646"/>
                </a:solidFill>
                <a:latin typeface="Arial MT"/>
                <a:cs typeface="Arial MT"/>
              </a:rPr>
              <a:t> </a:t>
            </a:r>
            <a:r>
              <a:rPr sz="2400" spc="-25" dirty="0">
                <a:solidFill>
                  <a:srgbClr val="444444"/>
                </a:solidFill>
                <a:latin typeface="Arial MT"/>
                <a:cs typeface="Arial MT"/>
              </a:rPr>
              <a:t>real</a:t>
            </a:r>
            <a:r>
              <a:rPr sz="2400" spc="-100" dirty="0">
                <a:solidFill>
                  <a:srgbClr val="444444"/>
                </a:solidFill>
                <a:latin typeface="Arial MT"/>
                <a:cs typeface="Arial MT"/>
              </a:rPr>
              <a:t> </a:t>
            </a:r>
            <a:r>
              <a:rPr sz="2400" dirty="0">
                <a:solidFill>
                  <a:srgbClr val="424242"/>
                </a:solidFill>
                <a:latin typeface="Arial MT"/>
                <a:cs typeface="Arial MT"/>
              </a:rPr>
              <a:t>mutations,</a:t>
            </a:r>
            <a:r>
              <a:rPr sz="2400" spc="170" dirty="0">
                <a:solidFill>
                  <a:srgbClr val="424242"/>
                </a:solidFill>
                <a:latin typeface="Arial MT"/>
                <a:cs typeface="Arial MT"/>
              </a:rPr>
              <a:t> </a:t>
            </a:r>
            <a:r>
              <a:rPr sz="2400" spc="-10" dirty="0">
                <a:solidFill>
                  <a:srgbClr val="444444"/>
                </a:solidFill>
                <a:latin typeface="Arial MT"/>
                <a:cs typeface="Arial MT"/>
              </a:rPr>
              <a:t>avoiding </a:t>
            </a:r>
            <a:r>
              <a:rPr sz="2400" dirty="0">
                <a:solidFill>
                  <a:srgbClr val="484848"/>
                </a:solidFill>
                <a:latin typeface="Arial MT"/>
                <a:cs typeface="Arial MT"/>
              </a:rPr>
              <a:t>synthetic</a:t>
            </a:r>
            <a:r>
              <a:rPr sz="2400" spc="25" dirty="0">
                <a:solidFill>
                  <a:srgbClr val="484848"/>
                </a:solidFill>
                <a:latin typeface="Arial MT"/>
                <a:cs typeface="Arial MT"/>
              </a:rPr>
              <a:t> </a:t>
            </a:r>
            <a:r>
              <a:rPr sz="2400" dirty="0">
                <a:solidFill>
                  <a:srgbClr val="444444"/>
                </a:solidFill>
                <a:latin typeface="Arial MT"/>
                <a:cs typeface="Arial MT"/>
              </a:rPr>
              <a:t>patterns</a:t>
            </a:r>
            <a:r>
              <a:rPr sz="2400" spc="-55" dirty="0">
                <a:solidFill>
                  <a:srgbClr val="444444"/>
                </a:solidFill>
                <a:latin typeface="Arial MT"/>
                <a:cs typeface="Arial MT"/>
              </a:rPr>
              <a:t> </a:t>
            </a:r>
            <a:r>
              <a:rPr sz="2400" dirty="0">
                <a:solidFill>
                  <a:srgbClr val="494949"/>
                </a:solidFill>
                <a:latin typeface="Arial MT"/>
                <a:cs typeface="Arial MT"/>
              </a:rPr>
              <a:t>that</a:t>
            </a:r>
            <a:r>
              <a:rPr sz="2400" spc="-130" dirty="0">
                <a:solidFill>
                  <a:srgbClr val="494949"/>
                </a:solidFill>
                <a:latin typeface="Arial MT"/>
                <a:cs typeface="Arial MT"/>
              </a:rPr>
              <a:t> </a:t>
            </a:r>
            <a:r>
              <a:rPr sz="2400" spc="-45" dirty="0">
                <a:solidFill>
                  <a:srgbClr val="464646"/>
                </a:solidFill>
                <a:latin typeface="Arial MT"/>
                <a:cs typeface="Arial MT"/>
              </a:rPr>
              <a:t>easily</a:t>
            </a:r>
            <a:r>
              <a:rPr sz="2400" spc="-70" dirty="0">
                <a:solidFill>
                  <a:srgbClr val="464646"/>
                </a:solidFill>
                <a:latin typeface="Arial MT"/>
                <a:cs typeface="Arial MT"/>
              </a:rPr>
              <a:t> </a:t>
            </a:r>
            <a:r>
              <a:rPr sz="2400" dirty="0">
                <a:solidFill>
                  <a:srgbClr val="424242"/>
                </a:solidFill>
                <a:latin typeface="Arial MT"/>
                <a:cs typeface="Arial MT"/>
              </a:rPr>
              <a:t>trigger</a:t>
            </a:r>
            <a:r>
              <a:rPr sz="2400" spc="45" dirty="0">
                <a:solidFill>
                  <a:srgbClr val="424242"/>
                </a:solidFill>
                <a:latin typeface="Arial MT"/>
                <a:cs typeface="Arial MT"/>
              </a:rPr>
              <a:t> </a:t>
            </a:r>
            <a:r>
              <a:rPr sz="2400" spc="-10" dirty="0">
                <a:solidFill>
                  <a:srgbClr val="444444"/>
                </a:solidFill>
                <a:latin typeface="Arial MT"/>
                <a:cs typeface="Arial MT"/>
              </a:rPr>
              <a:t>detection</a:t>
            </a:r>
            <a:r>
              <a:rPr sz="1800" spc="-10" dirty="0">
                <a:solidFill>
                  <a:srgbClr val="444444"/>
                </a:solidFill>
                <a:latin typeface="Arial MT"/>
                <a:cs typeface="Arial MT"/>
              </a:rPr>
              <a:t>.</a:t>
            </a:r>
            <a:endParaRPr sz="1800" dirty="0">
              <a:latin typeface="Arial MT"/>
              <a:cs typeface="Arial MT"/>
            </a:endParaRPr>
          </a:p>
        </p:txBody>
      </p:sp>
      <p:sp>
        <p:nvSpPr>
          <p:cNvPr id="18" name="object 18"/>
          <p:cNvSpPr txBox="1"/>
          <p:nvPr/>
        </p:nvSpPr>
        <p:spPr>
          <a:xfrm>
            <a:off x="7590216" y="4913197"/>
            <a:ext cx="4923155" cy="4075988"/>
          </a:xfrm>
          <a:prstGeom prst="rect">
            <a:avLst/>
          </a:prstGeom>
        </p:spPr>
        <p:txBody>
          <a:bodyPr vert="horz" wrap="square" lIns="0" tIns="13335" rIns="0" bIns="0" rtlCol="0">
            <a:spAutoFit/>
          </a:bodyPr>
          <a:lstStyle/>
          <a:p>
            <a:pPr marR="17145" algn="ctr">
              <a:lnSpc>
                <a:spcPct val="100000"/>
              </a:lnSpc>
              <a:spcBef>
                <a:spcPts val="105"/>
              </a:spcBef>
            </a:pPr>
            <a:r>
              <a:rPr sz="2700" b="1" spc="-70" dirty="0">
                <a:solidFill>
                  <a:srgbClr val="003321"/>
                </a:solidFill>
                <a:latin typeface="Arial"/>
                <a:cs typeface="Arial"/>
              </a:rPr>
              <a:t>«/»</a:t>
            </a:r>
            <a:r>
              <a:rPr sz="2700" b="1" spc="-45" dirty="0">
                <a:solidFill>
                  <a:srgbClr val="003321"/>
                </a:solidFill>
                <a:latin typeface="Arial"/>
                <a:cs typeface="Arial"/>
              </a:rPr>
              <a:t> </a:t>
            </a:r>
            <a:r>
              <a:rPr sz="2700" b="1" spc="-30" dirty="0">
                <a:solidFill>
                  <a:srgbClr val="055436"/>
                </a:solidFill>
                <a:latin typeface="Arial"/>
                <a:cs typeface="Arial"/>
              </a:rPr>
              <a:t>Technical</a:t>
            </a:r>
            <a:r>
              <a:rPr sz="2700" b="1" spc="-155" dirty="0">
                <a:solidFill>
                  <a:srgbClr val="055436"/>
                </a:solidFill>
                <a:latin typeface="Arial"/>
                <a:cs typeface="Arial"/>
              </a:rPr>
              <a:t> </a:t>
            </a:r>
            <a:r>
              <a:rPr sz="2700" b="1" spc="-10" dirty="0">
                <a:solidFill>
                  <a:srgbClr val="005636"/>
                </a:solidFill>
                <a:latin typeface="Arial"/>
                <a:cs typeface="Arial"/>
              </a:rPr>
              <a:t>Stock</a:t>
            </a:r>
            <a:endParaRPr sz="2700" dirty="0">
              <a:latin typeface="Arial"/>
              <a:cs typeface="Arial"/>
            </a:endParaRPr>
          </a:p>
          <a:p>
            <a:pPr marL="12700" marR="5080" indent="635" algn="just">
              <a:lnSpc>
                <a:spcPct val="115700"/>
              </a:lnSpc>
              <a:spcBef>
                <a:spcPts val="2020"/>
              </a:spcBef>
            </a:pPr>
            <a:r>
              <a:rPr sz="2400" dirty="0">
                <a:solidFill>
                  <a:srgbClr val="3F3F3F"/>
                </a:solidFill>
                <a:latin typeface="Arial MT"/>
                <a:cs typeface="Arial MT"/>
              </a:rPr>
              <a:t>Implementation</a:t>
            </a:r>
            <a:r>
              <a:rPr sz="2400" spc="20" dirty="0">
                <a:solidFill>
                  <a:srgbClr val="3F3F3F"/>
                </a:solidFill>
                <a:latin typeface="Arial MT"/>
                <a:cs typeface="Arial MT"/>
              </a:rPr>
              <a:t>  </a:t>
            </a:r>
            <a:r>
              <a:rPr sz="2400" spc="65" dirty="0">
                <a:solidFill>
                  <a:srgbClr val="3D3D3D"/>
                </a:solidFill>
                <a:latin typeface="Arial MT"/>
                <a:cs typeface="Arial MT"/>
              </a:rPr>
              <a:t>of</a:t>
            </a:r>
            <a:r>
              <a:rPr sz="2400" spc="85" dirty="0">
                <a:solidFill>
                  <a:srgbClr val="3D3D3D"/>
                </a:solidFill>
                <a:latin typeface="Arial MT"/>
                <a:cs typeface="Arial MT"/>
              </a:rPr>
              <a:t>  </a:t>
            </a:r>
            <a:r>
              <a:rPr sz="2400" dirty="0">
                <a:solidFill>
                  <a:srgbClr val="3B3B3B"/>
                </a:solidFill>
                <a:latin typeface="Arial MT"/>
                <a:cs typeface="Arial MT"/>
              </a:rPr>
              <a:t>custom</a:t>
            </a:r>
            <a:r>
              <a:rPr sz="2400" spc="45" dirty="0">
                <a:solidFill>
                  <a:srgbClr val="3B3B3B"/>
                </a:solidFill>
                <a:latin typeface="Arial MT"/>
                <a:cs typeface="Arial MT"/>
              </a:rPr>
              <a:t>  </a:t>
            </a:r>
            <a:r>
              <a:rPr sz="2400" dirty="0">
                <a:solidFill>
                  <a:srgbClr val="494949"/>
                </a:solidFill>
                <a:latin typeface="Arial MT"/>
                <a:cs typeface="Arial MT"/>
              </a:rPr>
              <a:t>Python</a:t>
            </a:r>
            <a:r>
              <a:rPr sz="2400" spc="85" dirty="0">
                <a:solidFill>
                  <a:srgbClr val="494949"/>
                </a:solidFill>
                <a:latin typeface="Arial MT"/>
                <a:cs typeface="Arial MT"/>
              </a:rPr>
              <a:t>  </a:t>
            </a:r>
            <a:r>
              <a:rPr sz="2400" spc="-10" dirty="0">
                <a:solidFill>
                  <a:srgbClr val="444444"/>
                </a:solidFill>
                <a:latin typeface="Arial MT"/>
                <a:cs typeface="Arial MT"/>
              </a:rPr>
              <a:t>algorithms </a:t>
            </a:r>
            <a:r>
              <a:rPr sz="2400" spc="-10" dirty="0">
                <a:solidFill>
                  <a:srgbClr val="424242"/>
                </a:solidFill>
                <a:latin typeface="Arial MT"/>
                <a:cs typeface="Arial MT"/>
              </a:rPr>
              <a:t>utilizing</a:t>
            </a:r>
            <a:r>
              <a:rPr sz="2400" spc="-80" dirty="0">
                <a:solidFill>
                  <a:srgbClr val="424242"/>
                </a:solidFill>
                <a:latin typeface="Arial MT"/>
                <a:cs typeface="Arial MT"/>
              </a:rPr>
              <a:t> </a:t>
            </a:r>
            <a:r>
              <a:rPr sz="2400" dirty="0">
                <a:solidFill>
                  <a:srgbClr val="3B3B3B"/>
                </a:solidFill>
                <a:latin typeface="Arial MT"/>
                <a:cs typeface="Arial MT"/>
              </a:rPr>
              <a:t>BioPython.</a:t>
            </a:r>
            <a:r>
              <a:rPr sz="2400" spc="30" dirty="0">
                <a:solidFill>
                  <a:srgbClr val="3B3B3B"/>
                </a:solidFill>
                <a:latin typeface="Arial MT"/>
                <a:cs typeface="Arial MT"/>
              </a:rPr>
              <a:t> </a:t>
            </a:r>
            <a:r>
              <a:rPr sz="2400" dirty="0">
                <a:solidFill>
                  <a:srgbClr val="3D3D3D"/>
                </a:solidFill>
                <a:latin typeface="Arial MT"/>
                <a:cs typeface="Arial MT"/>
              </a:rPr>
              <a:t>Modeling</a:t>
            </a:r>
            <a:r>
              <a:rPr sz="2400" spc="-15" dirty="0">
                <a:solidFill>
                  <a:srgbClr val="3D3D3D"/>
                </a:solidFill>
                <a:latin typeface="Arial MT"/>
                <a:cs typeface="Arial MT"/>
              </a:rPr>
              <a:t> </a:t>
            </a:r>
            <a:r>
              <a:rPr sz="2400" dirty="0">
                <a:solidFill>
                  <a:srgbClr val="4B4B4B"/>
                </a:solidFill>
                <a:latin typeface="Arial MT"/>
                <a:cs typeface="Arial MT"/>
              </a:rPr>
              <a:t>and</a:t>
            </a:r>
            <a:r>
              <a:rPr sz="2400" spc="-125" dirty="0">
                <a:solidFill>
                  <a:srgbClr val="4B4B4B"/>
                </a:solidFill>
                <a:latin typeface="Arial MT"/>
                <a:cs typeface="Arial MT"/>
              </a:rPr>
              <a:t> </a:t>
            </a:r>
            <a:r>
              <a:rPr sz="2400" dirty="0">
                <a:solidFill>
                  <a:srgbClr val="424242"/>
                </a:solidFill>
                <a:latin typeface="Arial MT"/>
                <a:cs typeface="Arial MT"/>
              </a:rPr>
              <a:t>deployment</a:t>
            </a:r>
            <a:r>
              <a:rPr sz="2400" spc="20" dirty="0">
                <a:solidFill>
                  <a:srgbClr val="424242"/>
                </a:solidFill>
                <a:latin typeface="Arial MT"/>
                <a:cs typeface="Arial MT"/>
              </a:rPr>
              <a:t> </a:t>
            </a:r>
            <a:r>
              <a:rPr sz="2400" spc="35" dirty="0">
                <a:solidFill>
                  <a:srgbClr val="3D3D3D"/>
                </a:solidFill>
                <a:latin typeface="Arial MT"/>
                <a:cs typeface="Arial MT"/>
              </a:rPr>
              <a:t>of </a:t>
            </a:r>
            <a:r>
              <a:rPr sz="2400" spc="-25" dirty="0">
                <a:solidFill>
                  <a:srgbClr val="595959"/>
                </a:solidFill>
                <a:latin typeface="Arial MT"/>
                <a:cs typeface="Arial MT"/>
              </a:rPr>
              <a:t>Deep</a:t>
            </a:r>
            <a:r>
              <a:rPr sz="2400" spc="-110" dirty="0">
                <a:solidFill>
                  <a:srgbClr val="595959"/>
                </a:solidFill>
                <a:latin typeface="Arial MT"/>
                <a:cs typeface="Arial MT"/>
              </a:rPr>
              <a:t> </a:t>
            </a:r>
            <a:r>
              <a:rPr sz="2400" spc="-10" dirty="0">
                <a:solidFill>
                  <a:srgbClr val="424242"/>
                </a:solidFill>
                <a:latin typeface="Arial MT"/>
                <a:cs typeface="Arial MT"/>
              </a:rPr>
              <a:t>Recurrent</a:t>
            </a:r>
            <a:r>
              <a:rPr sz="2400" spc="-5" dirty="0">
                <a:solidFill>
                  <a:srgbClr val="424242"/>
                </a:solidFill>
                <a:latin typeface="Arial MT"/>
                <a:cs typeface="Arial MT"/>
              </a:rPr>
              <a:t> </a:t>
            </a:r>
            <a:r>
              <a:rPr sz="2400" spc="-30" dirty="0">
                <a:solidFill>
                  <a:srgbClr val="4D4D4D"/>
                </a:solidFill>
                <a:latin typeface="Arial MT"/>
                <a:cs typeface="Arial MT"/>
              </a:rPr>
              <a:t>Neural</a:t>
            </a:r>
            <a:r>
              <a:rPr sz="2400" spc="-90" dirty="0">
                <a:solidFill>
                  <a:srgbClr val="4D4D4D"/>
                </a:solidFill>
                <a:latin typeface="Arial MT"/>
                <a:cs typeface="Arial MT"/>
              </a:rPr>
              <a:t> </a:t>
            </a:r>
            <a:r>
              <a:rPr sz="2400" dirty="0">
                <a:solidFill>
                  <a:srgbClr val="3B3B3B"/>
                </a:solidFill>
                <a:latin typeface="Arial MT"/>
                <a:cs typeface="Arial MT"/>
              </a:rPr>
              <a:t>Networks</a:t>
            </a:r>
            <a:r>
              <a:rPr sz="2400" spc="-20" dirty="0">
                <a:solidFill>
                  <a:srgbClr val="3B3B3B"/>
                </a:solidFill>
                <a:latin typeface="Arial MT"/>
                <a:cs typeface="Arial MT"/>
              </a:rPr>
              <a:t> </a:t>
            </a:r>
            <a:r>
              <a:rPr sz="2400" spc="-125" dirty="0">
                <a:solidFill>
                  <a:srgbClr val="3B3B3B"/>
                </a:solidFill>
                <a:latin typeface="Arial MT"/>
                <a:cs typeface="Arial MT"/>
              </a:rPr>
              <a:t>(LSTM/GRU)</a:t>
            </a:r>
            <a:r>
              <a:rPr sz="2400" spc="20" dirty="0">
                <a:solidFill>
                  <a:srgbClr val="3B3B3B"/>
                </a:solidFill>
                <a:latin typeface="Arial MT"/>
                <a:cs typeface="Arial MT"/>
              </a:rPr>
              <a:t> </a:t>
            </a:r>
            <a:r>
              <a:rPr sz="2400" spc="40" dirty="0">
                <a:solidFill>
                  <a:srgbClr val="484848"/>
                </a:solidFill>
                <a:latin typeface="Arial MT"/>
                <a:cs typeface="Arial MT"/>
              </a:rPr>
              <a:t>on </a:t>
            </a:r>
            <a:r>
              <a:rPr sz="2400" dirty="0">
                <a:solidFill>
                  <a:srgbClr val="3F3F3F"/>
                </a:solidFill>
                <a:latin typeface="Arial MT"/>
                <a:cs typeface="Arial MT"/>
              </a:rPr>
              <a:t>specialized</a:t>
            </a:r>
            <a:r>
              <a:rPr sz="2400" spc="420" dirty="0">
                <a:solidFill>
                  <a:srgbClr val="3F3F3F"/>
                </a:solidFill>
                <a:latin typeface="Arial MT"/>
                <a:cs typeface="Arial MT"/>
              </a:rPr>
              <a:t>  </a:t>
            </a:r>
            <a:r>
              <a:rPr sz="2400" dirty="0">
                <a:solidFill>
                  <a:srgbClr val="3B3B3B"/>
                </a:solidFill>
                <a:latin typeface="Arial MT"/>
                <a:cs typeface="Arial MT"/>
              </a:rPr>
              <a:t>sequence</a:t>
            </a:r>
            <a:r>
              <a:rPr sz="2400" spc="465" dirty="0">
                <a:solidFill>
                  <a:srgbClr val="3B3B3B"/>
                </a:solidFill>
                <a:latin typeface="Arial MT"/>
                <a:cs typeface="Arial MT"/>
              </a:rPr>
              <a:t>  </a:t>
            </a:r>
            <a:r>
              <a:rPr sz="2400" dirty="0">
                <a:solidFill>
                  <a:srgbClr val="3D3D3D"/>
                </a:solidFill>
                <a:latin typeface="Arial MT"/>
                <a:cs typeface="Arial MT"/>
              </a:rPr>
              <a:t>datasets</a:t>
            </a:r>
            <a:r>
              <a:rPr sz="2400" spc="450" dirty="0">
                <a:solidFill>
                  <a:srgbClr val="3D3D3D"/>
                </a:solidFill>
                <a:latin typeface="Arial MT"/>
                <a:cs typeface="Arial MT"/>
              </a:rPr>
              <a:t>  </a:t>
            </a:r>
            <a:r>
              <a:rPr sz="2400" dirty="0">
                <a:solidFill>
                  <a:srgbClr val="4F4F4F"/>
                </a:solidFill>
                <a:latin typeface="Arial MT"/>
                <a:cs typeface="Arial MT"/>
              </a:rPr>
              <a:t>to</a:t>
            </a:r>
            <a:r>
              <a:rPr sz="2400" spc="465" dirty="0">
                <a:solidFill>
                  <a:srgbClr val="4F4F4F"/>
                </a:solidFill>
                <a:latin typeface="Arial MT"/>
                <a:cs typeface="Arial MT"/>
              </a:rPr>
              <a:t>  </a:t>
            </a:r>
            <a:r>
              <a:rPr sz="2400" spc="-10" dirty="0">
                <a:solidFill>
                  <a:srgbClr val="494949"/>
                </a:solidFill>
                <a:latin typeface="Arial MT"/>
                <a:cs typeface="Arial MT"/>
              </a:rPr>
              <a:t>extract </a:t>
            </a:r>
            <a:r>
              <a:rPr sz="2400" dirty="0">
                <a:solidFill>
                  <a:srgbClr val="4B4B4B"/>
                </a:solidFill>
                <a:latin typeface="Arial MT"/>
                <a:cs typeface="Arial MT"/>
              </a:rPr>
              <a:t>features</a:t>
            </a:r>
            <a:r>
              <a:rPr sz="2400" spc="395" dirty="0">
                <a:solidFill>
                  <a:srgbClr val="4B4B4B"/>
                </a:solidFill>
                <a:latin typeface="Arial MT"/>
                <a:cs typeface="Arial MT"/>
              </a:rPr>
              <a:t> </a:t>
            </a:r>
            <a:r>
              <a:rPr sz="2400" dirty="0">
                <a:solidFill>
                  <a:srgbClr val="424242"/>
                </a:solidFill>
                <a:latin typeface="Arial MT"/>
                <a:cs typeface="Arial MT"/>
              </a:rPr>
              <a:t>and</a:t>
            </a:r>
            <a:r>
              <a:rPr sz="2400" spc="245" dirty="0">
                <a:solidFill>
                  <a:srgbClr val="424242"/>
                </a:solidFill>
                <a:latin typeface="Arial MT"/>
                <a:cs typeface="Arial MT"/>
              </a:rPr>
              <a:t> </a:t>
            </a:r>
            <a:r>
              <a:rPr sz="2400" dirty="0">
                <a:solidFill>
                  <a:srgbClr val="4F4F4F"/>
                </a:solidFill>
                <a:latin typeface="Arial MT"/>
                <a:cs typeface="Arial MT"/>
              </a:rPr>
              <a:t>classify</a:t>
            </a:r>
            <a:r>
              <a:rPr sz="2400" spc="380" dirty="0">
                <a:solidFill>
                  <a:srgbClr val="4F4F4F"/>
                </a:solidFill>
                <a:latin typeface="Arial MT"/>
                <a:cs typeface="Arial MT"/>
              </a:rPr>
              <a:t> </a:t>
            </a:r>
            <a:r>
              <a:rPr sz="2400" dirty="0">
                <a:solidFill>
                  <a:srgbClr val="494949"/>
                </a:solidFill>
                <a:latin typeface="Arial MT"/>
                <a:cs typeface="Arial MT"/>
              </a:rPr>
              <a:t>natural</a:t>
            </a:r>
            <a:r>
              <a:rPr sz="2400" spc="320" dirty="0">
                <a:solidFill>
                  <a:srgbClr val="494949"/>
                </a:solidFill>
                <a:latin typeface="Arial MT"/>
                <a:cs typeface="Arial MT"/>
              </a:rPr>
              <a:t> </a:t>
            </a:r>
            <a:r>
              <a:rPr sz="2400" dirty="0">
                <a:solidFill>
                  <a:srgbClr val="444444"/>
                </a:solidFill>
                <a:latin typeface="Arial MT"/>
                <a:cs typeface="Arial MT"/>
              </a:rPr>
              <a:t>versus</a:t>
            </a:r>
            <a:r>
              <a:rPr sz="2400" spc="434" dirty="0">
                <a:solidFill>
                  <a:srgbClr val="444444"/>
                </a:solidFill>
                <a:latin typeface="Arial MT"/>
                <a:cs typeface="Arial MT"/>
              </a:rPr>
              <a:t> </a:t>
            </a:r>
            <a:r>
              <a:rPr sz="2400" spc="-10" dirty="0">
                <a:solidFill>
                  <a:srgbClr val="444444"/>
                </a:solidFill>
                <a:latin typeface="Arial MT"/>
                <a:cs typeface="Arial MT"/>
              </a:rPr>
              <a:t>tampered </a:t>
            </a:r>
            <a:r>
              <a:rPr sz="2400" spc="-110" dirty="0">
                <a:solidFill>
                  <a:srgbClr val="525252"/>
                </a:solidFill>
                <a:latin typeface="Arial MT"/>
                <a:cs typeface="Arial MT"/>
              </a:rPr>
              <a:t>DNA</a:t>
            </a:r>
            <a:r>
              <a:rPr sz="2400" spc="-145" dirty="0">
                <a:solidFill>
                  <a:srgbClr val="525252"/>
                </a:solidFill>
                <a:latin typeface="Arial MT"/>
                <a:cs typeface="Arial MT"/>
              </a:rPr>
              <a:t> </a:t>
            </a:r>
            <a:r>
              <a:rPr sz="2400" spc="-10" dirty="0">
                <a:solidFill>
                  <a:srgbClr val="4B4B4B"/>
                </a:solidFill>
                <a:latin typeface="Arial MT"/>
                <a:cs typeface="Arial MT"/>
              </a:rPr>
              <a:t>chains.</a:t>
            </a:r>
            <a:endParaRPr sz="2400" dirty="0">
              <a:latin typeface="Arial MT"/>
              <a:cs typeface="Arial MT"/>
            </a:endParaRPr>
          </a:p>
        </p:txBody>
      </p:sp>
      <p:sp>
        <p:nvSpPr>
          <p:cNvPr id="19" name="object 19"/>
          <p:cNvSpPr txBox="1"/>
          <p:nvPr/>
        </p:nvSpPr>
        <p:spPr>
          <a:xfrm>
            <a:off x="14379235" y="4913197"/>
            <a:ext cx="3511550" cy="438150"/>
          </a:xfrm>
          <a:prstGeom prst="rect">
            <a:avLst/>
          </a:prstGeom>
        </p:spPr>
        <p:txBody>
          <a:bodyPr vert="horz" wrap="square" lIns="0" tIns="13335" rIns="0" bIns="0" rtlCol="0">
            <a:spAutoFit/>
          </a:bodyPr>
          <a:lstStyle/>
          <a:p>
            <a:pPr marL="12700">
              <a:lnSpc>
                <a:spcPct val="100000"/>
              </a:lnSpc>
              <a:spcBef>
                <a:spcPts val="105"/>
              </a:spcBef>
            </a:pPr>
            <a:r>
              <a:rPr sz="2700" dirty="0">
                <a:solidFill>
                  <a:srgbClr val="0C5223"/>
                </a:solidFill>
                <a:latin typeface="Arial MT"/>
                <a:cs typeface="Arial MT"/>
              </a:rPr>
              <a:t>@</a:t>
            </a:r>
            <a:r>
              <a:rPr sz="2700" spc="185" dirty="0">
                <a:solidFill>
                  <a:srgbClr val="0C5223"/>
                </a:solidFill>
                <a:latin typeface="Arial MT"/>
                <a:cs typeface="Arial MT"/>
              </a:rPr>
              <a:t> </a:t>
            </a:r>
            <a:r>
              <a:rPr sz="2700" b="1" spc="-50" dirty="0">
                <a:solidFill>
                  <a:srgbClr val="18563F"/>
                </a:solidFill>
                <a:latin typeface="Arial"/>
                <a:cs typeface="Arial"/>
              </a:rPr>
              <a:t>Security</a:t>
            </a:r>
            <a:r>
              <a:rPr sz="2700" b="1" spc="-135" dirty="0">
                <a:solidFill>
                  <a:srgbClr val="18563F"/>
                </a:solidFill>
                <a:latin typeface="Arial"/>
                <a:cs typeface="Arial"/>
              </a:rPr>
              <a:t> </a:t>
            </a:r>
            <a:r>
              <a:rPr sz="2700" b="1" dirty="0">
                <a:solidFill>
                  <a:srgbClr val="004D1C"/>
                </a:solidFill>
                <a:latin typeface="Arial"/>
                <a:cs typeface="Arial"/>
              </a:rPr>
              <a:t>&amp;</a:t>
            </a:r>
            <a:r>
              <a:rPr sz="2700" b="1" spc="-105" dirty="0">
                <a:solidFill>
                  <a:srgbClr val="004D1C"/>
                </a:solidFill>
                <a:latin typeface="Arial"/>
                <a:cs typeface="Arial"/>
              </a:rPr>
              <a:t> </a:t>
            </a:r>
            <a:r>
              <a:rPr sz="2700" b="1" spc="-100" dirty="0">
                <a:solidFill>
                  <a:srgbClr val="165631"/>
                </a:solidFill>
                <a:latin typeface="Arial"/>
                <a:cs typeface="Arial"/>
              </a:rPr>
              <a:t>Analysis</a:t>
            </a:r>
            <a:endParaRPr sz="2700">
              <a:latin typeface="Arial"/>
              <a:cs typeface="Arial"/>
            </a:endParaRPr>
          </a:p>
        </p:txBody>
      </p:sp>
      <p:sp>
        <p:nvSpPr>
          <p:cNvPr id="20" name="object 20"/>
          <p:cNvSpPr txBox="1"/>
          <p:nvPr/>
        </p:nvSpPr>
        <p:spPr>
          <a:xfrm>
            <a:off x="13685056" y="5601003"/>
            <a:ext cx="4921885" cy="3364254"/>
          </a:xfrm>
          <a:prstGeom prst="rect">
            <a:avLst/>
          </a:prstGeom>
        </p:spPr>
        <p:txBody>
          <a:bodyPr vert="horz" wrap="square" lIns="0" tIns="2540" rIns="0" bIns="0" rtlCol="0">
            <a:spAutoFit/>
          </a:bodyPr>
          <a:lstStyle/>
          <a:p>
            <a:pPr marL="12700" marR="5080" indent="6350" algn="just">
              <a:lnSpc>
                <a:spcPct val="115199"/>
              </a:lnSpc>
              <a:spcBef>
                <a:spcPts val="20"/>
              </a:spcBef>
            </a:pPr>
            <a:r>
              <a:rPr sz="2400" dirty="0">
                <a:solidFill>
                  <a:srgbClr val="3B3B3B"/>
                </a:solidFill>
                <a:latin typeface="Arial MT"/>
                <a:cs typeface="Arial MT"/>
              </a:rPr>
              <a:t>Assurance</a:t>
            </a:r>
            <a:r>
              <a:rPr sz="2400" spc="445" dirty="0">
                <a:solidFill>
                  <a:srgbClr val="3B3B3B"/>
                </a:solidFill>
                <a:latin typeface="Arial MT"/>
                <a:cs typeface="Arial MT"/>
              </a:rPr>
              <a:t>  </a:t>
            </a:r>
            <a:r>
              <a:rPr sz="2400" spc="65" dirty="0">
                <a:solidFill>
                  <a:srgbClr val="3F3F3F"/>
                </a:solidFill>
                <a:latin typeface="Arial MT"/>
                <a:cs typeface="Arial MT"/>
              </a:rPr>
              <a:t>of</a:t>
            </a:r>
            <a:r>
              <a:rPr sz="2400" spc="434" dirty="0">
                <a:solidFill>
                  <a:srgbClr val="3F3F3F"/>
                </a:solidFill>
                <a:latin typeface="Arial MT"/>
                <a:cs typeface="Arial MT"/>
              </a:rPr>
              <a:t>  </a:t>
            </a:r>
            <a:r>
              <a:rPr sz="2400" dirty="0">
                <a:solidFill>
                  <a:srgbClr val="444444"/>
                </a:solidFill>
                <a:latin typeface="Arial MT"/>
                <a:cs typeface="Arial MT"/>
              </a:rPr>
              <a:t>blind</a:t>
            </a:r>
            <a:r>
              <a:rPr sz="2400" spc="375" dirty="0">
                <a:solidFill>
                  <a:srgbClr val="444444"/>
                </a:solidFill>
                <a:latin typeface="Arial MT"/>
                <a:cs typeface="Arial MT"/>
              </a:rPr>
              <a:t>  </a:t>
            </a:r>
            <a:r>
              <a:rPr sz="2400" dirty="0">
                <a:solidFill>
                  <a:srgbClr val="3F3F3F"/>
                </a:solidFill>
                <a:latin typeface="Arial MT"/>
                <a:cs typeface="Arial MT"/>
              </a:rPr>
              <a:t>extraction</a:t>
            </a:r>
            <a:r>
              <a:rPr sz="2400" spc="470" dirty="0">
                <a:solidFill>
                  <a:srgbClr val="3F3F3F"/>
                </a:solidFill>
                <a:latin typeface="Arial MT"/>
                <a:cs typeface="Arial MT"/>
              </a:rPr>
              <a:t>  </a:t>
            </a:r>
            <a:r>
              <a:rPr sz="2400" spc="-10" dirty="0">
                <a:solidFill>
                  <a:srgbClr val="444444"/>
                </a:solidFill>
                <a:latin typeface="Arial MT"/>
                <a:cs typeface="Arial MT"/>
              </a:rPr>
              <a:t>capabilities </a:t>
            </a:r>
            <a:r>
              <a:rPr sz="2400" dirty="0">
                <a:solidFill>
                  <a:srgbClr val="4B4B4B"/>
                </a:solidFill>
                <a:latin typeface="Arial MT"/>
                <a:cs typeface="Arial MT"/>
              </a:rPr>
              <a:t>(meaning</a:t>
            </a:r>
            <a:r>
              <a:rPr sz="2400" spc="350" dirty="0">
                <a:solidFill>
                  <a:srgbClr val="4B4B4B"/>
                </a:solidFill>
                <a:latin typeface="Arial MT"/>
                <a:cs typeface="Arial MT"/>
              </a:rPr>
              <a:t> </a:t>
            </a:r>
            <a:r>
              <a:rPr sz="2400" dirty="0">
                <a:solidFill>
                  <a:srgbClr val="4D4D4D"/>
                </a:solidFill>
                <a:latin typeface="Arial MT"/>
                <a:cs typeface="Arial MT"/>
              </a:rPr>
              <a:t>the</a:t>
            </a:r>
            <a:r>
              <a:rPr sz="2400" spc="120" dirty="0">
                <a:solidFill>
                  <a:srgbClr val="4D4D4D"/>
                </a:solidFill>
                <a:latin typeface="Arial MT"/>
                <a:cs typeface="Arial MT"/>
              </a:rPr>
              <a:t> </a:t>
            </a:r>
            <a:r>
              <a:rPr sz="2400" dirty="0">
                <a:solidFill>
                  <a:srgbClr val="444444"/>
                </a:solidFill>
                <a:latin typeface="Arial MT"/>
                <a:cs typeface="Arial MT"/>
              </a:rPr>
              <a:t>receiver</a:t>
            </a:r>
            <a:r>
              <a:rPr sz="2400" spc="345" dirty="0">
                <a:solidFill>
                  <a:srgbClr val="444444"/>
                </a:solidFill>
                <a:latin typeface="Arial MT"/>
                <a:cs typeface="Arial MT"/>
              </a:rPr>
              <a:t> </a:t>
            </a:r>
            <a:r>
              <a:rPr sz="2400" dirty="0">
                <a:solidFill>
                  <a:srgbClr val="3D3D3D"/>
                </a:solidFill>
                <a:latin typeface="Arial MT"/>
                <a:cs typeface="Arial MT"/>
              </a:rPr>
              <a:t>extracts</a:t>
            </a:r>
            <a:r>
              <a:rPr sz="2400" spc="295" dirty="0">
                <a:solidFill>
                  <a:srgbClr val="3D3D3D"/>
                </a:solidFill>
                <a:latin typeface="Arial MT"/>
                <a:cs typeface="Arial MT"/>
              </a:rPr>
              <a:t> </a:t>
            </a:r>
            <a:r>
              <a:rPr sz="2400" dirty="0">
                <a:solidFill>
                  <a:srgbClr val="494949"/>
                </a:solidFill>
                <a:latin typeface="Arial MT"/>
                <a:cs typeface="Arial MT"/>
              </a:rPr>
              <a:t>the</a:t>
            </a:r>
            <a:r>
              <a:rPr sz="2400" spc="190" dirty="0">
                <a:solidFill>
                  <a:srgbClr val="494949"/>
                </a:solidFill>
                <a:latin typeface="Arial MT"/>
                <a:cs typeface="Arial MT"/>
              </a:rPr>
              <a:t> </a:t>
            </a:r>
            <a:r>
              <a:rPr sz="2400" dirty="0">
                <a:solidFill>
                  <a:srgbClr val="424242"/>
                </a:solidFill>
                <a:latin typeface="Arial MT"/>
                <a:cs typeface="Arial MT"/>
              </a:rPr>
              <a:t>secret</a:t>
            </a:r>
            <a:r>
              <a:rPr sz="2400" spc="310" dirty="0">
                <a:solidFill>
                  <a:srgbClr val="424242"/>
                </a:solidFill>
                <a:latin typeface="Arial MT"/>
                <a:cs typeface="Arial MT"/>
              </a:rPr>
              <a:t> </a:t>
            </a:r>
            <a:r>
              <a:rPr sz="2400" spc="-20" dirty="0">
                <a:solidFill>
                  <a:srgbClr val="4F4F4F"/>
                </a:solidFill>
                <a:latin typeface="Arial MT"/>
                <a:cs typeface="Arial MT"/>
              </a:rPr>
              <a:t>data </a:t>
            </a:r>
            <a:r>
              <a:rPr sz="2400" dirty="0">
                <a:solidFill>
                  <a:srgbClr val="3D3D3D"/>
                </a:solidFill>
                <a:latin typeface="Arial MT"/>
                <a:cs typeface="Arial MT"/>
              </a:rPr>
              <a:t>without</a:t>
            </a:r>
            <a:r>
              <a:rPr sz="2400" spc="40" dirty="0">
                <a:solidFill>
                  <a:srgbClr val="3D3D3D"/>
                </a:solidFill>
                <a:latin typeface="Arial MT"/>
                <a:cs typeface="Arial MT"/>
              </a:rPr>
              <a:t>  </a:t>
            </a:r>
            <a:r>
              <a:rPr sz="2400" dirty="0">
                <a:solidFill>
                  <a:srgbClr val="414141"/>
                </a:solidFill>
                <a:latin typeface="Arial MT"/>
                <a:cs typeface="Arial MT"/>
              </a:rPr>
              <a:t>needing</a:t>
            </a:r>
            <a:r>
              <a:rPr sz="2400" spc="50" dirty="0">
                <a:solidFill>
                  <a:srgbClr val="414141"/>
                </a:solidFill>
                <a:latin typeface="Arial MT"/>
                <a:cs typeface="Arial MT"/>
              </a:rPr>
              <a:t>  </a:t>
            </a:r>
            <a:r>
              <a:rPr sz="2400" dirty="0">
                <a:solidFill>
                  <a:srgbClr val="4D4D4D"/>
                </a:solidFill>
                <a:latin typeface="Arial MT"/>
                <a:cs typeface="Arial MT"/>
              </a:rPr>
              <a:t>the</a:t>
            </a:r>
            <a:r>
              <a:rPr sz="2400" spc="409" dirty="0">
                <a:solidFill>
                  <a:srgbClr val="4D4D4D"/>
                </a:solidFill>
                <a:latin typeface="Arial MT"/>
                <a:cs typeface="Arial MT"/>
              </a:rPr>
              <a:t> </a:t>
            </a:r>
            <a:r>
              <a:rPr sz="2400" dirty="0">
                <a:solidFill>
                  <a:srgbClr val="484848"/>
                </a:solidFill>
                <a:latin typeface="Arial MT"/>
                <a:cs typeface="Arial MT"/>
              </a:rPr>
              <a:t>original</a:t>
            </a:r>
            <a:r>
              <a:rPr sz="2400" spc="450" dirty="0">
                <a:solidFill>
                  <a:srgbClr val="484848"/>
                </a:solidFill>
                <a:latin typeface="Arial MT"/>
                <a:cs typeface="Arial MT"/>
              </a:rPr>
              <a:t> </a:t>
            </a:r>
            <a:r>
              <a:rPr sz="2400" dirty="0">
                <a:solidFill>
                  <a:srgbClr val="444444"/>
                </a:solidFill>
                <a:latin typeface="Arial MT"/>
                <a:cs typeface="Arial MT"/>
              </a:rPr>
              <a:t>host</a:t>
            </a:r>
            <a:r>
              <a:rPr sz="2400" spc="465" dirty="0">
                <a:solidFill>
                  <a:srgbClr val="444444"/>
                </a:solidFill>
                <a:latin typeface="Arial MT"/>
                <a:cs typeface="Arial MT"/>
              </a:rPr>
              <a:t> </a:t>
            </a:r>
            <a:r>
              <a:rPr sz="2400" dirty="0">
                <a:solidFill>
                  <a:schemeClr val="tx1">
                    <a:lumMod val="85000"/>
                    <a:lumOff val="15000"/>
                  </a:schemeClr>
                </a:solidFill>
                <a:latin typeface="Arial MT"/>
                <a:cs typeface="Arial MT"/>
              </a:rPr>
              <a:t>DNA</a:t>
            </a:r>
            <a:r>
              <a:rPr sz="2400" dirty="0">
                <a:solidFill>
                  <a:srgbClr val="74899E"/>
                </a:solidFill>
                <a:latin typeface="Arial MT"/>
                <a:cs typeface="Arial MT"/>
              </a:rPr>
              <a:t>)</a:t>
            </a:r>
            <a:r>
              <a:rPr sz="2400" spc="15" dirty="0">
                <a:solidFill>
                  <a:srgbClr val="74899E"/>
                </a:solidFill>
                <a:latin typeface="Arial MT"/>
                <a:cs typeface="Arial MT"/>
              </a:rPr>
              <a:t>  </a:t>
            </a:r>
            <a:r>
              <a:rPr sz="2400" spc="-10" dirty="0">
                <a:solidFill>
                  <a:srgbClr val="444444"/>
                </a:solidFill>
                <a:latin typeface="Arial MT"/>
                <a:cs typeface="Arial MT"/>
              </a:rPr>
              <a:t>while </a:t>
            </a:r>
            <a:r>
              <a:rPr sz="2400" dirty="0">
                <a:solidFill>
                  <a:srgbClr val="444444"/>
                </a:solidFill>
                <a:latin typeface="Arial MT"/>
                <a:cs typeface="Arial MT"/>
              </a:rPr>
              <a:t>guaranteeing</a:t>
            </a:r>
            <a:r>
              <a:rPr sz="2400" spc="235" dirty="0">
                <a:solidFill>
                  <a:srgbClr val="444444"/>
                </a:solidFill>
                <a:latin typeface="Arial MT"/>
                <a:cs typeface="Arial MT"/>
              </a:rPr>
              <a:t>  </a:t>
            </a:r>
            <a:r>
              <a:rPr sz="2400" dirty="0">
                <a:solidFill>
                  <a:srgbClr val="414141"/>
                </a:solidFill>
                <a:latin typeface="Arial MT"/>
                <a:cs typeface="Arial MT"/>
              </a:rPr>
              <a:t>high</a:t>
            </a:r>
            <a:r>
              <a:rPr sz="2400" spc="140" dirty="0">
                <a:solidFill>
                  <a:srgbClr val="414141"/>
                </a:solidFill>
                <a:latin typeface="Arial MT"/>
                <a:cs typeface="Arial MT"/>
              </a:rPr>
              <a:t>  </a:t>
            </a:r>
            <a:r>
              <a:rPr sz="2400" dirty="0">
                <a:solidFill>
                  <a:srgbClr val="464646"/>
                </a:solidFill>
                <a:latin typeface="Arial MT"/>
                <a:cs typeface="Arial MT"/>
              </a:rPr>
              <a:t>computational</a:t>
            </a:r>
            <a:r>
              <a:rPr sz="2400" spc="225" dirty="0">
                <a:solidFill>
                  <a:srgbClr val="464646"/>
                </a:solidFill>
                <a:latin typeface="Arial MT"/>
                <a:cs typeface="Arial MT"/>
              </a:rPr>
              <a:t>  </a:t>
            </a:r>
            <a:r>
              <a:rPr sz="2400" spc="-10" dirty="0">
                <a:solidFill>
                  <a:srgbClr val="3F3F3F"/>
                </a:solidFill>
                <a:latin typeface="Arial MT"/>
                <a:cs typeface="Arial MT"/>
              </a:rPr>
              <a:t>robustness </a:t>
            </a:r>
            <a:r>
              <a:rPr sz="2400" spc="-10" dirty="0">
                <a:solidFill>
                  <a:srgbClr val="444444"/>
                </a:solidFill>
                <a:latin typeface="Arial MT"/>
                <a:cs typeface="Arial MT"/>
              </a:rPr>
              <a:t>against</a:t>
            </a:r>
            <a:r>
              <a:rPr sz="2400" spc="-35" dirty="0">
                <a:solidFill>
                  <a:srgbClr val="444444"/>
                </a:solidFill>
                <a:latin typeface="Arial MT"/>
                <a:cs typeface="Arial MT"/>
              </a:rPr>
              <a:t> </a:t>
            </a:r>
            <a:r>
              <a:rPr sz="2400" spc="-10" dirty="0">
                <a:solidFill>
                  <a:srgbClr val="3D3D3D"/>
                </a:solidFill>
                <a:latin typeface="Arial MT"/>
                <a:cs typeface="Arial MT"/>
              </a:rPr>
              <a:t>sequence</a:t>
            </a:r>
            <a:r>
              <a:rPr sz="2400" spc="-150" dirty="0">
                <a:solidFill>
                  <a:srgbClr val="3D3D3D"/>
                </a:solidFill>
                <a:latin typeface="Arial MT"/>
                <a:cs typeface="Arial MT"/>
              </a:rPr>
              <a:t> </a:t>
            </a:r>
            <a:r>
              <a:rPr sz="2400" spc="-10" dirty="0">
                <a:solidFill>
                  <a:srgbClr val="4B4B4B"/>
                </a:solidFill>
                <a:latin typeface="Arial MT"/>
                <a:cs typeface="Arial MT"/>
              </a:rPr>
              <a:t>alignment</a:t>
            </a:r>
            <a:r>
              <a:rPr sz="2400" spc="-40" dirty="0">
                <a:solidFill>
                  <a:srgbClr val="4B4B4B"/>
                </a:solidFill>
                <a:latin typeface="Arial MT"/>
                <a:cs typeface="Arial MT"/>
              </a:rPr>
              <a:t> </a:t>
            </a:r>
            <a:r>
              <a:rPr sz="2400" dirty="0">
                <a:solidFill>
                  <a:srgbClr val="4D4D4D"/>
                </a:solidFill>
                <a:latin typeface="Arial MT"/>
                <a:cs typeface="Arial MT"/>
              </a:rPr>
              <a:t>or</a:t>
            </a:r>
            <a:r>
              <a:rPr sz="2400" spc="-114" dirty="0">
                <a:solidFill>
                  <a:srgbClr val="4D4D4D"/>
                </a:solidFill>
                <a:latin typeface="Arial MT"/>
                <a:cs typeface="Arial MT"/>
              </a:rPr>
              <a:t> </a:t>
            </a:r>
            <a:r>
              <a:rPr sz="2400" dirty="0">
                <a:solidFill>
                  <a:srgbClr val="3D3D3D"/>
                </a:solidFill>
                <a:latin typeface="Arial MT"/>
                <a:cs typeface="Arial MT"/>
              </a:rPr>
              <a:t>mutation</a:t>
            </a:r>
            <a:r>
              <a:rPr sz="2400" spc="-125" dirty="0">
                <a:solidFill>
                  <a:srgbClr val="3D3D3D"/>
                </a:solidFill>
                <a:latin typeface="Arial MT"/>
                <a:cs typeface="Arial MT"/>
              </a:rPr>
              <a:t> </a:t>
            </a:r>
            <a:r>
              <a:rPr sz="2400" spc="-10" dirty="0">
                <a:solidFill>
                  <a:srgbClr val="494949"/>
                </a:solidFill>
                <a:latin typeface="Arial MT"/>
                <a:cs typeface="Arial MT"/>
              </a:rPr>
              <a:t>attacks</a:t>
            </a:r>
            <a:r>
              <a:rPr sz="1800" spc="-10" dirty="0">
                <a:solidFill>
                  <a:srgbClr val="494949"/>
                </a:solidFill>
                <a:latin typeface="Arial MT"/>
                <a:cs typeface="Arial MT"/>
              </a:rPr>
              <a:t>.</a:t>
            </a:r>
            <a:endParaRPr sz="1800" dirty="0">
              <a:latin typeface="Arial MT"/>
              <a:cs typeface="Arial M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object 10"/>
          <p:cNvSpPr txBox="1"/>
          <p:nvPr/>
        </p:nvSpPr>
        <p:spPr>
          <a:xfrm>
            <a:off x="1325405" y="2861557"/>
            <a:ext cx="5018417" cy="542649"/>
          </a:xfrm>
          <a:prstGeom prst="rect">
            <a:avLst/>
          </a:prstGeom>
        </p:spPr>
        <p:txBody>
          <a:bodyPr vert="horz" wrap="square" lIns="0" tIns="12700" rIns="0" bIns="0" rtlCol="0">
            <a:spAutoFit/>
          </a:bodyPr>
          <a:lstStyle/>
          <a:p>
            <a:pPr marL="12700" marR="5080">
              <a:lnSpc>
                <a:spcPct val="112999"/>
              </a:lnSpc>
              <a:spcBef>
                <a:spcPts val="100"/>
              </a:spcBef>
            </a:pPr>
            <a:r>
              <a:rPr lang="en-US" sz="1550" dirty="0">
                <a:solidFill>
                  <a:srgbClr val="414141"/>
                </a:solidFill>
                <a:latin typeface="Arial MT"/>
                <a:cs typeface="Arial MT"/>
              </a:rPr>
              <a:t>         </a:t>
            </a:r>
            <a:endParaRPr lang="en-US" sz="1550" spc="-10" dirty="0">
              <a:solidFill>
                <a:srgbClr val="3B3B3B"/>
              </a:solidFill>
              <a:latin typeface="Arial MT"/>
              <a:cs typeface="Arial MT"/>
            </a:endParaRPr>
          </a:p>
          <a:p>
            <a:pPr marL="12700" marR="5080">
              <a:lnSpc>
                <a:spcPct val="112999"/>
              </a:lnSpc>
              <a:spcBef>
                <a:spcPts val="100"/>
              </a:spcBef>
            </a:pPr>
            <a:r>
              <a:rPr lang="en-US" sz="1550" spc="-10" dirty="0">
                <a:solidFill>
                  <a:srgbClr val="3B3B3B"/>
                </a:solidFill>
                <a:latin typeface="Arial MT"/>
                <a:cs typeface="Arial MT"/>
              </a:rPr>
              <a:t>                    </a:t>
            </a:r>
            <a:r>
              <a:rPr lang="en-US" sz="1550" spc="-10" dirty="0">
                <a:solidFill>
                  <a:srgbClr val="2D2D2D"/>
                </a:solidFill>
                <a:latin typeface="Arial MT"/>
                <a:cs typeface="Arial MT"/>
              </a:rPr>
              <a:t>         </a:t>
            </a:r>
            <a:endParaRPr sz="1550" dirty="0">
              <a:latin typeface="Arial MT"/>
              <a:cs typeface="Arial MT"/>
            </a:endParaRPr>
          </a:p>
        </p:txBody>
      </p:sp>
      <p:sp>
        <p:nvSpPr>
          <p:cNvPr id="14" name="object 14"/>
          <p:cNvSpPr txBox="1"/>
          <p:nvPr/>
        </p:nvSpPr>
        <p:spPr>
          <a:xfrm>
            <a:off x="1289050" y="5429650"/>
            <a:ext cx="5297645" cy="260264"/>
          </a:xfrm>
          <a:prstGeom prst="rect">
            <a:avLst/>
          </a:prstGeom>
        </p:spPr>
        <p:txBody>
          <a:bodyPr vert="horz" wrap="square" lIns="0" tIns="12700" rIns="0" bIns="0" rtlCol="0">
            <a:spAutoFit/>
          </a:bodyPr>
          <a:lstStyle/>
          <a:p>
            <a:pPr marL="12700" marR="5080" indent="2540">
              <a:lnSpc>
                <a:spcPct val="112999"/>
              </a:lnSpc>
              <a:spcBef>
                <a:spcPts val="100"/>
              </a:spcBef>
            </a:pPr>
            <a:r>
              <a:rPr lang="en-IN" sz="1550" dirty="0">
                <a:solidFill>
                  <a:srgbClr val="363636"/>
                </a:solidFill>
                <a:latin typeface="Arial MT"/>
                <a:cs typeface="Arial MT"/>
              </a:rPr>
              <a:t>              </a:t>
            </a:r>
            <a:endParaRPr lang="en-IN" sz="1550" dirty="0">
              <a:solidFill>
                <a:srgbClr val="343434"/>
              </a:solidFill>
              <a:latin typeface="Arial MT"/>
              <a:cs typeface="Arial MT"/>
            </a:endParaRPr>
          </a:p>
        </p:txBody>
      </p:sp>
      <p:pic>
        <p:nvPicPr>
          <p:cNvPr id="36" name="Picture 35">
            <a:extLst>
              <a:ext uri="{FF2B5EF4-FFF2-40B4-BE49-F238E27FC236}">
                <a16:creationId xmlns:a16="http://schemas.microsoft.com/office/drawing/2014/main" id="{B405D434-FD59-0D30-BAD5-23F995A281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6735" y="703438"/>
            <a:ext cx="16654828" cy="997295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1458039" y="3853159"/>
            <a:ext cx="8027034" cy="1592552"/>
          </a:xfrm>
          <a:prstGeom prst="rect">
            <a:avLst/>
          </a:prstGeom>
        </p:spPr>
        <p:txBody>
          <a:bodyPr vert="horz" wrap="square" lIns="0" tIns="122555" rIns="0" bIns="0" rtlCol="0">
            <a:spAutoFit/>
          </a:bodyPr>
          <a:lstStyle/>
          <a:p>
            <a:pPr marL="15875">
              <a:lnSpc>
                <a:spcPct val="100000"/>
              </a:lnSpc>
              <a:spcBef>
                <a:spcPts val="965"/>
              </a:spcBef>
            </a:pPr>
            <a:r>
              <a:rPr sz="2800" spc="60" dirty="0">
                <a:solidFill>
                  <a:srgbClr val="991F2B"/>
                </a:solidFill>
                <a:latin typeface="Arial MT"/>
                <a:cs typeface="Arial MT"/>
              </a:rPr>
              <a:t>Length</a:t>
            </a:r>
            <a:r>
              <a:rPr sz="2800" spc="-75" dirty="0">
                <a:solidFill>
                  <a:srgbClr val="991F2B"/>
                </a:solidFill>
                <a:latin typeface="Arial MT"/>
                <a:cs typeface="Arial MT"/>
              </a:rPr>
              <a:t> </a:t>
            </a:r>
            <a:r>
              <a:rPr sz="2800" spc="45" dirty="0">
                <a:solidFill>
                  <a:srgbClr val="8E3436"/>
                </a:solidFill>
                <a:latin typeface="Arial MT"/>
                <a:cs typeface="Arial MT"/>
              </a:rPr>
              <a:t>Alterations</a:t>
            </a:r>
            <a:endParaRPr sz="2800" dirty="0">
              <a:latin typeface="Arial MT"/>
              <a:cs typeface="Arial MT"/>
            </a:endParaRPr>
          </a:p>
          <a:p>
            <a:pPr marL="17145" marR="5080" indent="-5080">
              <a:lnSpc>
                <a:spcPct val="120200"/>
              </a:lnSpc>
              <a:spcBef>
                <a:spcPts val="350"/>
              </a:spcBef>
            </a:pPr>
            <a:r>
              <a:rPr sz="2800" spc="-20" dirty="0">
                <a:solidFill>
                  <a:srgbClr val="424242"/>
                </a:solidFill>
                <a:latin typeface="Arial MT"/>
                <a:cs typeface="Arial MT"/>
              </a:rPr>
              <a:t>Inserting</a:t>
            </a:r>
            <a:r>
              <a:rPr sz="2800" spc="-70" dirty="0">
                <a:solidFill>
                  <a:srgbClr val="424242"/>
                </a:solidFill>
                <a:latin typeface="Arial MT"/>
                <a:cs typeface="Arial MT"/>
              </a:rPr>
              <a:t> </a:t>
            </a:r>
            <a:r>
              <a:rPr sz="2800" spc="-20" dirty="0">
                <a:solidFill>
                  <a:srgbClr val="494949"/>
                </a:solidFill>
                <a:latin typeface="Arial MT"/>
                <a:cs typeface="Arial MT"/>
              </a:rPr>
              <a:t>extra</a:t>
            </a:r>
            <a:r>
              <a:rPr sz="2800" spc="-70" dirty="0">
                <a:solidFill>
                  <a:srgbClr val="494949"/>
                </a:solidFill>
                <a:latin typeface="Arial MT"/>
                <a:cs typeface="Arial MT"/>
              </a:rPr>
              <a:t> </a:t>
            </a:r>
            <a:r>
              <a:rPr sz="2800" spc="-25" dirty="0">
                <a:solidFill>
                  <a:srgbClr val="444444"/>
                </a:solidFill>
                <a:latin typeface="Arial MT"/>
                <a:cs typeface="Arial MT"/>
              </a:rPr>
              <a:t>bases</a:t>
            </a:r>
            <a:r>
              <a:rPr sz="2800" spc="-100" dirty="0">
                <a:solidFill>
                  <a:srgbClr val="444444"/>
                </a:solidFill>
                <a:latin typeface="Arial MT"/>
                <a:cs typeface="Arial MT"/>
              </a:rPr>
              <a:t> </a:t>
            </a:r>
            <a:r>
              <a:rPr sz="2800" dirty="0">
                <a:solidFill>
                  <a:srgbClr val="424242"/>
                </a:solidFill>
                <a:latin typeface="Arial MT"/>
                <a:cs typeface="Arial MT"/>
              </a:rPr>
              <a:t>extends</a:t>
            </a:r>
            <a:r>
              <a:rPr sz="2800" spc="-60" dirty="0">
                <a:solidFill>
                  <a:srgbClr val="424242"/>
                </a:solidFill>
                <a:latin typeface="Arial MT"/>
                <a:cs typeface="Arial MT"/>
              </a:rPr>
              <a:t> </a:t>
            </a:r>
            <a:r>
              <a:rPr sz="2800" spc="-10" dirty="0">
                <a:solidFill>
                  <a:srgbClr val="464646"/>
                </a:solidFill>
                <a:latin typeface="Arial MT"/>
                <a:cs typeface="Arial MT"/>
              </a:rPr>
              <a:t>sequence</a:t>
            </a:r>
            <a:r>
              <a:rPr sz="2800" spc="-100" dirty="0">
                <a:solidFill>
                  <a:srgbClr val="464646"/>
                </a:solidFill>
                <a:latin typeface="Arial MT"/>
                <a:cs typeface="Arial MT"/>
              </a:rPr>
              <a:t> </a:t>
            </a:r>
            <a:r>
              <a:rPr sz="2800" spc="-10" dirty="0">
                <a:solidFill>
                  <a:srgbClr val="525252"/>
                </a:solidFill>
                <a:latin typeface="Arial MT"/>
                <a:cs typeface="Arial MT"/>
              </a:rPr>
              <a:t>length,</a:t>
            </a:r>
            <a:r>
              <a:rPr sz="2800" spc="-40" dirty="0">
                <a:solidFill>
                  <a:srgbClr val="525252"/>
                </a:solidFill>
                <a:latin typeface="Arial MT"/>
                <a:cs typeface="Arial MT"/>
              </a:rPr>
              <a:t> </a:t>
            </a:r>
            <a:r>
              <a:rPr sz="2800" dirty="0">
                <a:solidFill>
                  <a:srgbClr val="464646"/>
                </a:solidFill>
                <a:latin typeface="Arial MT"/>
                <a:cs typeface="Arial MT"/>
              </a:rPr>
              <a:t>allowing</a:t>
            </a:r>
            <a:r>
              <a:rPr sz="2800" spc="-100" dirty="0">
                <a:solidFill>
                  <a:srgbClr val="464646"/>
                </a:solidFill>
                <a:latin typeface="Arial MT"/>
                <a:cs typeface="Arial MT"/>
              </a:rPr>
              <a:t> </a:t>
            </a:r>
            <a:r>
              <a:rPr sz="2800" spc="-45" dirty="0">
                <a:solidFill>
                  <a:srgbClr val="444444"/>
                </a:solidFill>
                <a:latin typeface="Arial MT"/>
                <a:cs typeface="Arial MT"/>
              </a:rPr>
              <a:t>easy</a:t>
            </a:r>
            <a:r>
              <a:rPr sz="2800" spc="-145" dirty="0">
                <a:solidFill>
                  <a:srgbClr val="444444"/>
                </a:solidFill>
                <a:latin typeface="Arial MT"/>
                <a:cs typeface="Arial MT"/>
              </a:rPr>
              <a:t> </a:t>
            </a:r>
            <a:r>
              <a:rPr sz="2800" dirty="0">
                <a:solidFill>
                  <a:srgbClr val="424242"/>
                </a:solidFill>
                <a:latin typeface="Arial MT"/>
                <a:cs typeface="Arial MT"/>
              </a:rPr>
              <a:t>detection</a:t>
            </a:r>
            <a:r>
              <a:rPr sz="2800" spc="-110" dirty="0">
                <a:solidFill>
                  <a:srgbClr val="424242"/>
                </a:solidFill>
                <a:latin typeface="Arial MT"/>
                <a:cs typeface="Arial MT"/>
              </a:rPr>
              <a:t> </a:t>
            </a:r>
            <a:r>
              <a:rPr sz="2800" spc="-65" dirty="0">
                <a:solidFill>
                  <a:srgbClr val="4B4B4B"/>
                </a:solidFill>
                <a:latin typeface="Arial MT"/>
                <a:cs typeface="Arial MT"/>
              </a:rPr>
              <a:t>via</a:t>
            </a:r>
            <a:r>
              <a:rPr sz="2800" spc="-80" dirty="0">
                <a:solidFill>
                  <a:srgbClr val="4B4B4B"/>
                </a:solidFill>
                <a:latin typeface="Arial MT"/>
                <a:cs typeface="Arial MT"/>
              </a:rPr>
              <a:t> </a:t>
            </a:r>
            <a:r>
              <a:rPr sz="2800" spc="-10" dirty="0">
                <a:solidFill>
                  <a:srgbClr val="424242"/>
                </a:solidFill>
                <a:latin typeface="Arial MT"/>
                <a:cs typeface="Arial MT"/>
              </a:rPr>
              <a:t>sizing </a:t>
            </a:r>
            <a:r>
              <a:rPr sz="2800" spc="-10" dirty="0">
                <a:solidFill>
                  <a:srgbClr val="414141"/>
                </a:solidFill>
                <a:latin typeface="Arial MT"/>
                <a:cs typeface="Arial MT"/>
              </a:rPr>
              <a:t>chromatography.</a:t>
            </a:r>
            <a:endParaRPr sz="2800" dirty="0">
              <a:latin typeface="Arial MT"/>
              <a:cs typeface="Arial MT"/>
            </a:endParaRPr>
          </a:p>
        </p:txBody>
      </p:sp>
      <p:sp>
        <p:nvSpPr>
          <p:cNvPr id="4" name="object 4"/>
          <p:cNvSpPr txBox="1"/>
          <p:nvPr/>
        </p:nvSpPr>
        <p:spPr>
          <a:xfrm>
            <a:off x="1458039" y="5942287"/>
            <a:ext cx="7892415" cy="1497846"/>
          </a:xfrm>
          <a:prstGeom prst="rect">
            <a:avLst/>
          </a:prstGeom>
        </p:spPr>
        <p:txBody>
          <a:bodyPr vert="horz" wrap="square" lIns="0" tIns="114300" rIns="0" bIns="0" rtlCol="0">
            <a:spAutoFit/>
          </a:bodyPr>
          <a:lstStyle/>
          <a:p>
            <a:pPr marL="13970">
              <a:lnSpc>
                <a:spcPct val="100000"/>
              </a:lnSpc>
              <a:spcBef>
                <a:spcPts val="900"/>
              </a:spcBef>
            </a:pPr>
            <a:r>
              <a:rPr sz="2800" spc="-25" dirty="0">
                <a:solidFill>
                  <a:srgbClr val="821C1F"/>
                </a:solidFill>
                <a:latin typeface="Arial MT"/>
                <a:cs typeface="Arial MT"/>
              </a:rPr>
              <a:t>Lack</a:t>
            </a:r>
            <a:r>
              <a:rPr sz="2800" spc="-70" dirty="0">
                <a:solidFill>
                  <a:srgbClr val="821C1F"/>
                </a:solidFill>
                <a:latin typeface="Arial MT"/>
                <a:cs typeface="Arial MT"/>
              </a:rPr>
              <a:t> </a:t>
            </a:r>
            <a:r>
              <a:rPr sz="2800" spc="70" dirty="0">
                <a:solidFill>
                  <a:srgbClr val="8E1A1F"/>
                </a:solidFill>
                <a:latin typeface="Arial MT"/>
                <a:cs typeface="Arial MT"/>
              </a:rPr>
              <a:t>of</a:t>
            </a:r>
            <a:r>
              <a:rPr sz="2800" spc="-120" dirty="0">
                <a:solidFill>
                  <a:srgbClr val="8E1A1F"/>
                </a:solidFill>
                <a:latin typeface="Arial MT"/>
                <a:cs typeface="Arial MT"/>
              </a:rPr>
              <a:t> </a:t>
            </a:r>
            <a:r>
              <a:rPr sz="2800" spc="-10" dirty="0">
                <a:solidFill>
                  <a:srgbClr val="7C2650"/>
                </a:solidFill>
                <a:latin typeface="Arial MT"/>
                <a:cs typeface="Arial MT"/>
              </a:rPr>
              <a:t>Unified</a:t>
            </a:r>
            <a:r>
              <a:rPr sz="2800" spc="-170" dirty="0">
                <a:solidFill>
                  <a:srgbClr val="7C2650"/>
                </a:solidFill>
                <a:latin typeface="Arial MT"/>
                <a:cs typeface="Arial MT"/>
              </a:rPr>
              <a:t> </a:t>
            </a:r>
            <a:r>
              <a:rPr sz="2800" spc="-10" dirty="0">
                <a:solidFill>
                  <a:srgbClr val="892823"/>
                </a:solidFill>
                <a:latin typeface="Arial MT"/>
                <a:cs typeface="Arial MT"/>
              </a:rPr>
              <a:t>Steganalysis</a:t>
            </a:r>
            <a:endParaRPr sz="2800" dirty="0">
              <a:latin typeface="Arial MT"/>
              <a:cs typeface="Arial MT"/>
            </a:endParaRPr>
          </a:p>
          <a:p>
            <a:pPr marL="12700">
              <a:lnSpc>
                <a:spcPct val="100000"/>
              </a:lnSpc>
              <a:spcBef>
                <a:spcPts val="695"/>
              </a:spcBef>
            </a:pPr>
            <a:r>
              <a:rPr sz="2800" spc="-45" dirty="0">
                <a:solidFill>
                  <a:srgbClr val="3B3B3B"/>
                </a:solidFill>
                <a:latin typeface="Arial MT"/>
                <a:cs typeface="Arial MT"/>
              </a:rPr>
              <a:t>Techniques</a:t>
            </a:r>
            <a:r>
              <a:rPr sz="2800" spc="50" dirty="0">
                <a:solidFill>
                  <a:srgbClr val="3B3B3B"/>
                </a:solidFill>
                <a:latin typeface="Arial MT"/>
                <a:cs typeface="Arial MT"/>
              </a:rPr>
              <a:t> </a:t>
            </a:r>
            <a:r>
              <a:rPr sz="2800" spc="-30" dirty="0">
                <a:solidFill>
                  <a:srgbClr val="424242"/>
                </a:solidFill>
                <a:latin typeface="Arial MT"/>
                <a:cs typeface="Arial MT"/>
              </a:rPr>
              <a:t>are</a:t>
            </a:r>
            <a:r>
              <a:rPr sz="2800" spc="-140" dirty="0">
                <a:solidFill>
                  <a:srgbClr val="424242"/>
                </a:solidFill>
                <a:latin typeface="Arial MT"/>
                <a:cs typeface="Arial MT"/>
              </a:rPr>
              <a:t> </a:t>
            </a:r>
            <a:r>
              <a:rPr sz="2800" spc="-30" dirty="0">
                <a:solidFill>
                  <a:srgbClr val="424242"/>
                </a:solidFill>
                <a:latin typeface="Arial MT"/>
                <a:cs typeface="Arial MT"/>
              </a:rPr>
              <a:t>rarely</a:t>
            </a:r>
            <a:r>
              <a:rPr sz="2800" spc="-85" dirty="0">
                <a:solidFill>
                  <a:srgbClr val="424242"/>
                </a:solidFill>
                <a:latin typeface="Arial MT"/>
                <a:cs typeface="Arial MT"/>
              </a:rPr>
              <a:t> </a:t>
            </a:r>
            <a:r>
              <a:rPr sz="2800" dirty="0">
                <a:solidFill>
                  <a:srgbClr val="424242"/>
                </a:solidFill>
                <a:latin typeface="Arial MT"/>
                <a:cs typeface="Arial MT"/>
              </a:rPr>
              <a:t>tested</a:t>
            </a:r>
            <a:r>
              <a:rPr sz="2800" spc="-140" dirty="0">
                <a:solidFill>
                  <a:srgbClr val="424242"/>
                </a:solidFill>
                <a:latin typeface="Arial MT"/>
                <a:cs typeface="Arial MT"/>
              </a:rPr>
              <a:t> </a:t>
            </a:r>
            <a:r>
              <a:rPr sz="2800" spc="-10" dirty="0">
                <a:solidFill>
                  <a:srgbClr val="484848"/>
                </a:solidFill>
                <a:latin typeface="Arial MT"/>
                <a:cs typeface="Arial MT"/>
              </a:rPr>
              <a:t>against</a:t>
            </a:r>
            <a:r>
              <a:rPr sz="2800" spc="-40" dirty="0">
                <a:solidFill>
                  <a:srgbClr val="484848"/>
                </a:solidFill>
                <a:latin typeface="Arial MT"/>
                <a:cs typeface="Arial MT"/>
              </a:rPr>
              <a:t> </a:t>
            </a:r>
            <a:r>
              <a:rPr sz="2800" dirty="0">
                <a:solidFill>
                  <a:srgbClr val="424242"/>
                </a:solidFill>
                <a:latin typeface="Arial MT"/>
                <a:cs typeface="Arial MT"/>
              </a:rPr>
              <a:t>modern</a:t>
            </a:r>
            <a:r>
              <a:rPr sz="2800" spc="-45" dirty="0">
                <a:solidFill>
                  <a:srgbClr val="424242"/>
                </a:solidFill>
                <a:latin typeface="Arial MT"/>
                <a:cs typeface="Arial MT"/>
              </a:rPr>
              <a:t> </a:t>
            </a:r>
            <a:r>
              <a:rPr sz="2800" dirty="0">
                <a:solidFill>
                  <a:srgbClr val="424242"/>
                </a:solidFill>
                <a:latin typeface="Arial MT"/>
                <a:cs typeface="Arial MT"/>
              </a:rPr>
              <a:t>sequence-learning</a:t>
            </a:r>
            <a:r>
              <a:rPr sz="2800" spc="-105" dirty="0">
                <a:solidFill>
                  <a:srgbClr val="424242"/>
                </a:solidFill>
                <a:latin typeface="Arial MT"/>
                <a:cs typeface="Arial MT"/>
              </a:rPr>
              <a:t> </a:t>
            </a:r>
            <a:r>
              <a:rPr sz="2800" spc="-30" dirty="0">
                <a:solidFill>
                  <a:srgbClr val="464646"/>
                </a:solidFill>
                <a:latin typeface="Arial MT"/>
                <a:cs typeface="Arial MT"/>
              </a:rPr>
              <a:t>neural</a:t>
            </a:r>
            <a:r>
              <a:rPr sz="2800" spc="-160" dirty="0">
                <a:solidFill>
                  <a:srgbClr val="464646"/>
                </a:solidFill>
                <a:latin typeface="Arial MT"/>
                <a:cs typeface="Arial MT"/>
              </a:rPr>
              <a:t> </a:t>
            </a:r>
            <a:r>
              <a:rPr sz="2800" spc="-10" dirty="0">
                <a:solidFill>
                  <a:srgbClr val="444444"/>
                </a:solidFill>
                <a:latin typeface="Arial MT"/>
                <a:cs typeface="Arial MT"/>
              </a:rPr>
              <a:t>models.</a:t>
            </a:r>
            <a:endParaRPr sz="2800" dirty="0">
              <a:latin typeface="Arial MT"/>
              <a:cs typeface="Arial MT"/>
            </a:endParaRPr>
          </a:p>
        </p:txBody>
      </p:sp>
      <p:sp>
        <p:nvSpPr>
          <p:cNvPr id="5" name="object 5"/>
          <p:cNvSpPr txBox="1"/>
          <p:nvPr/>
        </p:nvSpPr>
        <p:spPr>
          <a:xfrm>
            <a:off x="1473073" y="7716734"/>
            <a:ext cx="8212227" cy="2001829"/>
          </a:xfrm>
          <a:prstGeom prst="rect">
            <a:avLst/>
          </a:prstGeom>
        </p:spPr>
        <p:txBody>
          <a:bodyPr vert="horz" wrap="square" lIns="0" tIns="123189" rIns="0" bIns="0" rtlCol="0">
            <a:spAutoFit/>
          </a:bodyPr>
          <a:lstStyle/>
          <a:p>
            <a:pPr marL="12700">
              <a:lnSpc>
                <a:spcPct val="100000"/>
              </a:lnSpc>
              <a:spcBef>
                <a:spcPts val="969"/>
              </a:spcBef>
            </a:pPr>
            <a:r>
              <a:rPr sz="2800" spc="-45" dirty="0">
                <a:solidFill>
                  <a:srgbClr val="930F24"/>
                </a:solidFill>
                <a:latin typeface="Arial MT"/>
                <a:cs typeface="Arial MT"/>
              </a:rPr>
              <a:t>Reference</a:t>
            </a:r>
            <a:r>
              <a:rPr sz="2800" spc="-70" dirty="0">
                <a:solidFill>
                  <a:srgbClr val="930F24"/>
                </a:solidFill>
                <a:latin typeface="Arial MT"/>
                <a:cs typeface="Arial MT"/>
              </a:rPr>
              <a:t> </a:t>
            </a:r>
            <a:r>
              <a:rPr sz="2800" spc="-35" dirty="0">
                <a:solidFill>
                  <a:srgbClr val="892341"/>
                </a:solidFill>
                <a:latin typeface="Arial MT"/>
                <a:cs typeface="Arial MT"/>
              </a:rPr>
              <a:t>Sequence</a:t>
            </a:r>
            <a:r>
              <a:rPr sz="2800" spc="-75" dirty="0">
                <a:solidFill>
                  <a:srgbClr val="892341"/>
                </a:solidFill>
                <a:latin typeface="Arial MT"/>
                <a:cs typeface="Arial MT"/>
              </a:rPr>
              <a:t> </a:t>
            </a:r>
            <a:r>
              <a:rPr sz="2800" spc="-10" dirty="0">
                <a:solidFill>
                  <a:srgbClr val="972821"/>
                </a:solidFill>
                <a:latin typeface="Arial MT"/>
                <a:cs typeface="Arial MT"/>
              </a:rPr>
              <a:t>Dependency</a:t>
            </a:r>
            <a:endParaRPr sz="2800" dirty="0">
              <a:latin typeface="Arial MT"/>
              <a:cs typeface="Arial MT"/>
            </a:endParaRPr>
          </a:p>
          <a:p>
            <a:pPr marL="15875">
              <a:lnSpc>
                <a:spcPct val="100000"/>
              </a:lnSpc>
              <a:spcBef>
                <a:spcPts val="760"/>
              </a:spcBef>
            </a:pPr>
            <a:r>
              <a:rPr sz="2800" spc="-10" dirty="0">
                <a:solidFill>
                  <a:srgbClr val="505050"/>
                </a:solidFill>
                <a:latin typeface="Arial MT"/>
                <a:cs typeface="Arial MT"/>
              </a:rPr>
              <a:t>Most</a:t>
            </a:r>
            <a:r>
              <a:rPr sz="2800" spc="-155" dirty="0">
                <a:solidFill>
                  <a:srgbClr val="505050"/>
                </a:solidFill>
                <a:latin typeface="Arial MT"/>
                <a:cs typeface="Arial MT"/>
              </a:rPr>
              <a:t> </a:t>
            </a:r>
            <a:r>
              <a:rPr sz="2800" spc="-35" dirty="0">
                <a:solidFill>
                  <a:srgbClr val="424242"/>
                </a:solidFill>
                <a:latin typeface="Arial MT"/>
                <a:cs typeface="Arial MT"/>
              </a:rPr>
              <a:t>systems</a:t>
            </a:r>
            <a:r>
              <a:rPr sz="2800" spc="-75" dirty="0">
                <a:solidFill>
                  <a:srgbClr val="424242"/>
                </a:solidFill>
                <a:latin typeface="Arial MT"/>
                <a:cs typeface="Arial MT"/>
              </a:rPr>
              <a:t> </a:t>
            </a:r>
            <a:r>
              <a:rPr sz="2800" dirty="0">
                <a:solidFill>
                  <a:srgbClr val="444444"/>
                </a:solidFill>
                <a:latin typeface="Arial MT"/>
                <a:cs typeface="Arial MT"/>
              </a:rPr>
              <a:t>require</a:t>
            </a:r>
            <a:r>
              <a:rPr sz="2800" spc="-175" dirty="0">
                <a:solidFill>
                  <a:srgbClr val="444444"/>
                </a:solidFill>
                <a:latin typeface="Arial MT"/>
                <a:cs typeface="Arial MT"/>
              </a:rPr>
              <a:t> </a:t>
            </a:r>
            <a:r>
              <a:rPr sz="2800" dirty="0">
                <a:solidFill>
                  <a:srgbClr val="565656"/>
                </a:solidFill>
                <a:latin typeface="Arial MT"/>
                <a:cs typeface="Arial MT"/>
              </a:rPr>
              <a:t>the</a:t>
            </a:r>
            <a:r>
              <a:rPr sz="2800" spc="-190" dirty="0">
                <a:solidFill>
                  <a:srgbClr val="565656"/>
                </a:solidFill>
                <a:latin typeface="Arial MT"/>
                <a:cs typeface="Arial MT"/>
              </a:rPr>
              <a:t> </a:t>
            </a:r>
            <a:r>
              <a:rPr sz="2800" dirty="0">
                <a:solidFill>
                  <a:srgbClr val="3F3F3F"/>
                </a:solidFill>
                <a:latin typeface="Arial MT"/>
                <a:cs typeface="Arial MT"/>
              </a:rPr>
              <a:t>original</a:t>
            </a:r>
            <a:r>
              <a:rPr sz="2800" spc="-220" dirty="0">
                <a:solidFill>
                  <a:srgbClr val="3F3F3F"/>
                </a:solidFill>
                <a:latin typeface="Arial MT"/>
                <a:cs typeface="Arial MT"/>
              </a:rPr>
              <a:t> </a:t>
            </a:r>
            <a:r>
              <a:rPr sz="2800" dirty="0">
                <a:solidFill>
                  <a:srgbClr val="424242"/>
                </a:solidFill>
                <a:latin typeface="Arial MT"/>
                <a:cs typeface="Arial MT"/>
              </a:rPr>
              <a:t>unmodified</a:t>
            </a:r>
            <a:r>
              <a:rPr sz="2800" spc="-114" dirty="0">
                <a:solidFill>
                  <a:srgbClr val="424242"/>
                </a:solidFill>
                <a:latin typeface="Arial MT"/>
                <a:cs typeface="Arial MT"/>
              </a:rPr>
              <a:t> </a:t>
            </a:r>
            <a:r>
              <a:rPr sz="2800" spc="-110" dirty="0">
                <a:solidFill>
                  <a:srgbClr val="4F4F4F"/>
                </a:solidFill>
                <a:latin typeface="Arial MT"/>
                <a:cs typeface="Arial MT"/>
              </a:rPr>
              <a:t>DNA</a:t>
            </a:r>
            <a:r>
              <a:rPr sz="2800" spc="-105" dirty="0">
                <a:solidFill>
                  <a:srgbClr val="4F4F4F"/>
                </a:solidFill>
                <a:latin typeface="Arial MT"/>
                <a:cs typeface="Arial MT"/>
              </a:rPr>
              <a:t> </a:t>
            </a:r>
            <a:r>
              <a:rPr sz="2800" spc="-10" dirty="0">
                <a:solidFill>
                  <a:srgbClr val="4B4B4B"/>
                </a:solidFill>
                <a:latin typeface="Arial MT"/>
                <a:cs typeface="Arial MT"/>
              </a:rPr>
              <a:t>sequence</a:t>
            </a:r>
            <a:r>
              <a:rPr sz="2800" spc="-15" dirty="0">
                <a:solidFill>
                  <a:srgbClr val="4B4B4B"/>
                </a:solidFill>
                <a:latin typeface="Arial MT"/>
                <a:cs typeface="Arial MT"/>
              </a:rPr>
              <a:t> </a:t>
            </a:r>
            <a:r>
              <a:rPr sz="2800" dirty="0">
                <a:solidFill>
                  <a:srgbClr val="545454"/>
                </a:solidFill>
                <a:latin typeface="Arial MT"/>
                <a:cs typeface="Arial MT"/>
              </a:rPr>
              <a:t>to</a:t>
            </a:r>
            <a:r>
              <a:rPr sz="2800" spc="5" dirty="0">
                <a:solidFill>
                  <a:srgbClr val="545454"/>
                </a:solidFill>
                <a:latin typeface="Arial MT"/>
                <a:cs typeface="Arial MT"/>
              </a:rPr>
              <a:t> </a:t>
            </a:r>
            <a:r>
              <a:rPr sz="2800" dirty="0">
                <a:solidFill>
                  <a:srgbClr val="3D3D3D"/>
                </a:solidFill>
                <a:latin typeface="Arial MT"/>
                <a:cs typeface="Arial MT"/>
              </a:rPr>
              <a:t>extract</a:t>
            </a:r>
            <a:r>
              <a:rPr sz="2800" spc="5" dirty="0">
                <a:solidFill>
                  <a:srgbClr val="3D3D3D"/>
                </a:solidFill>
                <a:latin typeface="Arial MT"/>
                <a:cs typeface="Arial MT"/>
              </a:rPr>
              <a:t> </a:t>
            </a:r>
            <a:r>
              <a:rPr sz="2800" dirty="0">
                <a:solidFill>
                  <a:srgbClr val="565656"/>
                </a:solidFill>
                <a:latin typeface="Arial MT"/>
                <a:cs typeface="Arial MT"/>
              </a:rPr>
              <a:t>the</a:t>
            </a:r>
            <a:r>
              <a:rPr sz="2800" spc="-185" dirty="0">
                <a:solidFill>
                  <a:srgbClr val="565656"/>
                </a:solidFill>
                <a:latin typeface="Arial MT"/>
                <a:cs typeface="Arial MT"/>
              </a:rPr>
              <a:t> </a:t>
            </a:r>
            <a:r>
              <a:rPr sz="2800" spc="-10" dirty="0">
                <a:solidFill>
                  <a:srgbClr val="464646"/>
                </a:solidFill>
                <a:latin typeface="Arial MT"/>
                <a:cs typeface="Arial MT"/>
              </a:rPr>
              <a:t>hidden</a:t>
            </a:r>
            <a:endParaRPr sz="2800" dirty="0">
              <a:latin typeface="Arial MT"/>
              <a:cs typeface="Arial MT"/>
            </a:endParaRPr>
          </a:p>
          <a:p>
            <a:pPr marL="16510">
              <a:lnSpc>
                <a:spcPct val="100000"/>
              </a:lnSpc>
              <a:spcBef>
                <a:spcPts val="395"/>
              </a:spcBef>
            </a:pPr>
            <a:r>
              <a:rPr sz="2800" spc="-10" dirty="0">
                <a:solidFill>
                  <a:srgbClr val="424242"/>
                </a:solidFill>
                <a:latin typeface="Arial MT"/>
                <a:cs typeface="Arial MT"/>
              </a:rPr>
              <a:t>data.</a:t>
            </a:r>
            <a:endParaRPr sz="2800" dirty="0">
              <a:latin typeface="Arial MT"/>
              <a:cs typeface="Arial MT"/>
            </a:endParaRPr>
          </a:p>
        </p:txBody>
      </p:sp>
      <p:sp>
        <p:nvSpPr>
          <p:cNvPr id="6" name="object 6"/>
          <p:cNvSpPr txBox="1"/>
          <p:nvPr/>
        </p:nvSpPr>
        <p:spPr>
          <a:xfrm>
            <a:off x="10569894" y="3833479"/>
            <a:ext cx="7477125" cy="2097433"/>
          </a:xfrm>
          <a:prstGeom prst="rect">
            <a:avLst/>
          </a:prstGeom>
        </p:spPr>
        <p:txBody>
          <a:bodyPr vert="horz" wrap="square" lIns="0" tIns="123189" rIns="0" bIns="0" rtlCol="0">
            <a:spAutoFit/>
          </a:bodyPr>
          <a:lstStyle/>
          <a:p>
            <a:pPr marL="12700">
              <a:lnSpc>
                <a:spcPct val="100000"/>
              </a:lnSpc>
              <a:spcBef>
                <a:spcPts val="969"/>
              </a:spcBef>
            </a:pPr>
            <a:r>
              <a:rPr sz="2800" spc="-20" dirty="0">
                <a:solidFill>
                  <a:srgbClr val="8A334B"/>
                </a:solidFill>
                <a:latin typeface="Arial MT"/>
                <a:cs typeface="Arial MT"/>
              </a:rPr>
              <a:t>Base-</a:t>
            </a:r>
            <a:r>
              <a:rPr sz="2800" spc="-10" dirty="0">
                <a:solidFill>
                  <a:srgbClr val="8A334B"/>
                </a:solidFill>
                <a:latin typeface="Arial MT"/>
                <a:cs typeface="Arial MT"/>
              </a:rPr>
              <a:t>Frequency</a:t>
            </a:r>
            <a:r>
              <a:rPr sz="2800" spc="-55" dirty="0">
                <a:solidFill>
                  <a:srgbClr val="8A334B"/>
                </a:solidFill>
                <a:latin typeface="Arial MT"/>
                <a:cs typeface="Arial MT"/>
              </a:rPr>
              <a:t> </a:t>
            </a:r>
            <a:r>
              <a:rPr sz="2800" spc="-10" dirty="0">
                <a:solidFill>
                  <a:srgbClr val="80212F"/>
                </a:solidFill>
                <a:latin typeface="Arial MT"/>
                <a:cs typeface="Arial MT"/>
              </a:rPr>
              <a:t>Shirts</a:t>
            </a:r>
            <a:endParaRPr sz="2800" dirty="0">
              <a:latin typeface="Arial MT"/>
              <a:cs typeface="Arial MT"/>
            </a:endParaRPr>
          </a:p>
          <a:p>
            <a:pPr marL="15875" marR="5080" indent="-1905">
              <a:lnSpc>
                <a:spcPct val="120200"/>
              </a:lnSpc>
              <a:spcBef>
                <a:spcPts val="320"/>
              </a:spcBef>
            </a:pPr>
            <a:r>
              <a:rPr sz="2800" spc="-10" dirty="0">
                <a:solidFill>
                  <a:srgbClr val="494949"/>
                </a:solidFill>
                <a:latin typeface="Arial MT"/>
                <a:cs typeface="Arial MT"/>
              </a:rPr>
              <a:t>Most</a:t>
            </a:r>
            <a:r>
              <a:rPr sz="2800" spc="-175" dirty="0">
                <a:solidFill>
                  <a:srgbClr val="494949"/>
                </a:solidFill>
                <a:latin typeface="Arial MT"/>
                <a:cs typeface="Arial MT"/>
              </a:rPr>
              <a:t> </a:t>
            </a:r>
            <a:r>
              <a:rPr sz="2800" dirty="0">
                <a:solidFill>
                  <a:srgbClr val="444444"/>
                </a:solidFill>
                <a:latin typeface="Arial MT"/>
                <a:cs typeface="Arial MT"/>
              </a:rPr>
              <a:t>algorithms</a:t>
            </a:r>
            <a:r>
              <a:rPr sz="2800" spc="-95" dirty="0">
                <a:solidFill>
                  <a:srgbClr val="444444"/>
                </a:solidFill>
                <a:latin typeface="Arial MT"/>
                <a:cs typeface="Arial MT"/>
              </a:rPr>
              <a:t> </a:t>
            </a:r>
            <a:r>
              <a:rPr sz="2800" spc="-10" dirty="0">
                <a:solidFill>
                  <a:srgbClr val="525252"/>
                </a:solidFill>
                <a:latin typeface="Arial MT"/>
                <a:cs typeface="Arial MT"/>
              </a:rPr>
              <a:t>alter</a:t>
            </a:r>
            <a:r>
              <a:rPr sz="2800" spc="-40" dirty="0">
                <a:solidFill>
                  <a:srgbClr val="525252"/>
                </a:solidFill>
                <a:latin typeface="Arial MT"/>
                <a:cs typeface="Arial MT"/>
              </a:rPr>
              <a:t> </a:t>
            </a:r>
            <a:r>
              <a:rPr sz="2800" dirty="0">
                <a:solidFill>
                  <a:srgbClr val="595959"/>
                </a:solidFill>
                <a:latin typeface="Arial MT"/>
                <a:cs typeface="Arial MT"/>
              </a:rPr>
              <a:t>the</a:t>
            </a:r>
            <a:r>
              <a:rPr sz="2800" spc="-195" dirty="0">
                <a:solidFill>
                  <a:srgbClr val="595959"/>
                </a:solidFill>
                <a:latin typeface="Arial MT"/>
                <a:cs typeface="Arial MT"/>
              </a:rPr>
              <a:t> </a:t>
            </a:r>
            <a:r>
              <a:rPr sz="2800" spc="-10" dirty="0">
                <a:solidFill>
                  <a:srgbClr val="494949"/>
                </a:solidFill>
                <a:latin typeface="Arial MT"/>
                <a:cs typeface="Arial MT"/>
              </a:rPr>
              <a:t>natural</a:t>
            </a:r>
            <a:r>
              <a:rPr sz="2800" spc="-175" dirty="0">
                <a:solidFill>
                  <a:srgbClr val="494949"/>
                </a:solidFill>
                <a:latin typeface="Arial MT"/>
                <a:cs typeface="Arial MT"/>
              </a:rPr>
              <a:t> </a:t>
            </a:r>
            <a:r>
              <a:rPr sz="2800" dirty="0">
                <a:solidFill>
                  <a:srgbClr val="464646"/>
                </a:solidFill>
                <a:latin typeface="Arial MT"/>
                <a:cs typeface="Arial MT"/>
              </a:rPr>
              <a:t>balance</a:t>
            </a:r>
            <a:r>
              <a:rPr sz="2800" spc="-185" dirty="0">
                <a:solidFill>
                  <a:srgbClr val="464646"/>
                </a:solidFill>
                <a:latin typeface="Arial MT"/>
                <a:cs typeface="Arial MT"/>
              </a:rPr>
              <a:t> </a:t>
            </a:r>
            <a:r>
              <a:rPr sz="2800" spc="65" dirty="0">
                <a:solidFill>
                  <a:srgbClr val="525252"/>
                </a:solidFill>
                <a:latin typeface="Arial MT"/>
                <a:cs typeface="Arial MT"/>
              </a:rPr>
              <a:t>of</a:t>
            </a:r>
            <a:r>
              <a:rPr sz="2800" spc="-105" dirty="0">
                <a:solidFill>
                  <a:srgbClr val="525252"/>
                </a:solidFill>
                <a:latin typeface="Arial MT"/>
                <a:cs typeface="Arial MT"/>
              </a:rPr>
              <a:t> </a:t>
            </a:r>
            <a:r>
              <a:rPr sz="2800" spc="-65" dirty="0">
                <a:solidFill>
                  <a:srgbClr val="464646"/>
                </a:solidFill>
                <a:latin typeface="Arial MT"/>
                <a:cs typeface="Arial MT"/>
              </a:rPr>
              <a:t>GC/AT</a:t>
            </a:r>
            <a:r>
              <a:rPr sz="2800" spc="-165" dirty="0">
                <a:solidFill>
                  <a:srgbClr val="464646"/>
                </a:solidFill>
                <a:latin typeface="Arial MT"/>
                <a:cs typeface="Arial MT"/>
              </a:rPr>
              <a:t> </a:t>
            </a:r>
            <a:r>
              <a:rPr sz="2800" dirty="0">
                <a:solidFill>
                  <a:srgbClr val="424242"/>
                </a:solidFill>
                <a:latin typeface="Arial MT"/>
                <a:cs typeface="Arial MT"/>
              </a:rPr>
              <a:t>ratios,</a:t>
            </a:r>
            <a:r>
              <a:rPr sz="2800" spc="-110" dirty="0">
                <a:solidFill>
                  <a:srgbClr val="424242"/>
                </a:solidFill>
                <a:latin typeface="Arial MT"/>
                <a:cs typeface="Arial MT"/>
              </a:rPr>
              <a:t> </a:t>
            </a:r>
            <a:r>
              <a:rPr sz="2800" spc="-30" dirty="0">
                <a:solidFill>
                  <a:srgbClr val="525252"/>
                </a:solidFill>
                <a:latin typeface="Arial MT"/>
                <a:cs typeface="Arial MT"/>
              </a:rPr>
              <a:t>making</a:t>
            </a:r>
            <a:r>
              <a:rPr sz="2800" spc="-110" dirty="0">
                <a:solidFill>
                  <a:srgbClr val="525252"/>
                </a:solidFill>
                <a:latin typeface="Arial MT"/>
                <a:cs typeface="Arial MT"/>
              </a:rPr>
              <a:t> </a:t>
            </a:r>
            <a:r>
              <a:rPr sz="2800" spc="-10" dirty="0">
                <a:solidFill>
                  <a:srgbClr val="505050"/>
                </a:solidFill>
                <a:latin typeface="Arial MT"/>
                <a:cs typeface="Arial MT"/>
              </a:rPr>
              <a:t>statistical </a:t>
            </a:r>
            <a:r>
              <a:rPr sz="2800" dirty="0">
                <a:solidFill>
                  <a:srgbClr val="424242"/>
                </a:solidFill>
                <a:latin typeface="Arial MT"/>
                <a:cs typeface="Arial MT"/>
              </a:rPr>
              <a:t>detection</a:t>
            </a:r>
            <a:r>
              <a:rPr sz="2800" spc="185" dirty="0">
                <a:solidFill>
                  <a:srgbClr val="424242"/>
                </a:solidFill>
                <a:latin typeface="Arial MT"/>
                <a:cs typeface="Arial MT"/>
              </a:rPr>
              <a:t> </a:t>
            </a:r>
            <a:r>
              <a:rPr sz="2800" spc="-10" dirty="0">
                <a:solidFill>
                  <a:srgbClr val="4F4F4F"/>
                </a:solidFill>
                <a:latin typeface="Arial MT"/>
                <a:cs typeface="Arial MT"/>
              </a:rPr>
              <a:t>simple</a:t>
            </a:r>
            <a:r>
              <a:rPr sz="1800" spc="-10" dirty="0">
                <a:solidFill>
                  <a:srgbClr val="4F4F4F"/>
                </a:solidFill>
                <a:latin typeface="Arial MT"/>
                <a:cs typeface="Arial MT"/>
              </a:rPr>
              <a:t>.</a:t>
            </a:r>
            <a:endParaRPr sz="1800" dirty="0">
              <a:latin typeface="Arial MT"/>
              <a:cs typeface="Arial MT"/>
            </a:endParaRPr>
          </a:p>
        </p:txBody>
      </p:sp>
      <p:sp>
        <p:nvSpPr>
          <p:cNvPr id="7" name="object 7"/>
          <p:cNvSpPr txBox="1"/>
          <p:nvPr/>
        </p:nvSpPr>
        <p:spPr>
          <a:xfrm>
            <a:off x="10569893" y="5930912"/>
            <a:ext cx="7254240" cy="2109616"/>
          </a:xfrm>
          <a:prstGeom prst="rect">
            <a:avLst/>
          </a:prstGeom>
        </p:spPr>
        <p:txBody>
          <a:bodyPr vert="horz" wrap="square" lIns="0" tIns="122555" rIns="0" bIns="0" rtlCol="0">
            <a:spAutoFit/>
          </a:bodyPr>
          <a:lstStyle/>
          <a:p>
            <a:pPr marL="14604">
              <a:lnSpc>
                <a:spcPct val="100000"/>
              </a:lnSpc>
              <a:spcBef>
                <a:spcPts val="965"/>
              </a:spcBef>
            </a:pPr>
            <a:r>
              <a:rPr sz="2800" spc="70" dirty="0">
                <a:solidFill>
                  <a:srgbClr val="872321"/>
                </a:solidFill>
                <a:latin typeface="Arial MT"/>
                <a:cs typeface="Arial MT"/>
              </a:rPr>
              <a:t>Destruction</a:t>
            </a:r>
            <a:r>
              <a:rPr sz="2800" spc="-30" dirty="0">
                <a:solidFill>
                  <a:srgbClr val="872321"/>
                </a:solidFill>
                <a:latin typeface="Arial MT"/>
                <a:cs typeface="Arial MT"/>
              </a:rPr>
              <a:t> </a:t>
            </a:r>
            <a:r>
              <a:rPr sz="2800" spc="65" dirty="0">
                <a:solidFill>
                  <a:srgbClr val="7C1615"/>
                </a:solidFill>
                <a:latin typeface="Arial MT"/>
                <a:cs typeface="Arial MT"/>
              </a:rPr>
              <a:t>of</a:t>
            </a:r>
            <a:r>
              <a:rPr sz="2800" spc="95" dirty="0">
                <a:solidFill>
                  <a:srgbClr val="7C1615"/>
                </a:solidFill>
                <a:latin typeface="Arial MT"/>
                <a:cs typeface="Arial MT"/>
              </a:rPr>
              <a:t> </a:t>
            </a:r>
            <a:r>
              <a:rPr sz="2800" spc="75" dirty="0">
                <a:solidFill>
                  <a:srgbClr val="900E16"/>
                </a:solidFill>
                <a:latin typeface="Arial MT"/>
                <a:cs typeface="Arial MT"/>
              </a:rPr>
              <a:t>Biological</a:t>
            </a:r>
            <a:r>
              <a:rPr sz="2800" spc="-10" dirty="0">
                <a:solidFill>
                  <a:srgbClr val="900E16"/>
                </a:solidFill>
                <a:latin typeface="Arial MT"/>
                <a:cs typeface="Arial MT"/>
              </a:rPr>
              <a:t> </a:t>
            </a:r>
            <a:r>
              <a:rPr sz="2800" spc="55" dirty="0">
                <a:solidFill>
                  <a:srgbClr val="951A36"/>
                </a:solidFill>
                <a:latin typeface="Arial MT"/>
                <a:cs typeface="Arial MT"/>
              </a:rPr>
              <a:t>Function</a:t>
            </a:r>
            <a:endParaRPr sz="2800" dirty="0">
              <a:latin typeface="Arial MT"/>
              <a:cs typeface="Arial MT"/>
            </a:endParaRPr>
          </a:p>
          <a:p>
            <a:pPr marL="18415" marR="5080" indent="-6350">
              <a:lnSpc>
                <a:spcPct val="120200"/>
              </a:lnSpc>
              <a:spcBef>
                <a:spcPts val="350"/>
              </a:spcBef>
            </a:pPr>
            <a:r>
              <a:rPr sz="2800" spc="-45" dirty="0">
                <a:solidFill>
                  <a:srgbClr val="4D4D4D"/>
                </a:solidFill>
                <a:latin typeface="Arial MT"/>
                <a:cs typeface="Arial MT"/>
              </a:rPr>
              <a:t>Tampering</a:t>
            </a:r>
            <a:r>
              <a:rPr sz="2800" spc="-20" dirty="0">
                <a:solidFill>
                  <a:srgbClr val="4D4D4D"/>
                </a:solidFill>
                <a:latin typeface="Arial MT"/>
                <a:cs typeface="Arial MT"/>
              </a:rPr>
              <a:t> </a:t>
            </a:r>
            <a:r>
              <a:rPr sz="2800" dirty="0">
                <a:solidFill>
                  <a:srgbClr val="424242"/>
                </a:solidFill>
                <a:latin typeface="Arial MT"/>
                <a:cs typeface="Arial MT"/>
              </a:rPr>
              <a:t>often</a:t>
            </a:r>
            <a:r>
              <a:rPr sz="2800" spc="-125" dirty="0">
                <a:solidFill>
                  <a:srgbClr val="424242"/>
                </a:solidFill>
                <a:latin typeface="Arial MT"/>
                <a:cs typeface="Arial MT"/>
              </a:rPr>
              <a:t> </a:t>
            </a:r>
            <a:r>
              <a:rPr sz="2800" spc="-40" dirty="0">
                <a:solidFill>
                  <a:srgbClr val="4D4D4D"/>
                </a:solidFill>
                <a:latin typeface="Arial MT"/>
                <a:cs typeface="Arial MT"/>
              </a:rPr>
              <a:t>ruins</a:t>
            </a:r>
            <a:r>
              <a:rPr sz="2800" spc="-145" dirty="0">
                <a:solidFill>
                  <a:srgbClr val="4D4D4D"/>
                </a:solidFill>
                <a:latin typeface="Arial MT"/>
                <a:cs typeface="Arial MT"/>
              </a:rPr>
              <a:t> </a:t>
            </a:r>
            <a:r>
              <a:rPr sz="2800" spc="-20" dirty="0">
                <a:solidFill>
                  <a:srgbClr val="424242"/>
                </a:solidFill>
                <a:latin typeface="Arial MT"/>
                <a:cs typeface="Arial MT"/>
              </a:rPr>
              <a:t>amino</a:t>
            </a:r>
            <a:r>
              <a:rPr sz="2800" spc="-120" dirty="0">
                <a:solidFill>
                  <a:srgbClr val="424242"/>
                </a:solidFill>
                <a:latin typeface="Arial MT"/>
                <a:cs typeface="Arial MT"/>
              </a:rPr>
              <a:t> </a:t>
            </a:r>
            <a:r>
              <a:rPr sz="2800" dirty="0">
                <a:solidFill>
                  <a:srgbClr val="4F4F4F"/>
                </a:solidFill>
                <a:latin typeface="Arial MT"/>
                <a:cs typeface="Arial MT"/>
              </a:rPr>
              <a:t>acid</a:t>
            </a:r>
            <a:r>
              <a:rPr sz="2800" spc="-195" dirty="0">
                <a:solidFill>
                  <a:srgbClr val="4F4F4F"/>
                </a:solidFill>
                <a:latin typeface="Arial MT"/>
                <a:cs typeface="Arial MT"/>
              </a:rPr>
              <a:t> </a:t>
            </a:r>
            <a:r>
              <a:rPr sz="2800" dirty="0">
                <a:solidFill>
                  <a:srgbClr val="4F4F4F"/>
                </a:solidFill>
                <a:latin typeface="Arial MT"/>
                <a:cs typeface="Arial MT"/>
              </a:rPr>
              <a:t>translation</a:t>
            </a:r>
            <a:r>
              <a:rPr sz="2800" spc="-5" dirty="0">
                <a:solidFill>
                  <a:srgbClr val="4F4F4F"/>
                </a:solidFill>
                <a:latin typeface="Arial MT"/>
                <a:cs typeface="Arial MT"/>
              </a:rPr>
              <a:t> </a:t>
            </a:r>
            <a:r>
              <a:rPr sz="2800" spc="-30" dirty="0">
                <a:solidFill>
                  <a:srgbClr val="494949"/>
                </a:solidFill>
                <a:latin typeface="Arial MT"/>
                <a:cs typeface="Arial MT"/>
              </a:rPr>
              <a:t>maps,</a:t>
            </a:r>
            <a:r>
              <a:rPr sz="2800" spc="-60" dirty="0">
                <a:solidFill>
                  <a:srgbClr val="494949"/>
                </a:solidFill>
                <a:latin typeface="Arial MT"/>
                <a:cs typeface="Arial MT"/>
              </a:rPr>
              <a:t> </a:t>
            </a:r>
            <a:r>
              <a:rPr sz="2800" dirty="0">
                <a:solidFill>
                  <a:srgbClr val="444444"/>
                </a:solidFill>
                <a:latin typeface="Arial MT"/>
                <a:cs typeface="Arial MT"/>
              </a:rPr>
              <a:t>rendering</a:t>
            </a:r>
            <a:r>
              <a:rPr sz="2800" spc="-20" dirty="0">
                <a:solidFill>
                  <a:srgbClr val="444444"/>
                </a:solidFill>
                <a:latin typeface="Arial MT"/>
                <a:cs typeface="Arial MT"/>
              </a:rPr>
              <a:t> </a:t>
            </a:r>
            <a:r>
              <a:rPr sz="2800" spc="-10" dirty="0">
                <a:solidFill>
                  <a:srgbClr val="3B3B3B"/>
                </a:solidFill>
                <a:latin typeface="Arial MT"/>
                <a:cs typeface="Arial MT"/>
              </a:rPr>
              <a:t>sequences </a:t>
            </a:r>
            <a:r>
              <a:rPr sz="2800" dirty="0">
                <a:solidFill>
                  <a:srgbClr val="414141"/>
                </a:solidFill>
                <a:latin typeface="Arial MT"/>
                <a:cs typeface="Arial MT"/>
              </a:rPr>
              <a:t>biological</a:t>
            </a:r>
            <a:r>
              <a:rPr sz="2800" spc="135" dirty="0">
                <a:solidFill>
                  <a:srgbClr val="414141"/>
                </a:solidFill>
                <a:latin typeface="Arial MT"/>
                <a:cs typeface="Arial MT"/>
              </a:rPr>
              <a:t> </a:t>
            </a:r>
            <a:r>
              <a:rPr sz="2800" spc="-10" dirty="0">
                <a:solidFill>
                  <a:srgbClr val="414141"/>
                </a:solidFill>
                <a:latin typeface="Arial MT"/>
                <a:cs typeface="Arial MT"/>
              </a:rPr>
              <a:t>failures</a:t>
            </a:r>
            <a:r>
              <a:rPr sz="1800" spc="-10" dirty="0">
                <a:solidFill>
                  <a:srgbClr val="414141"/>
                </a:solidFill>
                <a:latin typeface="Arial MT"/>
                <a:cs typeface="Arial MT"/>
              </a:rPr>
              <a:t>.</a:t>
            </a:r>
            <a:endParaRPr sz="1800" dirty="0">
              <a:latin typeface="Arial MT"/>
              <a:cs typeface="Arial MT"/>
            </a:endParaRPr>
          </a:p>
        </p:txBody>
      </p:sp>
      <p:sp>
        <p:nvSpPr>
          <p:cNvPr id="10" name="TextBox 9">
            <a:extLst>
              <a:ext uri="{FF2B5EF4-FFF2-40B4-BE49-F238E27FC236}">
                <a16:creationId xmlns:a16="http://schemas.microsoft.com/office/drawing/2014/main" id="{EFFABBE6-ECF1-197A-2B61-5F5950CEF521}"/>
              </a:ext>
            </a:extLst>
          </p:cNvPr>
          <p:cNvSpPr txBox="1"/>
          <p:nvPr/>
        </p:nvSpPr>
        <p:spPr>
          <a:xfrm>
            <a:off x="4565650" y="1370825"/>
            <a:ext cx="10210800" cy="878702"/>
          </a:xfrm>
          <a:prstGeom prst="rect">
            <a:avLst/>
          </a:prstGeom>
          <a:noFill/>
        </p:spPr>
        <p:txBody>
          <a:bodyPr wrap="square">
            <a:spAutoFit/>
          </a:bodyPr>
          <a:lstStyle/>
          <a:p>
            <a:r>
              <a:rPr lang="en-IN" sz="5110" b="1" spc="-10" dirty="0"/>
              <a:t>  </a:t>
            </a:r>
            <a:r>
              <a:rPr lang="en-IN" sz="5110" b="1" spc="-10" dirty="0">
                <a:solidFill>
                  <a:schemeClr val="accent3">
                    <a:lumMod val="50000"/>
                  </a:schemeClr>
                </a:solidFill>
              </a:rPr>
              <a:t>Existing System Drawbacks</a:t>
            </a:r>
            <a:endParaRPr lang="en-IN" sz="5110" b="1" dirty="0">
              <a:solidFill>
                <a:schemeClr val="accent3">
                  <a:lumMod val="50000"/>
                </a:schemeClr>
              </a:solidFill>
            </a:endParaRPr>
          </a:p>
        </p:txBody>
      </p:sp>
      <p:sp>
        <p:nvSpPr>
          <p:cNvPr id="9" name="TextBox 8">
            <a:extLst>
              <a:ext uri="{FF2B5EF4-FFF2-40B4-BE49-F238E27FC236}">
                <a16:creationId xmlns:a16="http://schemas.microsoft.com/office/drawing/2014/main" id="{BED3FA75-3D03-FB8B-6AE7-235DCA526217}"/>
              </a:ext>
            </a:extLst>
          </p:cNvPr>
          <p:cNvSpPr txBox="1"/>
          <p:nvPr/>
        </p:nvSpPr>
        <p:spPr>
          <a:xfrm flipH="1">
            <a:off x="10569893" y="8474075"/>
            <a:ext cx="8702357" cy="1487587"/>
          </a:xfrm>
          <a:prstGeom prst="rect">
            <a:avLst/>
          </a:prstGeom>
          <a:noFill/>
        </p:spPr>
        <p:txBody>
          <a:bodyPr wrap="square">
            <a:spAutoFit/>
          </a:bodyPr>
          <a:lstStyle/>
          <a:p>
            <a:pPr marL="12700">
              <a:lnSpc>
                <a:spcPct val="100000"/>
              </a:lnSpc>
              <a:spcBef>
                <a:spcPts val="969"/>
              </a:spcBef>
            </a:pPr>
            <a:r>
              <a:rPr lang="en-US" sz="2800" spc="-20" dirty="0">
                <a:solidFill>
                  <a:srgbClr val="971821"/>
                </a:solidFill>
                <a:latin typeface="Arial MT"/>
                <a:cs typeface="Arial MT"/>
              </a:rPr>
              <a:t>Low</a:t>
            </a:r>
            <a:r>
              <a:rPr lang="en-US" sz="2800" spc="-95" dirty="0">
                <a:solidFill>
                  <a:srgbClr val="971821"/>
                </a:solidFill>
                <a:latin typeface="Arial MT"/>
                <a:cs typeface="Arial MT"/>
              </a:rPr>
              <a:t> </a:t>
            </a:r>
            <a:r>
              <a:rPr lang="en-US" sz="2800" spc="-20" dirty="0">
                <a:solidFill>
                  <a:srgbClr val="9E1F36"/>
                </a:solidFill>
                <a:latin typeface="Arial MT"/>
                <a:cs typeface="Arial MT"/>
              </a:rPr>
              <a:t>Payload</a:t>
            </a:r>
            <a:r>
              <a:rPr lang="en-US" sz="2800" spc="-140" dirty="0">
                <a:solidFill>
                  <a:srgbClr val="9E1F36"/>
                </a:solidFill>
                <a:latin typeface="Arial MT"/>
                <a:cs typeface="Arial MT"/>
              </a:rPr>
              <a:t> </a:t>
            </a:r>
            <a:r>
              <a:rPr lang="en-US" sz="2800" spc="-10" dirty="0">
                <a:solidFill>
                  <a:srgbClr val="7B2D38"/>
                </a:solidFill>
                <a:latin typeface="Arial MT"/>
                <a:cs typeface="Arial MT"/>
              </a:rPr>
              <a:t>Capacity</a:t>
            </a:r>
            <a:endParaRPr lang="en-US" sz="2800" dirty="0">
              <a:latin typeface="Arial MT"/>
              <a:cs typeface="Arial MT"/>
            </a:endParaRPr>
          </a:p>
          <a:p>
            <a:pPr marL="13335">
              <a:lnSpc>
                <a:spcPct val="100000"/>
              </a:lnSpc>
              <a:spcBef>
                <a:spcPts val="760"/>
              </a:spcBef>
            </a:pPr>
            <a:r>
              <a:rPr lang="en-US" sz="2800" spc="-10" dirty="0">
                <a:solidFill>
                  <a:srgbClr val="424242"/>
                </a:solidFill>
                <a:latin typeface="Arial MT"/>
                <a:cs typeface="Arial MT"/>
              </a:rPr>
              <a:t>Restricting</a:t>
            </a:r>
            <a:r>
              <a:rPr lang="en-US" sz="2800" spc="30" dirty="0">
                <a:solidFill>
                  <a:srgbClr val="424242"/>
                </a:solidFill>
                <a:latin typeface="Arial MT"/>
                <a:cs typeface="Arial MT"/>
              </a:rPr>
              <a:t> </a:t>
            </a:r>
            <a:r>
              <a:rPr lang="en-US" sz="2800" dirty="0">
                <a:solidFill>
                  <a:srgbClr val="464646"/>
                </a:solidFill>
                <a:latin typeface="Arial MT"/>
                <a:cs typeface="Arial MT"/>
              </a:rPr>
              <a:t>hiding</a:t>
            </a:r>
            <a:r>
              <a:rPr lang="en-US" sz="2800" spc="-45" dirty="0">
                <a:solidFill>
                  <a:srgbClr val="464646"/>
                </a:solidFill>
                <a:latin typeface="Arial MT"/>
                <a:cs typeface="Arial MT"/>
              </a:rPr>
              <a:t> </a:t>
            </a:r>
            <a:r>
              <a:rPr lang="en-US" sz="2800" dirty="0">
                <a:solidFill>
                  <a:srgbClr val="4D4D4D"/>
                </a:solidFill>
                <a:latin typeface="Arial MT"/>
                <a:cs typeface="Arial MT"/>
              </a:rPr>
              <a:t>to</a:t>
            </a:r>
            <a:r>
              <a:rPr lang="en-US" sz="2800" spc="60" dirty="0">
                <a:solidFill>
                  <a:srgbClr val="4D4D4D"/>
                </a:solidFill>
                <a:latin typeface="Arial MT"/>
                <a:cs typeface="Arial MT"/>
              </a:rPr>
              <a:t> </a:t>
            </a:r>
            <a:r>
              <a:rPr lang="en-US" sz="2800" spc="55" dirty="0">
                <a:solidFill>
                  <a:srgbClr val="3F3F3F"/>
                </a:solidFill>
                <a:latin typeface="Arial MT"/>
                <a:cs typeface="Arial MT"/>
              </a:rPr>
              <a:t>non-</a:t>
            </a:r>
            <a:r>
              <a:rPr lang="en-US" sz="2800" dirty="0">
                <a:solidFill>
                  <a:srgbClr val="3F3F3F"/>
                </a:solidFill>
                <a:latin typeface="Arial MT"/>
                <a:cs typeface="Arial MT"/>
              </a:rPr>
              <a:t>functional </a:t>
            </a:r>
            <a:r>
              <a:rPr lang="en-US" sz="2800" dirty="0">
                <a:solidFill>
                  <a:srgbClr val="424242"/>
                </a:solidFill>
                <a:latin typeface="Arial MT"/>
                <a:cs typeface="Arial MT"/>
              </a:rPr>
              <a:t>zones</a:t>
            </a:r>
            <a:r>
              <a:rPr lang="en-US" sz="2800" spc="-95" dirty="0">
                <a:solidFill>
                  <a:srgbClr val="424242"/>
                </a:solidFill>
                <a:latin typeface="Arial MT"/>
                <a:cs typeface="Arial MT"/>
              </a:rPr>
              <a:t> </a:t>
            </a:r>
            <a:r>
              <a:rPr lang="en-US" sz="2800" spc="-60" dirty="0">
                <a:solidFill>
                  <a:srgbClr val="464646"/>
                </a:solidFill>
                <a:latin typeface="Arial MT"/>
                <a:cs typeface="Arial MT"/>
              </a:rPr>
              <a:t>minimizes</a:t>
            </a:r>
            <a:r>
              <a:rPr lang="en-US" sz="2800" spc="-15" dirty="0">
                <a:solidFill>
                  <a:srgbClr val="464646"/>
                </a:solidFill>
                <a:latin typeface="Arial MT"/>
                <a:cs typeface="Arial MT"/>
              </a:rPr>
              <a:t> </a:t>
            </a:r>
            <a:r>
              <a:rPr lang="en-US" sz="2800" spc="-20" dirty="0">
                <a:solidFill>
                  <a:srgbClr val="494949"/>
                </a:solidFill>
                <a:latin typeface="Arial MT"/>
                <a:cs typeface="Arial MT"/>
              </a:rPr>
              <a:t>overall</a:t>
            </a:r>
            <a:r>
              <a:rPr lang="en-US" sz="2800" spc="-95" dirty="0">
                <a:solidFill>
                  <a:srgbClr val="494949"/>
                </a:solidFill>
                <a:latin typeface="Arial MT"/>
                <a:cs typeface="Arial MT"/>
              </a:rPr>
              <a:t> </a:t>
            </a:r>
            <a:r>
              <a:rPr lang="en-US" sz="2800" dirty="0">
                <a:solidFill>
                  <a:srgbClr val="484848"/>
                </a:solidFill>
                <a:latin typeface="Arial MT"/>
                <a:cs typeface="Arial MT"/>
              </a:rPr>
              <a:t>payload</a:t>
            </a:r>
            <a:r>
              <a:rPr lang="en-US" sz="2800" spc="-50" dirty="0">
                <a:solidFill>
                  <a:srgbClr val="484848"/>
                </a:solidFill>
                <a:latin typeface="Arial MT"/>
                <a:cs typeface="Arial MT"/>
              </a:rPr>
              <a:t> </a:t>
            </a:r>
            <a:r>
              <a:rPr lang="en-US" sz="2800" spc="-10" dirty="0">
                <a:solidFill>
                  <a:srgbClr val="484848"/>
                </a:solidFill>
                <a:latin typeface="Arial MT"/>
                <a:cs typeface="Arial MT"/>
              </a:rPr>
              <a:t>efficiency.</a:t>
            </a:r>
            <a:endParaRPr lang="en-US" sz="2800" dirty="0">
              <a:latin typeface="Arial MT"/>
              <a:cs typeface="Arial M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92431D6-6025-DAFD-794F-7859CF71A6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150" y="244475"/>
            <a:ext cx="18719799" cy="10210800"/>
          </a:xfrm>
          <a:prstGeom prst="rect">
            <a:avLst/>
          </a:prstGeom>
        </p:spPr>
      </p:pic>
    </p:spTree>
    <p:extLst>
      <p:ext uri="{BB962C8B-B14F-4D97-AF65-F5344CB8AC3E}">
        <p14:creationId xmlns:p14="http://schemas.microsoft.com/office/powerpoint/2010/main" val="1335605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75A0E8-BC9E-1066-80EF-778D3FA27BDA}"/>
              </a:ext>
            </a:extLst>
          </p:cNvPr>
          <p:cNvSpPr txBox="1"/>
          <p:nvPr/>
        </p:nvSpPr>
        <p:spPr>
          <a:xfrm>
            <a:off x="2028658" y="930275"/>
            <a:ext cx="13479378" cy="878702"/>
          </a:xfrm>
          <a:prstGeom prst="rect">
            <a:avLst/>
          </a:prstGeom>
          <a:noFill/>
        </p:spPr>
        <p:txBody>
          <a:bodyPr wrap="square">
            <a:spAutoFit/>
          </a:bodyPr>
          <a:lstStyle/>
          <a:p>
            <a:pPr>
              <a:buNone/>
            </a:pPr>
            <a:r>
              <a:rPr lang="en-IN" sz="5110" b="1" dirty="0">
                <a:solidFill>
                  <a:schemeClr val="accent3">
                    <a:lumMod val="50000"/>
                  </a:schemeClr>
                </a:solidFill>
              </a:rPr>
              <a:t>Technologies Uses</a:t>
            </a:r>
          </a:p>
        </p:txBody>
      </p:sp>
      <p:sp>
        <p:nvSpPr>
          <p:cNvPr id="5" name="TextBox 4">
            <a:extLst>
              <a:ext uri="{FF2B5EF4-FFF2-40B4-BE49-F238E27FC236}">
                <a16:creationId xmlns:a16="http://schemas.microsoft.com/office/drawing/2014/main" id="{A7D4E475-00CD-DE02-A118-6629EE3BD2E7}"/>
              </a:ext>
            </a:extLst>
          </p:cNvPr>
          <p:cNvSpPr txBox="1"/>
          <p:nvPr/>
        </p:nvSpPr>
        <p:spPr>
          <a:xfrm>
            <a:off x="2082188" y="2073275"/>
            <a:ext cx="14167518" cy="4516621"/>
          </a:xfrm>
          <a:prstGeom prst="rect">
            <a:avLst/>
          </a:prstGeom>
          <a:noFill/>
        </p:spPr>
        <p:txBody>
          <a:bodyPr wrap="square">
            <a:spAutoFit/>
          </a:bodyPr>
          <a:lstStyle/>
          <a:p>
            <a:pPr marL="591820" indent="-571500">
              <a:lnSpc>
                <a:spcPct val="100000"/>
              </a:lnSpc>
              <a:spcBef>
                <a:spcPts val="275"/>
              </a:spcBef>
              <a:buFont typeface="Wingdings" panose="05000000000000000000" pitchFamily="2" charset="2"/>
              <a:buChar char="ü"/>
            </a:pPr>
            <a:r>
              <a:rPr lang="en-IN" sz="3600" spc="-35" dirty="0">
                <a:solidFill>
                  <a:schemeClr val="tx1">
                    <a:lumMod val="95000"/>
                    <a:lumOff val="5000"/>
                  </a:schemeClr>
                </a:solidFill>
                <a:latin typeface="Arial MT"/>
                <a:cs typeface="Arial MT"/>
              </a:rPr>
              <a:t>Python</a:t>
            </a:r>
          </a:p>
          <a:p>
            <a:pPr marL="591820" indent="-571500">
              <a:lnSpc>
                <a:spcPct val="100000"/>
              </a:lnSpc>
              <a:spcBef>
                <a:spcPts val="275"/>
              </a:spcBef>
              <a:buFont typeface="Wingdings" panose="05000000000000000000" pitchFamily="2" charset="2"/>
              <a:buChar char="ü"/>
            </a:pPr>
            <a:r>
              <a:rPr lang="en-IN" sz="3600" spc="-35" dirty="0">
                <a:solidFill>
                  <a:schemeClr val="tx1">
                    <a:lumMod val="95000"/>
                    <a:lumOff val="5000"/>
                  </a:schemeClr>
                </a:solidFill>
                <a:latin typeface="Arial MT"/>
                <a:cs typeface="Arial MT"/>
              </a:rPr>
              <a:t>QR-Code Generator Library</a:t>
            </a:r>
          </a:p>
          <a:p>
            <a:pPr marL="591820" indent="-571500">
              <a:lnSpc>
                <a:spcPct val="100000"/>
              </a:lnSpc>
              <a:spcBef>
                <a:spcPts val="275"/>
              </a:spcBef>
              <a:buFont typeface="Wingdings" panose="05000000000000000000" pitchFamily="2" charset="2"/>
              <a:buChar char="ü"/>
            </a:pPr>
            <a:r>
              <a:rPr lang="en-IN" sz="3600" spc="-35" dirty="0">
                <a:solidFill>
                  <a:schemeClr val="tx1">
                    <a:lumMod val="95000"/>
                    <a:lumOff val="5000"/>
                  </a:schemeClr>
                </a:solidFill>
                <a:latin typeface="Arial MT"/>
                <a:cs typeface="Arial MT"/>
              </a:rPr>
              <a:t>OpenCV </a:t>
            </a:r>
          </a:p>
          <a:p>
            <a:pPr marL="591820" indent="-571500">
              <a:lnSpc>
                <a:spcPct val="100000"/>
              </a:lnSpc>
              <a:spcBef>
                <a:spcPts val="275"/>
              </a:spcBef>
              <a:buFont typeface="Wingdings" panose="05000000000000000000" pitchFamily="2" charset="2"/>
              <a:buChar char="ü"/>
            </a:pPr>
            <a:r>
              <a:rPr lang="en-IN" sz="3600" spc="-35" dirty="0">
                <a:solidFill>
                  <a:schemeClr val="tx1">
                    <a:lumMod val="95000"/>
                    <a:lumOff val="5000"/>
                  </a:schemeClr>
                </a:solidFill>
                <a:latin typeface="Arial MT"/>
                <a:cs typeface="Arial MT"/>
              </a:rPr>
              <a:t>Num-</a:t>
            </a:r>
            <a:r>
              <a:rPr lang="en-IN" sz="3600" spc="-35" dirty="0" err="1">
                <a:solidFill>
                  <a:schemeClr val="tx1">
                    <a:lumMod val="95000"/>
                    <a:lumOff val="5000"/>
                  </a:schemeClr>
                </a:solidFill>
                <a:latin typeface="Arial MT"/>
                <a:cs typeface="Arial MT"/>
              </a:rPr>
              <a:t>py</a:t>
            </a:r>
            <a:endParaRPr lang="en-IN" sz="3600" spc="-35" dirty="0">
              <a:solidFill>
                <a:schemeClr val="tx1">
                  <a:lumMod val="95000"/>
                  <a:lumOff val="5000"/>
                </a:schemeClr>
              </a:solidFill>
              <a:latin typeface="Arial MT"/>
              <a:cs typeface="Arial MT"/>
            </a:endParaRPr>
          </a:p>
          <a:p>
            <a:pPr marL="591820" indent="-571500">
              <a:lnSpc>
                <a:spcPct val="100000"/>
              </a:lnSpc>
              <a:spcBef>
                <a:spcPts val="275"/>
              </a:spcBef>
              <a:buFont typeface="Wingdings" panose="05000000000000000000" pitchFamily="2" charset="2"/>
              <a:buChar char="ü"/>
            </a:pPr>
            <a:r>
              <a:rPr lang="en-IN" sz="3600" spc="-35" dirty="0">
                <a:solidFill>
                  <a:schemeClr val="tx1">
                    <a:lumMod val="95000"/>
                    <a:lumOff val="5000"/>
                  </a:schemeClr>
                </a:solidFill>
                <a:latin typeface="Arial MT"/>
                <a:cs typeface="Arial MT"/>
              </a:rPr>
              <a:t>Cryptography Library</a:t>
            </a:r>
          </a:p>
          <a:p>
            <a:pPr marL="591820" indent="-571500">
              <a:lnSpc>
                <a:spcPct val="100000"/>
              </a:lnSpc>
              <a:spcBef>
                <a:spcPts val="275"/>
              </a:spcBef>
              <a:buFont typeface="Wingdings" panose="05000000000000000000" pitchFamily="2" charset="2"/>
              <a:buChar char="ü"/>
            </a:pPr>
            <a:r>
              <a:rPr lang="en-IN" sz="3600" spc="-35" dirty="0">
                <a:solidFill>
                  <a:schemeClr val="tx1">
                    <a:lumMod val="95000"/>
                    <a:lumOff val="5000"/>
                  </a:schemeClr>
                </a:solidFill>
                <a:latin typeface="Arial MT"/>
                <a:cs typeface="Arial MT"/>
              </a:rPr>
              <a:t>DNA Encoding Algorithms</a:t>
            </a:r>
          </a:p>
          <a:p>
            <a:pPr marL="591820" indent="-571500">
              <a:lnSpc>
                <a:spcPct val="100000"/>
              </a:lnSpc>
              <a:spcBef>
                <a:spcPts val="275"/>
              </a:spcBef>
              <a:buFont typeface="Wingdings" panose="05000000000000000000" pitchFamily="2" charset="2"/>
              <a:buChar char="ü"/>
            </a:pPr>
            <a:r>
              <a:rPr lang="en-IN" sz="3600" spc="-35" dirty="0">
                <a:solidFill>
                  <a:schemeClr val="tx1">
                    <a:lumMod val="95000"/>
                    <a:lumOff val="5000"/>
                  </a:schemeClr>
                </a:solidFill>
                <a:latin typeface="Arial MT"/>
                <a:cs typeface="Arial MT"/>
              </a:rPr>
              <a:t>Steganography Techniques</a:t>
            </a:r>
            <a:endParaRPr lang="en-IN" sz="3600" b="1" spc="-35" dirty="0">
              <a:solidFill>
                <a:schemeClr val="tx1">
                  <a:lumMod val="95000"/>
                  <a:lumOff val="5000"/>
                </a:schemeClr>
              </a:solidFill>
              <a:latin typeface="Arial MT"/>
              <a:cs typeface="Arial MT"/>
            </a:endParaRPr>
          </a:p>
          <a:p>
            <a:pPr marL="20320">
              <a:lnSpc>
                <a:spcPct val="100000"/>
              </a:lnSpc>
              <a:spcBef>
                <a:spcPts val="275"/>
              </a:spcBef>
            </a:pPr>
            <a:endParaRPr lang="en-IN" spc="-35" dirty="0">
              <a:solidFill>
                <a:srgbClr val="00482A"/>
              </a:solidFill>
              <a:latin typeface="Arial MT"/>
              <a:cs typeface="Arial MT"/>
            </a:endParaRPr>
          </a:p>
        </p:txBody>
      </p:sp>
      <p:sp>
        <p:nvSpPr>
          <p:cNvPr id="7" name="TextBox 6">
            <a:extLst>
              <a:ext uri="{FF2B5EF4-FFF2-40B4-BE49-F238E27FC236}">
                <a16:creationId xmlns:a16="http://schemas.microsoft.com/office/drawing/2014/main" id="{16739A63-1011-2509-5B04-DCBDF3E2196F}"/>
              </a:ext>
            </a:extLst>
          </p:cNvPr>
          <p:cNvSpPr txBox="1"/>
          <p:nvPr/>
        </p:nvSpPr>
        <p:spPr>
          <a:xfrm rot="10800000" flipV="1">
            <a:off x="2028658" y="6797328"/>
            <a:ext cx="12492204" cy="3131627"/>
          </a:xfrm>
          <a:prstGeom prst="rect">
            <a:avLst/>
          </a:prstGeom>
          <a:noFill/>
        </p:spPr>
        <p:txBody>
          <a:bodyPr wrap="square">
            <a:spAutoFit/>
          </a:bodyPr>
          <a:lstStyle/>
          <a:p>
            <a:pPr>
              <a:buNone/>
            </a:pPr>
            <a:r>
              <a:rPr lang="en-IN" sz="5150" b="1" dirty="0">
                <a:solidFill>
                  <a:schemeClr val="accent3">
                    <a:lumMod val="50000"/>
                  </a:schemeClr>
                </a:solidFill>
              </a:rPr>
              <a:t>Data Sets</a:t>
            </a:r>
          </a:p>
          <a:p>
            <a:pPr marL="571500" indent="-571500">
              <a:buFont typeface="Wingdings" panose="05000000000000000000" pitchFamily="2" charset="2"/>
              <a:buChar char="Ø"/>
            </a:pPr>
            <a:r>
              <a:rPr lang="en-IN" sz="3650" dirty="0">
                <a:solidFill>
                  <a:schemeClr val="tx1">
                    <a:lumMod val="95000"/>
                    <a:lumOff val="5000"/>
                  </a:schemeClr>
                </a:solidFill>
                <a:latin typeface="Arial MT"/>
              </a:rPr>
              <a:t>NCBI Gen-Bank DNA Sequence </a:t>
            </a:r>
          </a:p>
          <a:p>
            <a:pPr marL="571500" indent="-571500">
              <a:buFont typeface="Wingdings" panose="05000000000000000000" pitchFamily="2" charset="2"/>
              <a:buChar char="Ø"/>
            </a:pPr>
            <a:r>
              <a:rPr lang="en-IN" sz="3650" dirty="0">
                <a:solidFill>
                  <a:schemeClr val="tx1">
                    <a:lumMod val="95000"/>
                    <a:lumOff val="5000"/>
                  </a:schemeClr>
                </a:solidFill>
                <a:latin typeface="Arial MT"/>
              </a:rPr>
              <a:t>EMBI-EBI Nucleotide Data Base</a:t>
            </a:r>
          </a:p>
          <a:p>
            <a:pPr marL="571500" indent="-571500">
              <a:buFont typeface="Wingdings" panose="05000000000000000000" pitchFamily="2" charset="2"/>
              <a:buChar char="Ø"/>
            </a:pPr>
            <a:r>
              <a:rPr lang="en-IN" sz="3650" dirty="0">
                <a:solidFill>
                  <a:schemeClr val="tx1">
                    <a:lumMod val="95000"/>
                    <a:lumOff val="5000"/>
                  </a:schemeClr>
                </a:solidFill>
                <a:latin typeface="Arial MT"/>
              </a:rPr>
              <a:t>Synthetic DNA Bench Mark Data Sets For Steganography Evaluation</a:t>
            </a:r>
          </a:p>
        </p:txBody>
      </p:sp>
    </p:spTree>
    <p:extLst>
      <p:ext uri="{BB962C8B-B14F-4D97-AF65-F5344CB8AC3E}">
        <p14:creationId xmlns:p14="http://schemas.microsoft.com/office/powerpoint/2010/main" val="2730925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111749" y="2698059"/>
            <a:ext cx="439777" cy="439777"/>
          </a:xfrm>
          <a:prstGeom prst="rect">
            <a:avLst/>
          </a:prstGeom>
        </p:spPr>
      </p:pic>
      <p:pic>
        <p:nvPicPr>
          <p:cNvPr id="4" name="object 4"/>
          <p:cNvPicPr/>
          <p:nvPr/>
        </p:nvPicPr>
        <p:blipFill>
          <a:blip r:embed="rId3" cstate="print"/>
          <a:stretch>
            <a:fillRect/>
          </a:stretch>
        </p:blipFill>
        <p:spPr>
          <a:xfrm>
            <a:off x="2111749" y="5091764"/>
            <a:ext cx="439777" cy="439777"/>
          </a:xfrm>
          <a:prstGeom prst="rect">
            <a:avLst/>
          </a:prstGeom>
        </p:spPr>
      </p:pic>
      <p:pic>
        <p:nvPicPr>
          <p:cNvPr id="5" name="object 5"/>
          <p:cNvPicPr/>
          <p:nvPr/>
        </p:nvPicPr>
        <p:blipFill>
          <a:blip r:embed="rId4" cstate="print"/>
          <a:stretch>
            <a:fillRect/>
          </a:stretch>
        </p:blipFill>
        <p:spPr>
          <a:xfrm>
            <a:off x="2111748" y="7399064"/>
            <a:ext cx="439777" cy="439777"/>
          </a:xfrm>
          <a:prstGeom prst="rect">
            <a:avLst/>
          </a:prstGeom>
        </p:spPr>
      </p:pic>
      <p:sp>
        <p:nvSpPr>
          <p:cNvPr id="6" name="object 6"/>
          <p:cNvSpPr txBox="1"/>
          <p:nvPr/>
        </p:nvSpPr>
        <p:spPr>
          <a:xfrm>
            <a:off x="2813050" y="2682875"/>
            <a:ext cx="13444123" cy="6047168"/>
          </a:xfrm>
          <a:prstGeom prst="rect">
            <a:avLst/>
          </a:prstGeom>
        </p:spPr>
        <p:txBody>
          <a:bodyPr vert="horz" wrap="square" lIns="0" tIns="34925" rIns="0" bIns="0" rtlCol="0">
            <a:spAutoFit/>
          </a:bodyPr>
          <a:lstStyle/>
          <a:p>
            <a:pPr marL="20320">
              <a:lnSpc>
                <a:spcPct val="100000"/>
              </a:lnSpc>
              <a:spcBef>
                <a:spcPts val="275"/>
              </a:spcBef>
            </a:pPr>
            <a:r>
              <a:rPr sz="2800" spc="-35" dirty="0">
                <a:solidFill>
                  <a:srgbClr val="00482A"/>
                </a:solidFill>
                <a:latin typeface="Arial MT"/>
                <a:cs typeface="Arial MT"/>
              </a:rPr>
              <a:t>Absence</a:t>
            </a:r>
            <a:r>
              <a:rPr sz="2800" spc="-100" dirty="0">
                <a:solidFill>
                  <a:srgbClr val="00482A"/>
                </a:solidFill>
                <a:latin typeface="Arial MT"/>
                <a:cs typeface="Arial MT"/>
              </a:rPr>
              <a:t> </a:t>
            </a:r>
            <a:r>
              <a:rPr sz="2800" dirty="0">
                <a:solidFill>
                  <a:srgbClr val="004D3B"/>
                </a:solidFill>
                <a:latin typeface="Arial MT"/>
                <a:cs typeface="Arial MT"/>
              </a:rPr>
              <a:t>of</a:t>
            </a:r>
            <a:r>
              <a:rPr sz="2800" spc="-180" dirty="0">
                <a:solidFill>
                  <a:srgbClr val="004D3B"/>
                </a:solidFill>
                <a:latin typeface="Arial MT"/>
                <a:cs typeface="Arial MT"/>
              </a:rPr>
              <a:t> </a:t>
            </a:r>
            <a:r>
              <a:rPr sz="2800" spc="-25" dirty="0">
                <a:solidFill>
                  <a:srgbClr val="232323"/>
                </a:solidFill>
                <a:latin typeface="Arial MT"/>
                <a:cs typeface="Arial MT"/>
              </a:rPr>
              <a:t>Co-</a:t>
            </a:r>
            <a:r>
              <a:rPr sz="2800" spc="-10" dirty="0">
                <a:solidFill>
                  <a:srgbClr val="232323"/>
                </a:solidFill>
                <a:latin typeface="Arial MT"/>
                <a:cs typeface="Arial MT"/>
              </a:rPr>
              <a:t>Designed</a:t>
            </a:r>
            <a:r>
              <a:rPr sz="2800" spc="-45" dirty="0">
                <a:solidFill>
                  <a:srgbClr val="232323"/>
                </a:solidFill>
                <a:latin typeface="Arial MT"/>
                <a:cs typeface="Arial MT"/>
              </a:rPr>
              <a:t> </a:t>
            </a:r>
            <a:r>
              <a:rPr sz="2800" spc="-10" dirty="0">
                <a:solidFill>
                  <a:srgbClr val="1C4F44"/>
                </a:solidFill>
                <a:latin typeface="Arial MT"/>
                <a:cs typeface="Arial MT"/>
              </a:rPr>
              <a:t>Platforms</a:t>
            </a:r>
            <a:endParaRPr sz="2800" dirty="0">
              <a:latin typeface="Arial MT"/>
              <a:cs typeface="Arial MT"/>
            </a:endParaRPr>
          </a:p>
          <a:p>
            <a:pPr marL="17145">
              <a:lnSpc>
                <a:spcPct val="100000"/>
              </a:lnSpc>
              <a:spcBef>
                <a:spcPts val="195"/>
              </a:spcBef>
            </a:pPr>
            <a:r>
              <a:rPr sz="2800" spc="-70" dirty="0">
                <a:solidFill>
                  <a:srgbClr val="494949"/>
                </a:solidFill>
                <a:latin typeface="Arial MT"/>
                <a:cs typeface="Arial MT"/>
              </a:rPr>
              <a:t>No</a:t>
            </a:r>
            <a:r>
              <a:rPr sz="2800" spc="-240" dirty="0">
                <a:solidFill>
                  <a:srgbClr val="494949"/>
                </a:solidFill>
                <a:latin typeface="Arial MT"/>
                <a:cs typeface="Arial MT"/>
              </a:rPr>
              <a:t> </a:t>
            </a:r>
            <a:r>
              <a:rPr sz="2800" spc="-20" dirty="0">
                <a:solidFill>
                  <a:srgbClr val="4B4B4B"/>
                </a:solidFill>
                <a:latin typeface="Arial MT"/>
                <a:cs typeface="Arial MT"/>
              </a:rPr>
              <a:t>unified</a:t>
            </a:r>
            <a:r>
              <a:rPr sz="2800" spc="-185" dirty="0">
                <a:solidFill>
                  <a:srgbClr val="4B4B4B"/>
                </a:solidFill>
                <a:latin typeface="Arial MT"/>
                <a:cs typeface="Arial MT"/>
              </a:rPr>
              <a:t> </a:t>
            </a:r>
            <a:r>
              <a:rPr sz="2800" dirty="0">
                <a:solidFill>
                  <a:srgbClr val="5B6972"/>
                </a:solidFill>
                <a:latin typeface="Arial MT"/>
                <a:cs typeface="Arial MT"/>
              </a:rPr>
              <a:t>f</a:t>
            </a:r>
            <a:r>
              <a:rPr sz="2800" dirty="0">
                <a:solidFill>
                  <a:srgbClr val="494949"/>
                </a:solidFill>
                <a:latin typeface="Arial MT"/>
                <a:cs typeface="Arial MT"/>
              </a:rPr>
              <a:t>ramework</a:t>
            </a:r>
            <a:r>
              <a:rPr sz="2800" spc="10" dirty="0">
                <a:solidFill>
                  <a:srgbClr val="494949"/>
                </a:solidFill>
                <a:latin typeface="Arial MT"/>
                <a:cs typeface="Arial MT"/>
              </a:rPr>
              <a:t> </a:t>
            </a:r>
            <a:r>
              <a:rPr sz="2800" dirty="0">
                <a:solidFill>
                  <a:srgbClr val="4B4B4B"/>
                </a:solidFill>
                <a:latin typeface="Arial MT"/>
                <a:cs typeface="Arial MT"/>
              </a:rPr>
              <a:t>offers</a:t>
            </a:r>
            <a:r>
              <a:rPr sz="2800" spc="-105" dirty="0">
                <a:solidFill>
                  <a:srgbClr val="4B4B4B"/>
                </a:solidFill>
                <a:latin typeface="Arial MT"/>
                <a:cs typeface="Arial MT"/>
              </a:rPr>
              <a:t> </a:t>
            </a:r>
            <a:r>
              <a:rPr sz="2800" dirty="0">
                <a:solidFill>
                  <a:srgbClr val="4B4B4B"/>
                </a:solidFill>
                <a:latin typeface="Arial MT"/>
                <a:cs typeface="Arial MT"/>
              </a:rPr>
              <a:t>both</a:t>
            </a:r>
            <a:r>
              <a:rPr sz="2800" spc="-225" dirty="0">
                <a:solidFill>
                  <a:srgbClr val="4B4B4B"/>
                </a:solidFill>
                <a:latin typeface="Arial MT"/>
                <a:cs typeface="Arial MT"/>
              </a:rPr>
              <a:t> </a:t>
            </a:r>
            <a:r>
              <a:rPr sz="2800" spc="-20" dirty="0">
                <a:solidFill>
                  <a:srgbClr val="494949"/>
                </a:solidFill>
                <a:latin typeface="Arial MT"/>
                <a:cs typeface="Arial MT"/>
              </a:rPr>
              <a:t>hiding(steganography)</a:t>
            </a:r>
            <a:r>
              <a:rPr sz="2800" spc="-280" dirty="0">
                <a:solidFill>
                  <a:srgbClr val="494949"/>
                </a:solidFill>
                <a:latin typeface="Arial MT"/>
                <a:cs typeface="Arial MT"/>
              </a:rPr>
              <a:t> </a:t>
            </a:r>
            <a:r>
              <a:rPr sz="2800" spc="-45" dirty="0">
                <a:solidFill>
                  <a:srgbClr val="484848"/>
                </a:solidFill>
                <a:latin typeface="Arial MT"/>
                <a:cs typeface="Arial MT"/>
              </a:rPr>
              <a:t>and</a:t>
            </a:r>
            <a:r>
              <a:rPr sz="2800" spc="-180" dirty="0">
                <a:solidFill>
                  <a:srgbClr val="484848"/>
                </a:solidFill>
                <a:latin typeface="Arial MT"/>
                <a:cs typeface="Arial MT"/>
              </a:rPr>
              <a:t> </a:t>
            </a:r>
            <a:r>
              <a:rPr sz="2800" spc="-25" dirty="0">
                <a:solidFill>
                  <a:srgbClr val="4B4B4B"/>
                </a:solidFill>
                <a:latin typeface="Arial MT"/>
                <a:cs typeface="Arial MT"/>
              </a:rPr>
              <a:t>testing(steganalysis)</a:t>
            </a:r>
            <a:r>
              <a:rPr sz="2800" spc="-280" dirty="0">
                <a:solidFill>
                  <a:srgbClr val="4B4B4B"/>
                </a:solidFill>
                <a:latin typeface="Arial MT"/>
                <a:cs typeface="Arial MT"/>
              </a:rPr>
              <a:t> </a:t>
            </a:r>
            <a:r>
              <a:rPr sz="2800" spc="-10" dirty="0">
                <a:solidFill>
                  <a:srgbClr val="595959"/>
                </a:solidFill>
                <a:latin typeface="Arial MT"/>
                <a:cs typeface="Arial MT"/>
              </a:rPr>
              <a:t>on</a:t>
            </a:r>
            <a:r>
              <a:rPr sz="2800" spc="-260" dirty="0">
                <a:solidFill>
                  <a:srgbClr val="595959"/>
                </a:solidFill>
                <a:latin typeface="Arial MT"/>
                <a:cs typeface="Arial MT"/>
              </a:rPr>
              <a:t> </a:t>
            </a:r>
            <a:r>
              <a:rPr sz="2800" spc="-165" dirty="0">
                <a:solidFill>
                  <a:srgbClr val="4B5766"/>
                </a:solidFill>
                <a:latin typeface="Arial MT"/>
                <a:cs typeface="Arial MT"/>
              </a:rPr>
              <a:t>a</a:t>
            </a:r>
            <a:r>
              <a:rPr sz="2800" spc="-114" dirty="0">
                <a:solidFill>
                  <a:srgbClr val="4B5766"/>
                </a:solidFill>
                <a:latin typeface="Arial MT"/>
                <a:cs typeface="Arial MT"/>
              </a:rPr>
              <a:t> </a:t>
            </a:r>
            <a:r>
              <a:rPr sz="2800" spc="-65" dirty="0">
                <a:solidFill>
                  <a:srgbClr val="464646"/>
                </a:solidFill>
                <a:latin typeface="Arial MT"/>
                <a:cs typeface="Arial MT"/>
              </a:rPr>
              <a:t>single</a:t>
            </a:r>
            <a:r>
              <a:rPr sz="2800" dirty="0">
                <a:solidFill>
                  <a:srgbClr val="464646"/>
                </a:solidFill>
                <a:latin typeface="Arial MT"/>
                <a:cs typeface="Arial MT"/>
              </a:rPr>
              <a:t> </a:t>
            </a:r>
            <a:r>
              <a:rPr sz="2800" spc="-10" dirty="0">
                <a:solidFill>
                  <a:srgbClr val="494949"/>
                </a:solidFill>
                <a:latin typeface="Arial MT"/>
                <a:cs typeface="Arial MT"/>
              </a:rPr>
              <a:t>workflow.</a:t>
            </a:r>
            <a:endParaRPr sz="2800" dirty="0">
              <a:latin typeface="Arial MT"/>
              <a:cs typeface="Arial MT"/>
            </a:endParaRPr>
          </a:p>
          <a:p>
            <a:pPr>
              <a:lnSpc>
                <a:spcPct val="100000"/>
              </a:lnSpc>
            </a:pPr>
            <a:endParaRPr sz="2800" dirty="0">
              <a:latin typeface="Arial MT"/>
              <a:cs typeface="Arial MT"/>
            </a:endParaRPr>
          </a:p>
          <a:p>
            <a:pPr>
              <a:lnSpc>
                <a:spcPct val="100000"/>
              </a:lnSpc>
              <a:spcBef>
                <a:spcPts val="1210"/>
              </a:spcBef>
            </a:pPr>
            <a:endParaRPr sz="2800" dirty="0">
              <a:latin typeface="Arial MT"/>
              <a:cs typeface="Arial MT"/>
            </a:endParaRPr>
          </a:p>
          <a:p>
            <a:pPr marL="14604">
              <a:lnSpc>
                <a:spcPct val="100000"/>
              </a:lnSpc>
              <a:spcBef>
                <a:spcPts val="5"/>
              </a:spcBef>
            </a:pPr>
            <a:r>
              <a:rPr sz="2800" spc="-10" dirty="0">
                <a:solidFill>
                  <a:srgbClr val="16493F"/>
                </a:solidFill>
                <a:latin typeface="Arial MT"/>
                <a:cs typeface="Arial MT"/>
              </a:rPr>
              <a:t>Neglecting</a:t>
            </a:r>
            <a:r>
              <a:rPr sz="2800" spc="-120" dirty="0">
                <a:solidFill>
                  <a:srgbClr val="16493F"/>
                </a:solidFill>
                <a:latin typeface="Arial MT"/>
                <a:cs typeface="Arial MT"/>
              </a:rPr>
              <a:t> </a:t>
            </a:r>
            <a:r>
              <a:rPr sz="2800" dirty="0">
                <a:solidFill>
                  <a:srgbClr val="0F4F2D"/>
                </a:solidFill>
                <a:latin typeface="Arial MT"/>
                <a:cs typeface="Arial MT"/>
              </a:rPr>
              <a:t>biological</a:t>
            </a:r>
            <a:r>
              <a:rPr sz="2800" spc="-145" dirty="0">
                <a:solidFill>
                  <a:srgbClr val="0F4F2D"/>
                </a:solidFill>
                <a:latin typeface="Arial MT"/>
                <a:cs typeface="Arial MT"/>
              </a:rPr>
              <a:t> </a:t>
            </a:r>
            <a:r>
              <a:rPr sz="2800" spc="-145" dirty="0">
                <a:solidFill>
                  <a:srgbClr val="28543B"/>
                </a:solidFill>
                <a:latin typeface="Arial MT"/>
                <a:cs typeface="Arial MT"/>
              </a:rPr>
              <a:t>DNA</a:t>
            </a:r>
            <a:r>
              <a:rPr sz="2800" spc="-105" dirty="0">
                <a:solidFill>
                  <a:srgbClr val="28543B"/>
                </a:solidFill>
                <a:latin typeface="Arial MT"/>
                <a:cs typeface="Arial MT"/>
              </a:rPr>
              <a:t> </a:t>
            </a:r>
            <a:r>
              <a:rPr sz="2800" spc="-10" dirty="0">
                <a:solidFill>
                  <a:srgbClr val="074B3F"/>
                </a:solidFill>
                <a:latin typeface="Arial MT"/>
                <a:cs typeface="Arial MT"/>
              </a:rPr>
              <a:t>properties</a:t>
            </a:r>
            <a:endParaRPr sz="2800" dirty="0">
              <a:latin typeface="Arial MT"/>
              <a:cs typeface="Arial MT"/>
            </a:endParaRPr>
          </a:p>
          <a:p>
            <a:pPr marL="24765">
              <a:lnSpc>
                <a:spcPct val="100000"/>
              </a:lnSpc>
              <a:spcBef>
                <a:spcPts val="254"/>
              </a:spcBef>
            </a:pPr>
            <a:r>
              <a:rPr sz="2800" spc="-50" dirty="0">
                <a:solidFill>
                  <a:srgbClr val="464646"/>
                </a:solidFill>
                <a:latin typeface="Arial MT"/>
                <a:cs typeface="Arial MT"/>
              </a:rPr>
              <a:t>Standard</a:t>
            </a:r>
            <a:r>
              <a:rPr sz="2800" spc="-200" dirty="0">
                <a:solidFill>
                  <a:srgbClr val="464646"/>
                </a:solidFill>
                <a:latin typeface="Arial MT"/>
                <a:cs typeface="Arial MT"/>
              </a:rPr>
              <a:t> </a:t>
            </a:r>
            <a:r>
              <a:rPr sz="2800" spc="-35" dirty="0">
                <a:solidFill>
                  <a:srgbClr val="444444"/>
                </a:solidFill>
                <a:latin typeface="Arial MT"/>
                <a:cs typeface="Arial MT"/>
              </a:rPr>
              <a:t>algorithms</a:t>
            </a:r>
            <a:r>
              <a:rPr sz="2800" spc="-15" dirty="0">
                <a:solidFill>
                  <a:srgbClr val="444444"/>
                </a:solidFill>
                <a:latin typeface="Arial MT"/>
                <a:cs typeface="Arial MT"/>
              </a:rPr>
              <a:t> </a:t>
            </a:r>
            <a:r>
              <a:rPr sz="2800" dirty="0">
                <a:solidFill>
                  <a:srgbClr val="3F3F3F"/>
                </a:solidFill>
                <a:latin typeface="Arial MT"/>
                <a:cs typeface="Arial MT"/>
              </a:rPr>
              <a:t>treat</a:t>
            </a:r>
            <a:r>
              <a:rPr sz="2800" spc="-210" dirty="0">
                <a:solidFill>
                  <a:srgbClr val="3F3F3F"/>
                </a:solidFill>
                <a:latin typeface="Arial MT"/>
                <a:cs typeface="Arial MT"/>
              </a:rPr>
              <a:t> </a:t>
            </a:r>
            <a:r>
              <a:rPr sz="2800" spc="-185" dirty="0">
                <a:solidFill>
                  <a:srgbClr val="4F4F4F"/>
                </a:solidFill>
                <a:latin typeface="Arial MT"/>
                <a:cs typeface="Arial MT"/>
              </a:rPr>
              <a:t>DNA</a:t>
            </a:r>
            <a:r>
              <a:rPr sz="2800" spc="-150" dirty="0">
                <a:solidFill>
                  <a:srgbClr val="4F4F4F"/>
                </a:solidFill>
                <a:latin typeface="Arial MT"/>
                <a:cs typeface="Arial MT"/>
              </a:rPr>
              <a:t> </a:t>
            </a:r>
            <a:r>
              <a:rPr sz="2800" spc="-110" dirty="0">
                <a:solidFill>
                  <a:srgbClr val="505050"/>
                </a:solidFill>
                <a:latin typeface="Arial MT"/>
                <a:cs typeface="Arial MT"/>
              </a:rPr>
              <a:t>as</a:t>
            </a:r>
            <a:r>
              <a:rPr sz="2800" spc="-210" dirty="0">
                <a:solidFill>
                  <a:srgbClr val="505050"/>
                </a:solidFill>
                <a:latin typeface="Arial MT"/>
                <a:cs typeface="Arial MT"/>
              </a:rPr>
              <a:t> </a:t>
            </a:r>
            <a:r>
              <a:rPr sz="2800" spc="-60" dirty="0">
                <a:solidFill>
                  <a:srgbClr val="4F4F4F"/>
                </a:solidFill>
                <a:latin typeface="Arial MT"/>
                <a:cs typeface="Arial MT"/>
              </a:rPr>
              <a:t>raw</a:t>
            </a:r>
            <a:r>
              <a:rPr sz="2800" spc="-204" dirty="0">
                <a:solidFill>
                  <a:srgbClr val="4F4F4F"/>
                </a:solidFill>
                <a:latin typeface="Arial MT"/>
                <a:cs typeface="Arial MT"/>
              </a:rPr>
              <a:t> </a:t>
            </a:r>
            <a:r>
              <a:rPr sz="2800" spc="-20" dirty="0">
                <a:solidFill>
                  <a:srgbClr val="464646"/>
                </a:solidFill>
                <a:latin typeface="Arial MT"/>
                <a:cs typeface="Arial MT"/>
              </a:rPr>
              <a:t>storage</a:t>
            </a:r>
            <a:r>
              <a:rPr sz="2800" spc="-30" dirty="0">
                <a:solidFill>
                  <a:srgbClr val="464646"/>
                </a:solidFill>
                <a:latin typeface="Arial MT"/>
                <a:cs typeface="Arial MT"/>
              </a:rPr>
              <a:t> </a:t>
            </a:r>
            <a:r>
              <a:rPr sz="2800" dirty="0">
                <a:solidFill>
                  <a:srgbClr val="424242"/>
                </a:solidFill>
                <a:latin typeface="Arial MT"/>
                <a:cs typeface="Arial MT"/>
              </a:rPr>
              <a:t>text,</a:t>
            </a:r>
            <a:r>
              <a:rPr sz="2800" spc="-240" dirty="0">
                <a:solidFill>
                  <a:srgbClr val="424242"/>
                </a:solidFill>
                <a:latin typeface="Arial MT"/>
                <a:cs typeface="Arial MT"/>
              </a:rPr>
              <a:t> </a:t>
            </a:r>
            <a:r>
              <a:rPr sz="2800" spc="-20" dirty="0">
                <a:solidFill>
                  <a:srgbClr val="424242"/>
                </a:solidFill>
                <a:latin typeface="Arial MT"/>
                <a:cs typeface="Arial MT"/>
              </a:rPr>
              <a:t>failing</a:t>
            </a:r>
            <a:r>
              <a:rPr sz="2800" spc="-204" dirty="0">
                <a:solidFill>
                  <a:srgbClr val="424242"/>
                </a:solidFill>
                <a:latin typeface="Arial MT"/>
                <a:cs typeface="Arial MT"/>
              </a:rPr>
              <a:t> </a:t>
            </a:r>
            <a:r>
              <a:rPr sz="2800" dirty="0">
                <a:solidFill>
                  <a:srgbClr val="64698C"/>
                </a:solidFill>
                <a:latin typeface="Arial MT"/>
                <a:cs typeface="Arial MT"/>
              </a:rPr>
              <a:t>to</a:t>
            </a:r>
            <a:r>
              <a:rPr sz="2800" spc="-250" dirty="0">
                <a:solidFill>
                  <a:srgbClr val="64698C"/>
                </a:solidFill>
                <a:latin typeface="Arial MT"/>
                <a:cs typeface="Arial MT"/>
              </a:rPr>
              <a:t> </a:t>
            </a:r>
            <a:r>
              <a:rPr sz="2800" dirty="0">
                <a:solidFill>
                  <a:srgbClr val="424242"/>
                </a:solidFill>
                <a:latin typeface="Arial MT"/>
                <a:cs typeface="Arial MT"/>
              </a:rPr>
              <a:t>respect</a:t>
            </a:r>
            <a:r>
              <a:rPr sz="2800" spc="-150" dirty="0">
                <a:solidFill>
                  <a:srgbClr val="424242"/>
                </a:solidFill>
                <a:latin typeface="Arial MT"/>
                <a:cs typeface="Arial MT"/>
              </a:rPr>
              <a:t> </a:t>
            </a:r>
            <a:r>
              <a:rPr sz="2800" spc="-55" dirty="0">
                <a:solidFill>
                  <a:srgbClr val="464646"/>
                </a:solidFill>
                <a:latin typeface="Arial MT"/>
                <a:cs typeface="Arial MT"/>
              </a:rPr>
              <a:t>amino</a:t>
            </a:r>
            <a:r>
              <a:rPr sz="2800" spc="-175" dirty="0">
                <a:solidFill>
                  <a:srgbClr val="464646"/>
                </a:solidFill>
                <a:latin typeface="Arial MT"/>
                <a:cs typeface="Arial MT"/>
              </a:rPr>
              <a:t> </a:t>
            </a:r>
            <a:r>
              <a:rPr sz="2800" spc="-20" dirty="0">
                <a:solidFill>
                  <a:srgbClr val="464646"/>
                </a:solidFill>
                <a:latin typeface="Arial MT"/>
                <a:cs typeface="Arial MT"/>
              </a:rPr>
              <a:t>acid</a:t>
            </a:r>
            <a:r>
              <a:rPr sz="2800" spc="-265" dirty="0">
                <a:solidFill>
                  <a:srgbClr val="464646"/>
                </a:solidFill>
                <a:latin typeface="Arial MT"/>
                <a:cs typeface="Arial MT"/>
              </a:rPr>
              <a:t> </a:t>
            </a:r>
            <a:r>
              <a:rPr sz="2800" spc="-35" dirty="0">
                <a:solidFill>
                  <a:srgbClr val="424242"/>
                </a:solidFill>
                <a:latin typeface="Arial MT"/>
                <a:cs typeface="Arial MT"/>
              </a:rPr>
              <a:t>mapping</a:t>
            </a:r>
            <a:r>
              <a:rPr sz="2800" spc="-140" dirty="0">
                <a:solidFill>
                  <a:srgbClr val="424242"/>
                </a:solidFill>
                <a:latin typeface="Arial MT"/>
                <a:cs typeface="Arial MT"/>
              </a:rPr>
              <a:t> </a:t>
            </a:r>
            <a:r>
              <a:rPr sz="2800" spc="-10" dirty="0">
                <a:solidFill>
                  <a:srgbClr val="494949"/>
                </a:solidFill>
                <a:latin typeface="Arial MT"/>
                <a:cs typeface="Arial MT"/>
              </a:rPr>
              <a:t>rules.</a:t>
            </a:r>
            <a:endParaRPr sz="2800" dirty="0">
              <a:latin typeface="Arial MT"/>
              <a:cs typeface="Arial MT"/>
            </a:endParaRPr>
          </a:p>
          <a:p>
            <a:pPr>
              <a:lnSpc>
                <a:spcPct val="100000"/>
              </a:lnSpc>
            </a:pPr>
            <a:endParaRPr sz="2800" dirty="0">
              <a:latin typeface="Arial MT"/>
              <a:cs typeface="Arial MT"/>
            </a:endParaRPr>
          </a:p>
          <a:p>
            <a:pPr>
              <a:lnSpc>
                <a:spcPct val="100000"/>
              </a:lnSpc>
              <a:spcBef>
                <a:spcPts val="1275"/>
              </a:spcBef>
            </a:pPr>
            <a:endParaRPr sz="2800" dirty="0">
              <a:latin typeface="Arial MT"/>
              <a:cs typeface="Arial MT"/>
            </a:endParaRPr>
          </a:p>
          <a:p>
            <a:pPr marL="12700">
              <a:lnSpc>
                <a:spcPct val="100000"/>
              </a:lnSpc>
            </a:pPr>
            <a:r>
              <a:rPr sz="2800" spc="20" dirty="0">
                <a:solidFill>
                  <a:srgbClr val="07544D"/>
                </a:solidFill>
                <a:latin typeface="Calibri"/>
                <a:cs typeface="Calibri"/>
              </a:rPr>
              <a:t>Inefhcient</a:t>
            </a:r>
            <a:r>
              <a:rPr sz="2800" spc="200" dirty="0">
                <a:solidFill>
                  <a:srgbClr val="07544D"/>
                </a:solidFill>
                <a:latin typeface="Calibri"/>
                <a:cs typeface="Calibri"/>
              </a:rPr>
              <a:t> </a:t>
            </a:r>
            <a:r>
              <a:rPr sz="2800" spc="50" dirty="0">
                <a:solidFill>
                  <a:srgbClr val="1D1D1D"/>
                </a:solidFill>
                <a:latin typeface="Calibri"/>
                <a:cs typeface="Calibri"/>
              </a:rPr>
              <a:t>Dual-</a:t>
            </a:r>
            <a:r>
              <a:rPr sz="2800" spc="45" dirty="0">
                <a:solidFill>
                  <a:srgbClr val="1D1D1D"/>
                </a:solidFill>
                <a:latin typeface="Calibri"/>
                <a:cs typeface="Calibri"/>
              </a:rPr>
              <a:t>Pathways</a:t>
            </a:r>
            <a:endParaRPr sz="2800" dirty="0">
              <a:latin typeface="Calibri"/>
              <a:cs typeface="Calibri"/>
            </a:endParaRPr>
          </a:p>
          <a:p>
            <a:pPr marL="13970">
              <a:lnSpc>
                <a:spcPct val="100000"/>
              </a:lnSpc>
              <a:spcBef>
                <a:spcPts val="195"/>
              </a:spcBef>
            </a:pPr>
            <a:r>
              <a:rPr sz="2800" spc="-75" dirty="0">
                <a:solidFill>
                  <a:srgbClr val="3D3D3D"/>
                </a:solidFill>
                <a:latin typeface="Arial MT"/>
                <a:cs typeface="Arial MT"/>
              </a:rPr>
              <a:t>Traditional</a:t>
            </a:r>
            <a:r>
              <a:rPr sz="2800" spc="-105" dirty="0">
                <a:solidFill>
                  <a:srgbClr val="3D3D3D"/>
                </a:solidFill>
                <a:latin typeface="Arial MT"/>
                <a:cs typeface="Arial MT"/>
              </a:rPr>
              <a:t> </a:t>
            </a:r>
            <a:r>
              <a:rPr sz="2800" spc="-35" dirty="0">
                <a:solidFill>
                  <a:srgbClr val="4B4B4B"/>
                </a:solidFill>
                <a:latin typeface="Arial MT"/>
                <a:cs typeface="Arial MT"/>
              </a:rPr>
              <a:t>systems</a:t>
            </a:r>
            <a:r>
              <a:rPr sz="2800" spc="-105" dirty="0">
                <a:solidFill>
                  <a:srgbClr val="4B4B4B"/>
                </a:solidFill>
                <a:latin typeface="Arial MT"/>
                <a:cs typeface="Arial MT"/>
              </a:rPr>
              <a:t> </a:t>
            </a:r>
            <a:r>
              <a:rPr sz="2800" spc="-95" dirty="0">
                <a:solidFill>
                  <a:srgbClr val="505050"/>
                </a:solidFill>
                <a:latin typeface="Arial MT"/>
                <a:cs typeface="Arial MT"/>
              </a:rPr>
              <a:t>use</a:t>
            </a:r>
            <a:r>
              <a:rPr sz="2800" spc="-90" dirty="0">
                <a:solidFill>
                  <a:srgbClr val="505050"/>
                </a:solidFill>
                <a:latin typeface="Arial MT"/>
                <a:cs typeface="Arial MT"/>
              </a:rPr>
              <a:t> </a:t>
            </a:r>
            <a:r>
              <a:rPr sz="2800" spc="-20" dirty="0">
                <a:solidFill>
                  <a:srgbClr val="464646"/>
                </a:solidFill>
                <a:latin typeface="Arial MT"/>
                <a:cs typeface="Arial MT"/>
              </a:rPr>
              <a:t>single-</a:t>
            </a:r>
            <a:r>
              <a:rPr sz="2800" spc="-10" dirty="0">
                <a:solidFill>
                  <a:srgbClr val="464646"/>
                </a:solidFill>
                <a:latin typeface="Arial MT"/>
                <a:cs typeface="Arial MT"/>
              </a:rPr>
              <a:t>channelrouting,</a:t>
            </a:r>
            <a:r>
              <a:rPr sz="2800" spc="-170" dirty="0">
                <a:solidFill>
                  <a:srgbClr val="464646"/>
                </a:solidFill>
                <a:latin typeface="Arial MT"/>
                <a:cs typeface="Arial MT"/>
              </a:rPr>
              <a:t> </a:t>
            </a:r>
            <a:r>
              <a:rPr sz="2800" spc="-30" dirty="0">
                <a:solidFill>
                  <a:srgbClr val="484848"/>
                </a:solidFill>
                <a:latin typeface="Arial MT"/>
                <a:cs typeface="Arial MT"/>
              </a:rPr>
              <a:t>skipping</a:t>
            </a:r>
            <a:r>
              <a:rPr sz="2800" spc="-155" dirty="0">
                <a:solidFill>
                  <a:srgbClr val="484848"/>
                </a:solidFill>
                <a:latin typeface="Arial MT"/>
                <a:cs typeface="Arial MT"/>
              </a:rPr>
              <a:t> </a:t>
            </a:r>
            <a:r>
              <a:rPr sz="2800" spc="-30" dirty="0">
                <a:solidFill>
                  <a:srgbClr val="525252"/>
                </a:solidFill>
                <a:latin typeface="Arial MT"/>
                <a:cs typeface="Arial MT"/>
              </a:rPr>
              <a:t>the</a:t>
            </a:r>
            <a:r>
              <a:rPr sz="2800" spc="-155" dirty="0">
                <a:solidFill>
                  <a:srgbClr val="525252"/>
                </a:solidFill>
                <a:latin typeface="Arial MT"/>
                <a:cs typeface="Arial MT"/>
              </a:rPr>
              <a:t> </a:t>
            </a:r>
            <a:r>
              <a:rPr sz="2800" dirty="0">
                <a:solidFill>
                  <a:srgbClr val="575757"/>
                </a:solidFill>
                <a:latin typeface="Arial MT"/>
                <a:cs typeface="Arial MT"/>
              </a:rPr>
              <a:t>benefits</a:t>
            </a:r>
            <a:r>
              <a:rPr sz="2800" spc="-130" dirty="0">
                <a:solidFill>
                  <a:srgbClr val="575757"/>
                </a:solidFill>
                <a:latin typeface="Arial MT"/>
                <a:cs typeface="Arial MT"/>
              </a:rPr>
              <a:t> </a:t>
            </a:r>
            <a:r>
              <a:rPr sz="2800" dirty="0">
                <a:solidFill>
                  <a:srgbClr val="5E5E5E"/>
                </a:solidFill>
                <a:latin typeface="Arial MT"/>
                <a:cs typeface="Arial MT"/>
              </a:rPr>
              <a:t>of</a:t>
            </a:r>
            <a:r>
              <a:rPr sz="2800" spc="5" dirty="0">
                <a:solidFill>
                  <a:srgbClr val="5E5E5E"/>
                </a:solidFill>
                <a:latin typeface="Arial MT"/>
                <a:cs typeface="Arial MT"/>
              </a:rPr>
              <a:t> </a:t>
            </a:r>
            <a:r>
              <a:rPr sz="2800" spc="-30" dirty="0">
                <a:solidFill>
                  <a:srgbClr val="484848"/>
                </a:solidFill>
                <a:latin typeface="Arial MT"/>
                <a:cs typeface="Arial MT"/>
              </a:rPr>
              <a:t>combining</a:t>
            </a:r>
            <a:r>
              <a:rPr sz="2800" spc="-110" dirty="0">
                <a:solidFill>
                  <a:srgbClr val="484848"/>
                </a:solidFill>
                <a:latin typeface="Arial MT"/>
                <a:cs typeface="Arial MT"/>
              </a:rPr>
              <a:t> </a:t>
            </a:r>
            <a:r>
              <a:rPr sz="2800" spc="-10" dirty="0">
                <a:solidFill>
                  <a:srgbClr val="414141"/>
                </a:solidFill>
                <a:latin typeface="Arial MT"/>
                <a:cs typeface="Arial MT"/>
              </a:rPr>
              <a:t>coding</a:t>
            </a:r>
            <a:r>
              <a:rPr sz="2800" spc="-185" dirty="0">
                <a:solidFill>
                  <a:srgbClr val="414141"/>
                </a:solidFill>
                <a:latin typeface="Arial MT"/>
                <a:cs typeface="Arial MT"/>
              </a:rPr>
              <a:t> </a:t>
            </a:r>
            <a:r>
              <a:rPr sz="2800" spc="-45" dirty="0">
                <a:solidFill>
                  <a:srgbClr val="424242"/>
                </a:solidFill>
                <a:latin typeface="Arial MT"/>
                <a:cs typeface="Arial MT"/>
              </a:rPr>
              <a:t>and</a:t>
            </a:r>
            <a:r>
              <a:rPr sz="2800" spc="-240" dirty="0">
                <a:solidFill>
                  <a:srgbClr val="424242"/>
                </a:solidFill>
                <a:latin typeface="Arial MT"/>
                <a:cs typeface="Arial MT"/>
              </a:rPr>
              <a:t> </a:t>
            </a:r>
            <a:r>
              <a:rPr sz="2800" dirty="0">
                <a:solidFill>
                  <a:srgbClr val="424242"/>
                </a:solidFill>
                <a:latin typeface="Arial MT"/>
                <a:cs typeface="Arial MT"/>
              </a:rPr>
              <a:t>non-</a:t>
            </a:r>
            <a:r>
              <a:rPr sz="2800" spc="-10" dirty="0">
                <a:solidFill>
                  <a:srgbClr val="424242"/>
                </a:solidFill>
                <a:latin typeface="Arial MT"/>
                <a:cs typeface="Arial MT"/>
              </a:rPr>
              <a:t>codingfeatures.</a:t>
            </a:r>
            <a:endParaRPr sz="2800" dirty="0">
              <a:latin typeface="Arial MT"/>
              <a:cs typeface="Arial MT"/>
            </a:endParaRPr>
          </a:p>
        </p:txBody>
      </p:sp>
      <p:sp>
        <p:nvSpPr>
          <p:cNvPr id="10" name="TextBox 9">
            <a:extLst>
              <a:ext uri="{FF2B5EF4-FFF2-40B4-BE49-F238E27FC236}">
                <a16:creationId xmlns:a16="http://schemas.microsoft.com/office/drawing/2014/main" id="{6B290ABC-5EA1-D735-05FB-1F9A57F53AB2}"/>
              </a:ext>
            </a:extLst>
          </p:cNvPr>
          <p:cNvSpPr txBox="1"/>
          <p:nvPr/>
        </p:nvSpPr>
        <p:spPr>
          <a:xfrm>
            <a:off x="5632450" y="1235075"/>
            <a:ext cx="6781800" cy="878702"/>
          </a:xfrm>
          <a:prstGeom prst="rect">
            <a:avLst/>
          </a:prstGeom>
          <a:noFill/>
        </p:spPr>
        <p:txBody>
          <a:bodyPr wrap="square">
            <a:spAutoFit/>
          </a:bodyPr>
          <a:lstStyle/>
          <a:p>
            <a:r>
              <a:rPr lang="en-IN" sz="5110" b="1" spc="-10" dirty="0"/>
              <a:t>         </a:t>
            </a:r>
            <a:r>
              <a:rPr lang="en-IN" sz="5110" b="1" spc="-10" dirty="0">
                <a:solidFill>
                  <a:schemeClr val="accent3">
                    <a:lumMod val="50000"/>
                  </a:schemeClr>
                </a:solidFill>
              </a:rPr>
              <a:t>Research Gap</a:t>
            </a:r>
            <a:endParaRPr lang="en-IN" sz="5110" b="1" dirty="0">
              <a:solidFill>
                <a:schemeClr val="accent3">
                  <a:lumMod val="50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927850" y="3063876"/>
            <a:ext cx="5686793" cy="1499128"/>
          </a:xfrm>
          <a:prstGeom prst="rect">
            <a:avLst/>
          </a:prstGeom>
        </p:spPr>
        <p:txBody>
          <a:bodyPr vert="horz" wrap="square" lIns="0" tIns="13970" rIns="0" bIns="0" rtlCol="0">
            <a:spAutoFit/>
          </a:bodyPr>
          <a:lstStyle/>
          <a:p>
            <a:pPr marL="12700">
              <a:lnSpc>
                <a:spcPct val="100000"/>
              </a:lnSpc>
              <a:spcBef>
                <a:spcPts val="110"/>
              </a:spcBef>
            </a:pPr>
            <a:r>
              <a:rPr sz="9650" b="1" spc="-110" dirty="0">
                <a:solidFill>
                  <a:srgbClr val="0C502B"/>
                </a:solidFill>
                <a:latin typeface="Times New Roman"/>
                <a:cs typeface="Times New Roman"/>
              </a:rPr>
              <a:t>Th</a:t>
            </a:r>
            <a:r>
              <a:rPr lang="en-US" sz="9650" b="1" spc="-110" dirty="0">
                <a:solidFill>
                  <a:srgbClr val="0C502B"/>
                </a:solidFill>
                <a:latin typeface="Times New Roman"/>
                <a:cs typeface="Times New Roman"/>
              </a:rPr>
              <a:t>a</a:t>
            </a:r>
            <a:r>
              <a:rPr sz="9650" b="1" spc="-110" dirty="0">
                <a:solidFill>
                  <a:srgbClr val="0C502B"/>
                </a:solidFill>
                <a:latin typeface="Times New Roman"/>
                <a:cs typeface="Times New Roman"/>
              </a:rPr>
              <a:t>nk</a:t>
            </a:r>
            <a:r>
              <a:rPr sz="9650" b="1" spc="-670" dirty="0">
                <a:solidFill>
                  <a:srgbClr val="0C502B"/>
                </a:solidFill>
                <a:latin typeface="Times New Roman"/>
                <a:cs typeface="Times New Roman"/>
              </a:rPr>
              <a:t> </a:t>
            </a:r>
            <a:r>
              <a:rPr sz="9650" b="1" spc="-750" dirty="0">
                <a:solidFill>
                  <a:srgbClr val="0C502B"/>
                </a:solidFill>
                <a:latin typeface="Times New Roman"/>
                <a:cs typeface="Times New Roman"/>
              </a:rPr>
              <a:t>You</a:t>
            </a:r>
            <a:endParaRPr sz="9650" b="1" dirty="0">
              <a:latin typeface="Times New Roman"/>
              <a:cs typeface="Times New Roman"/>
            </a:endParaRPr>
          </a:p>
        </p:txBody>
      </p:sp>
      <p:sp>
        <p:nvSpPr>
          <p:cNvPr id="3" name="object 3"/>
          <p:cNvSpPr txBox="1"/>
          <p:nvPr/>
        </p:nvSpPr>
        <p:spPr>
          <a:xfrm>
            <a:off x="1974850" y="4968875"/>
            <a:ext cx="15797301" cy="448200"/>
          </a:xfrm>
          <a:prstGeom prst="rect">
            <a:avLst/>
          </a:prstGeom>
        </p:spPr>
        <p:txBody>
          <a:bodyPr vert="horz" wrap="square" lIns="0" tIns="17145" rIns="0" bIns="0" rtlCol="0">
            <a:spAutoFit/>
          </a:bodyPr>
          <a:lstStyle/>
          <a:p>
            <a:pPr marL="12700">
              <a:lnSpc>
                <a:spcPct val="100000"/>
              </a:lnSpc>
              <a:spcBef>
                <a:spcPts val="135"/>
              </a:spcBef>
            </a:pPr>
            <a:r>
              <a:rPr sz="2800" dirty="0">
                <a:solidFill>
                  <a:schemeClr val="tx1">
                    <a:lumMod val="95000"/>
                    <a:lumOff val="5000"/>
                  </a:schemeClr>
                </a:solidFill>
                <a:latin typeface="Times New Roman"/>
                <a:cs typeface="Times New Roman"/>
              </a:rPr>
              <a:t>Measuring</a:t>
            </a:r>
            <a:r>
              <a:rPr sz="2800" spc="254" dirty="0">
                <a:solidFill>
                  <a:schemeClr val="tx1">
                    <a:lumMod val="95000"/>
                    <a:lumOff val="5000"/>
                  </a:schemeClr>
                </a:solidFill>
                <a:latin typeface="Times New Roman"/>
                <a:cs typeface="Times New Roman"/>
              </a:rPr>
              <a:t> </a:t>
            </a:r>
            <a:r>
              <a:rPr sz="2800" spc="65" dirty="0">
                <a:solidFill>
                  <a:schemeClr val="tx1">
                    <a:lumMod val="95000"/>
                    <a:lumOff val="5000"/>
                  </a:schemeClr>
                </a:solidFill>
                <a:latin typeface="Times New Roman"/>
                <a:cs typeface="Times New Roman"/>
              </a:rPr>
              <a:t>Undetectability</a:t>
            </a:r>
            <a:r>
              <a:rPr sz="2800" spc="-160" dirty="0">
                <a:solidFill>
                  <a:schemeClr val="tx1">
                    <a:lumMod val="95000"/>
                    <a:lumOff val="5000"/>
                  </a:schemeClr>
                </a:solidFill>
                <a:latin typeface="Times New Roman"/>
                <a:cs typeface="Times New Roman"/>
              </a:rPr>
              <a:t> </a:t>
            </a:r>
            <a:r>
              <a:rPr sz="2800" spc="-200" dirty="0">
                <a:solidFill>
                  <a:schemeClr val="tx1">
                    <a:lumMod val="95000"/>
                    <a:lumOff val="5000"/>
                  </a:schemeClr>
                </a:solidFill>
                <a:latin typeface="Times New Roman"/>
                <a:cs typeface="Times New Roman"/>
              </a:rPr>
              <a:t>in</a:t>
            </a:r>
            <a:r>
              <a:rPr sz="2800" spc="95" dirty="0">
                <a:solidFill>
                  <a:schemeClr val="tx1">
                    <a:lumMod val="95000"/>
                    <a:lumOff val="5000"/>
                  </a:schemeClr>
                </a:solidFill>
                <a:latin typeface="Times New Roman"/>
                <a:cs typeface="Times New Roman"/>
              </a:rPr>
              <a:t> </a:t>
            </a:r>
            <a:r>
              <a:rPr sz="2800" spc="-350" dirty="0">
                <a:solidFill>
                  <a:schemeClr val="tx1">
                    <a:lumMod val="95000"/>
                    <a:lumOff val="5000"/>
                  </a:schemeClr>
                </a:solidFill>
                <a:latin typeface="Times New Roman"/>
                <a:cs typeface="Times New Roman"/>
              </a:rPr>
              <a:t>DNA</a:t>
            </a:r>
            <a:r>
              <a:rPr sz="2800" spc="-270" dirty="0">
                <a:solidFill>
                  <a:schemeClr val="tx1">
                    <a:lumMod val="95000"/>
                    <a:lumOff val="5000"/>
                  </a:schemeClr>
                </a:solidFill>
                <a:latin typeface="Times New Roman"/>
                <a:cs typeface="Times New Roman"/>
              </a:rPr>
              <a:t> </a:t>
            </a:r>
            <a:r>
              <a:rPr sz="2800" spc="130" dirty="0">
                <a:solidFill>
                  <a:schemeClr val="tx1">
                    <a:lumMod val="95000"/>
                    <a:lumOff val="5000"/>
                  </a:schemeClr>
                </a:solidFill>
                <a:latin typeface="Times New Roman"/>
                <a:cs typeface="Times New Roman"/>
              </a:rPr>
              <a:t>Steganography:</a:t>
            </a:r>
            <a:r>
              <a:rPr sz="2800" spc="-325" dirty="0">
                <a:solidFill>
                  <a:schemeClr val="tx1">
                    <a:lumMod val="95000"/>
                    <a:lumOff val="5000"/>
                  </a:schemeClr>
                </a:solidFill>
                <a:latin typeface="Times New Roman"/>
                <a:cs typeface="Times New Roman"/>
              </a:rPr>
              <a:t> </a:t>
            </a:r>
            <a:r>
              <a:rPr sz="2800" spc="-490" dirty="0">
                <a:solidFill>
                  <a:schemeClr val="tx1">
                    <a:lumMod val="95000"/>
                    <a:lumOff val="5000"/>
                  </a:schemeClr>
                </a:solidFill>
                <a:latin typeface="Times New Roman"/>
                <a:cs typeface="Times New Roman"/>
              </a:rPr>
              <a:t>A</a:t>
            </a:r>
            <a:r>
              <a:rPr sz="2800" spc="-145" dirty="0">
                <a:solidFill>
                  <a:schemeClr val="tx1">
                    <a:lumMod val="95000"/>
                    <a:lumOff val="5000"/>
                  </a:schemeClr>
                </a:solidFill>
                <a:latin typeface="Times New Roman"/>
                <a:cs typeface="Times New Roman"/>
              </a:rPr>
              <a:t> </a:t>
            </a:r>
            <a:r>
              <a:rPr sz="2800" dirty="0">
                <a:solidFill>
                  <a:schemeClr val="tx1">
                    <a:lumMod val="95000"/>
                    <a:lumOff val="5000"/>
                  </a:schemeClr>
                </a:solidFill>
                <a:latin typeface="Times New Roman"/>
                <a:cs typeface="Times New Roman"/>
              </a:rPr>
              <a:t>Dual-Channel</a:t>
            </a:r>
            <a:r>
              <a:rPr sz="2800" spc="170" dirty="0">
                <a:solidFill>
                  <a:schemeClr val="tx1">
                    <a:lumMod val="95000"/>
                    <a:lumOff val="5000"/>
                  </a:schemeClr>
                </a:solidFill>
                <a:latin typeface="Times New Roman"/>
                <a:cs typeface="Times New Roman"/>
              </a:rPr>
              <a:t> </a:t>
            </a:r>
            <a:r>
              <a:rPr sz="2800" spc="60" dirty="0">
                <a:solidFill>
                  <a:schemeClr val="tx1">
                    <a:lumMod val="95000"/>
                    <a:lumOff val="5000"/>
                  </a:schemeClr>
                </a:solidFill>
                <a:latin typeface="Times New Roman"/>
                <a:cs typeface="Times New Roman"/>
              </a:rPr>
              <a:t>System</a:t>
            </a:r>
            <a:r>
              <a:rPr sz="2800" spc="35" dirty="0">
                <a:solidFill>
                  <a:schemeClr val="tx1">
                    <a:lumMod val="95000"/>
                    <a:lumOff val="5000"/>
                  </a:schemeClr>
                </a:solidFill>
                <a:latin typeface="Times New Roman"/>
                <a:cs typeface="Times New Roman"/>
              </a:rPr>
              <a:t> </a:t>
            </a:r>
            <a:r>
              <a:rPr sz="2800" spc="90" dirty="0">
                <a:solidFill>
                  <a:schemeClr val="tx1">
                    <a:lumMod val="95000"/>
                    <a:lumOff val="5000"/>
                  </a:schemeClr>
                </a:solidFill>
                <a:latin typeface="Times New Roman"/>
                <a:cs typeface="Times New Roman"/>
              </a:rPr>
              <a:t>and</a:t>
            </a:r>
            <a:r>
              <a:rPr sz="2800" spc="-130" dirty="0">
                <a:solidFill>
                  <a:schemeClr val="tx1">
                    <a:lumMod val="95000"/>
                    <a:lumOff val="5000"/>
                  </a:schemeClr>
                </a:solidFill>
                <a:latin typeface="Times New Roman"/>
                <a:cs typeface="Times New Roman"/>
              </a:rPr>
              <a:t> </a:t>
            </a:r>
            <a:r>
              <a:rPr sz="2800" spc="75" dirty="0">
                <a:solidFill>
                  <a:schemeClr val="tx1">
                    <a:lumMod val="95000"/>
                    <a:lumOff val="5000"/>
                  </a:schemeClr>
                </a:solidFill>
                <a:latin typeface="Times New Roman"/>
                <a:cs typeface="Times New Roman"/>
              </a:rPr>
              <a:t>Steganalysis</a:t>
            </a:r>
            <a:r>
              <a:rPr sz="2800" spc="114" dirty="0">
                <a:solidFill>
                  <a:schemeClr val="tx1">
                    <a:lumMod val="95000"/>
                    <a:lumOff val="5000"/>
                  </a:schemeClr>
                </a:solidFill>
                <a:latin typeface="Times New Roman"/>
                <a:cs typeface="Times New Roman"/>
              </a:rPr>
              <a:t> </a:t>
            </a:r>
            <a:r>
              <a:rPr sz="2800" spc="-10" dirty="0">
                <a:solidFill>
                  <a:schemeClr val="tx1">
                    <a:lumMod val="95000"/>
                    <a:lumOff val="5000"/>
                  </a:schemeClr>
                </a:solidFill>
                <a:latin typeface="Times New Roman"/>
                <a:cs typeface="Times New Roman"/>
              </a:rPr>
              <a:t>Framework</a:t>
            </a:r>
            <a:endParaRPr sz="2800" dirty="0">
              <a:solidFill>
                <a:schemeClr val="tx1">
                  <a:lumMod val="95000"/>
                  <a:lumOff val="5000"/>
                </a:schemeClr>
              </a:solidFill>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184</TotalTime>
  <Words>771</Words>
  <Application>Microsoft Office PowerPoint</Application>
  <PresentationFormat>Custom</PresentationFormat>
  <Paragraphs>85</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Arial MT</vt:lpstr>
      <vt:lpstr>Calibri</vt:lpstr>
      <vt:lpstr>Times New Roman</vt:lpstr>
      <vt:lpstr>Wingdings</vt:lpstr>
      <vt:lpstr>Office Theme</vt:lpstr>
      <vt:lpstr>PowerPoint Presentation</vt:lpstr>
      <vt:lpstr>I  Abstract</vt:lpstr>
      <vt:lpstr>Problem Statement</vt:lpstr>
      <vt:lpstr>I Title Justification</vt:lpstr>
      <vt:lpstr>I Key Project Objectives</vt:lpstr>
      <vt:lpstr>Defined Project Scope</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User</dc:creator>
  <cp:lastModifiedBy>rohithnekkalapu2007@outlook.com</cp:lastModifiedBy>
  <cp:revision>12</cp:revision>
  <dcterms:created xsi:type="dcterms:W3CDTF">2026-06-26T13:17:15Z</dcterms:created>
  <dcterms:modified xsi:type="dcterms:W3CDTF">2026-06-27T04:29:05Z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2026-06-26T00:00:00Z</vt:filetime>
  </property>
  <property fmtid="{D5CDD505-2E9C-101B-9397-08002B2CF9AE}" pid="4" name="LastSaved">
    <vt:filetime>2026-06-26T00:00:00Z</vt:filetime>
  </property>
</Properties>
</file>